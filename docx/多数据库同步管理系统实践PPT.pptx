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6" r:id="rId3"/>
    <p:sldMasterId id="2147483662" r:id="rId4"/>
    <p:sldMasterId id="2147483669" r:id="rId5"/>
  </p:sldMasterIdLst>
  <p:notesMasterIdLst>
    <p:notesMasterId r:id="rId8"/>
  </p:notesMasterIdLst>
  <p:sldIdLst>
    <p:sldId id="279" r:id="rId6"/>
    <p:sldId id="257" r:id="rId7"/>
    <p:sldId id="280" r:id="rId9"/>
    <p:sldId id="260" r:id="rId10"/>
    <p:sldId id="281" r:id="rId11"/>
    <p:sldId id="262" r:id="rId12"/>
    <p:sldId id="282" r:id="rId13"/>
    <p:sldId id="263" r:id="rId14"/>
    <p:sldId id="285" r:id="rId15"/>
    <p:sldId id="283" r:id="rId16"/>
    <p:sldId id="301" r:id="rId17"/>
    <p:sldId id="302" r:id="rId18"/>
    <p:sldId id="286" r:id="rId19"/>
    <p:sldId id="287" r:id="rId20"/>
    <p:sldId id="290" r:id="rId21"/>
    <p:sldId id="299" r:id="rId22"/>
    <p:sldId id="291" r:id="rId23"/>
    <p:sldId id="300" r:id="rId24"/>
    <p:sldId id="289" r:id="rId25"/>
    <p:sldId id="275" r:id="rId26"/>
    <p:sldId id="292" r:id="rId27"/>
    <p:sldId id="293" r:id="rId28"/>
    <p:sldId id="294" r:id="rId29"/>
    <p:sldId id="267" r:id="rId30"/>
    <p:sldId id="295" r:id="rId31"/>
    <p:sldId id="269" r:id="rId32"/>
    <p:sldId id="305" r:id="rId33"/>
    <p:sldId id="296" r:id="rId34"/>
    <p:sldId id="304" r:id="rId35"/>
    <p:sldId id="277" r:id="rId36"/>
    <p:sldId id="298" r:id="rId37"/>
  </p:sldIdLst>
  <p:sldSz cx="12192000" cy="6858000"/>
  <p:notesSz cx="6858000" cy="12192000"/>
  <p:embeddedFontLst>
    <p:embeddedFont>
      <p:font typeface="MiSans" panose="00000500000000000000" pitchFamily="34" charset="-122"/>
      <p:regular r:id="rId42"/>
    </p:embeddedFont>
    <p:embeddedFont>
      <p:font typeface="MiSans" panose="00000500000000000000" pitchFamily="34" charset="-120"/>
      <p:regular r:id="rId43"/>
    </p:embeddedFont>
    <p:embeddedFont>
      <p:font typeface="Impact" panose="020B0806030902050204" pitchFamily="34" charset="0"/>
      <p:regular r:id="rId44"/>
    </p:embeddedFont>
    <p:embeddedFont>
      <p:font typeface="微软雅黑" panose="020B0503020204020204" charset="-122"/>
      <p:regular r:id="rId45"/>
      <p:bold r:id="rId46"/>
    </p:embeddedFont>
    <p:embeddedFont>
      <p:font typeface="Century Gothic" panose="020B0502020202020204" pitchFamily="34" charset="0"/>
      <p:regular r:id="rId47"/>
      <p:bold r:id="rId48"/>
      <p:italic r:id="rId49"/>
      <p:boldItalic r:id="rId50"/>
    </p:embeddedFont>
    <p:embeddedFont>
      <p:font typeface="Calibri" panose="020F0502020204030204" charset="0"/>
      <p:regular r:id="rId51"/>
      <p:bold r:id="rId52"/>
      <p:italic r:id="rId53"/>
      <p:boldItalic r:id="rId54"/>
    </p:embeddedFont>
    <p:embeddedFont>
      <p:font typeface="等线" panose="02010600030101010101" charset="-122"/>
      <p:regular r:id="rId55"/>
      <p:bold r:id="rId56"/>
    </p:embeddedFont>
    <p:embeddedFont>
      <p:font typeface="Consolas" panose="020B0609020204030204"/>
      <p:regular r:id="rId57"/>
      <p:bold r:id="rId58"/>
      <p:italic r:id="rId59"/>
      <p:boldItalic r:id="rId60"/>
    </p:embeddedFont>
    <p:embeddedFont>
      <p:font typeface="Calibri" panose="020F0502020204030204"/>
      <p:regular r:id="rId61"/>
      <p:bold r:id="rId62"/>
      <p:italic r:id="rId63"/>
      <p:boldItalic r:id="rId64"/>
    </p:embeddedFont>
    <p:embeddedFont>
      <p:font typeface="等线 Light" panose="02010600030101010101" charset="-122"/>
      <p:regular r:id="rId6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notesMaster" Target="notesMasters/notesMaster1.xml"/><Relationship Id="rId7" Type="http://schemas.openxmlformats.org/officeDocument/2006/relationships/slide" Target="slides/slide2.xml"/><Relationship Id="rId65" Type="http://schemas.openxmlformats.org/officeDocument/2006/relationships/font" Target="fonts/font24.fntdata"/><Relationship Id="rId64" Type="http://schemas.openxmlformats.org/officeDocument/2006/relationships/font" Target="fonts/font23.fntdata"/><Relationship Id="rId63" Type="http://schemas.openxmlformats.org/officeDocument/2006/relationships/font" Target="fonts/font22.fntdata"/><Relationship Id="rId62" Type="http://schemas.openxmlformats.org/officeDocument/2006/relationships/font" Target="fonts/font21.fntdata"/><Relationship Id="rId61" Type="http://schemas.openxmlformats.org/officeDocument/2006/relationships/font" Target="fonts/font20.fntdata"/><Relationship Id="rId60" Type="http://schemas.openxmlformats.org/officeDocument/2006/relationships/font" Target="fonts/font19.fntdata"/><Relationship Id="rId6" Type="http://schemas.openxmlformats.org/officeDocument/2006/relationships/slide" Target="slides/slide1.xml"/><Relationship Id="rId59" Type="http://schemas.openxmlformats.org/officeDocument/2006/relationships/font" Target="fonts/font18.fntdata"/><Relationship Id="rId58" Type="http://schemas.openxmlformats.org/officeDocument/2006/relationships/font" Target="fonts/font17.fntdata"/><Relationship Id="rId57" Type="http://schemas.openxmlformats.org/officeDocument/2006/relationships/font" Target="fonts/font16.fntdata"/><Relationship Id="rId56" Type="http://schemas.openxmlformats.org/officeDocument/2006/relationships/font" Target="fonts/font15.fntdata"/><Relationship Id="rId55" Type="http://schemas.openxmlformats.org/officeDocument/2006/relationships/font" Target="fonts/font14.fntdata"/><Relationship Id="rId54" Type="http://schemas.openxmlformats.org/officeDocument/2006/relationships/font" Target="fonts/font13.fntdata"/><Relationship Id="rId53" Type="http://schemas.openxmlformats.org/officeDocument/2006/relationships/font" Target="fonts/font12.fntdata"/><Relationship Id="rId52" Type="http://schemas.openxmlformats.org/officeDocument/2006/relationships/font" Target="fonts/font11.fntdata"/><Relationship Id="rId51" Type="http://schemas.openxmlformats.org/officeDocument/2006/relationships/font" Target="fonts/font10.fntdata"/><Relationship Id="rId50" Type="http://schemas.openxmlformats.org/officeDocument/2006/relationships/font" Target="fonts/font9.fntdata"/><Relationship Id="rId5" Type="http://schemas.openxmlformats.org/officeDocument/2006/relationships/slideMaster" Target="slideMasters/slideMaster4.xml"/><Relationship Id="rId49" Type="http://schemas.openxmlformats.org/officeDocument/2006/relationships/font" Target="fonts/font8.fntdata"/><Relationship Id="rId48" Type="http://schemas.openxmlformats.org/officeDocument/2006/relationships/font" Target="fonts/font7.fntdata"/><Relationship Id="rId47" Type="http://schemas.openxmlformats.org/officeDocument/2006/relationships/font" Target="fonts/font6.fntdata"/><Relationship Id="rId46" Type="http://schemas.openxmlformats.org/officeDocument/2006/relationships/font" Target="fonts/font5.fntdata"/><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23B26-8683-4A60-8847-01C0D48844E6}"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23B26-8683-4A60-8847-01C0D48844E6}"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23B26-8683-4A60-8847-01C0D48844E6}"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514C77-7963-42F6-9AC0-15E9499862A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514C77-7963-42F6-9AC0-15E9499862A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514C77-7963-42F6-9AC0-15E9499862A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514C77-7963-42F6-9AC0-15E9499862A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23B26-8683-4A60-8847-01C0D48844E6}"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23B26-8683-4A60-8847-01C0D48844E6}"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923B26-8683-4A60-8847-01C0D48844E6}"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EB31D7B-B61E-4F5F-8710-94EF67E6472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6096000" cy="6858000"/>
          </a:xfrm>
          <a:custGeom>
            <a:avLst/>
            <a:gdLst>
              <a:gd name="connsiteX0" fmla="*/ 0 w 7374194"/>
              <a:gd name="connsiteY0" fmla="*/ 0 h 6858000"/>
              <a:gd name="connsiteX1" fmla="*/ 7374194 w 7374194"/>
              <a:gd name="connsiteY1" fmla="*/ 0 h 6858000"/>
              <a:gd name="connsiteX2" fmla="*/ 7374194 w 7374194"/>
              <a:gd name="connsiteY2" fmla="*/ 6858000 h 6858000"/>
              <a:gd name="connsiteX3" fmla="*/ 0 w 737419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374194" h="6858000">
                <a:moveTo>
                  <a:pt x="0" y="0"/>
                </a:moveTo>
                <a:lnTo>
                  <a:pt x="7374194" y="0"/>
                </a:lnTo>
                <a:lnTo>
                  <a:pt x="7374194"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1800"/>
            </a:lvl1pPr>
          </a:lstStyle>
          <a:p>
            <a:endParaRPr lang="en-US"/>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49AE70B2-8BF9-45C0-BB95-33D1B9D3A854}" type="slidenum">
              <a:rPr lang="zh-CN" altLang="en-US" smtClean="0"/>
            </a:fld>
            <a:endParaRPr lang="zh-CN" altLang="en-US"/>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6096000" cy="6858000"/>
          </a:xfrm>
          <a:custGeom>
            <a:avLst/>
            <a:gdLst>
              <a:gd name="connsiteX0" fmla="*/ 0 w 7374194"/>
              <a:gd name="connsiteY0" fmla="*/ 0 h 6858000"/>
              <a:gd name="connsiteX1" fmla="*/ 7374194 w 7374194"/>
              <a:gd name="connsiteY1" fmla="*/ 0 h 6858000"/>
              <a:gd name="connsiteX2" fmla="*/ 7374194 w 7374194"/>
              <a:gd name="connsiteY2" fmla="*/ 6858000 h 6858000"/>
              <a:gd name="connsiteX3" fmla="*/ 0 w 737419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374194" h="6858000">
                <a:moveTo>
                  <a:pt x="0" y="0"/>
                </a:moveTo>
                <a:lnTo>
                  <a:pt x="7374194" y="0"/>
                </a:lnTo>
                <a:lnTo>
                  <a:pt x="7374194"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1800"/>
            </a:lvl1pPr>
          </a:lstStyle>
          <a:p>
            <a:endParaRPr lang="en-US"/>
          </a:p>
        </p:txBody>
      </p:sp>
    </p:spTree>
  </p:cSld>
  <p:clrMapOvr>
    <a:masterClrMapping/>
  </p:clrMapOvr>
  <p:transition>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6096000" cy="6858000"/>
          </a:xfrm>
          <a:custGeom>
            <a:avLst/>
            <a:gdLst>
              <a:gd name="connsiteX0" fmla="*/ 0 w 7374194"/>
              <a:gd name="connsiteY0" fmla="*/ 0 h 6858000"/>
              <a:gd name="connsiteX1" fmla="*/ 7374194 w 7374194"/>
              <a:gd name="connsiteY1" fmla="*/ 0 h 6858000"/>
              <a:gd name="connsiteX2" fmla="*/ 7374194 w 7374194"/>
              <a:gd name="connsiteY2" fmla="*/ 6858000 h 6858000"/>
              <a:gd name="connsiteX3" fmla="*/ 0 w 737419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374194" h="6858000">
                <a:moveTo>
                  <a:pt x="0" y="0"/>
                </a:moveTo>
                <a:lnTo>
                  <a:pt x="7374194" y="0"/>
                </a:lnTo>
                <a:lnTo>
                  <a:pt x="7374194"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1800"/>
            </a:lvl1pPr>
          </a:lstStyle>
          <a:p>
            <a:endParaRPr lang="en-US"/>
          </a:p>
        </p:txBody>
      </p:sp>
    </p:spTree>
  </p:cSld>
  <p:clrMapOvr>
    <a:masterClrMapping/>
  </p:clrMapOvr>
  <p:transition>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6096000" cy="6858000"/>
          </a:xfrm>
          <a:custGeom>
            <a:avLst/>
            <a:gdLst>
              <a:gd name="connsiteX0" fmla="*/ 0 w 7374194"/>
              <a:gd name="connsiteY0" fmla="*/ 0 h 6858000"/>
              <a:gd name="connsiteX1" fmla="*/ 7374194 w 7374194"/>
              <a:gd name="connsiteY1" fmla="*/ 0 h 6858000"/>
              <a:gd name="connsiteX2" fmla="*/ 7374194 w 7374194"/>
              <a:gd name="connsiteY2" fmla="*/ 6858000 h 6858000"/>
              <a:gd name="connsiteX3" fmla="*/ 0 w 737419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374194" h="6858000">
                <a:moveTo>
                  <a:pt x="0" y="0"/>
                </a:moveTo>
                <a:lnTo>
                  <a:pt x="7374194" y="0"/>
                </a:lnTo>
                <a:lnTo>
                  <a:pt x="7374194"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1800"/>
            </a:lvl1pPr>
          </a:lstStyle>
          <a:p>
            <a:endParaRPr lang="en-US"/>
          </a:p>
        </p:txBody>
      </p:sp>
    </p:spTree>
  </p:cSld>
  <p:clrMapOvr>
    <a:masterClrMapping/>
  </p:clrMapOvr>
  <p:transition>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transition>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49AE70B2-8BF9-45C0-BB95-33D1B9D3A854}" type="slidenum">
              <a:rPr lang="zh-CN" altLang="en-US" smtClean="0"/>
            </a:fld>
            <a:endParaRPr lang="zh-CN" altLang="en-US"/>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7" Type="http://schemas.openxmlformats.org/officeDocument/2006/relationships/theme" Target="../theme/theme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tags" Target="../tags/tag3.xml"/><Relationship Id="rId2" Type="http://schemas.openxmlformats.org/officeDocument/2006/relationships/image" Target="../media/image5.png"/><Relationship Id="rId1" Type="http://schemas.openxmlformats.org/officeDocument/2006/relationships/image" Target="../media/image10.jpeg"/></Relationships>
</file>

<file path=ppt/slides/_rels/slide4.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3" Type="http://schemas.openxmlformats.org/officeDocument/2006/relationships/notesSlide" Target="../notesSlides/notesSlide3.xml"/><Relationship Id="rId22" Type="http://schemas.openxmlformats.org/officeDocument/2006/relationships/slideLayout" Target="../slideLayouts/slideLayout1.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image" Target="../media/image11.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tags" Target="../tags/tag24.xml"/><Relationship Id="rId2" Type="http://schemas.openxmlformats.org/officeDocument/2006/relationships/image" Target="../media/image5.png"/><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5.xml"/><Relationship Id="rId4" Type="http://schemas.openxmlformats.org/officeDocument/2006/relationships/tags" Target="../tags/tag25.xml"/><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image" Target="../media/image7.png"/><Relationship Id="rId3" Type="http://schemas.openxmlformats.org/officeDocument/2006/relationships/tags" Target="../tags/tag27.xml"/><Relationship Id="rId28" Type="http://schemas.openxmlformats.org/officeDocument/2006/relationships/notesSlide" Target="../notesSlides/notesSlide7.xml"/><Relationship Id="rId27" Type="http://schemas.openxmlformats.org/officeDocument/2006/relationships/slideLayout" Target="../slideLayouts/slideLayout1.xml"/><Relationship Id="rId26" Type="http://schemas.openxmlformats.org/officeDocument/2006/relationships/image" Target="../media/image16.jpeg"/><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image" Target="../media/image19.png"/><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tags" Target="../tags/tag4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16.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4.xml"/><Relationship Id="rId3" Type="http://schemas.openxmlformats.org/officeDocument/2006/relationships/tags" Target="../tags/tag48.xml"/><Relationship Id="rId2" Type="http://schemas.openxmlformats.org/officeDocument/2006/relationships/image" Target="../media/image5.png"/><Relationship Id="rId1" Type="http://schemas.openxmlformats.org/officeDocument/2006/relationships/image" Target="../media/image24.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8.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image" Target="../media/image26.png"/><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49.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8.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52.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6.xml"/><Relationship Id="rId5" Type="http://schemas.openxmlformats.org/officeDocument/2006/relationships/tags" Target="../tags/tag57.xml"/><Relationship Id="rId4" Type="http://schemas.openxmlformats.org/officeDocument/2006/relationships/image" Target="../media/image16.jpeg"/><Relationship Id="rId3" Type="http://schemas.openxmlformats.org/officeDocument/2006/relationships/tags" Target="../tags/tag56.xml"/><Relationship Id="rId2" Type="http://schemas.openxmlformats.org/officeDocument/2006/relationships/image" Target="../media/image25.png"/><Relationship Id="rId1" Type="http://schemas.openxmlformats.org/officeDocument/2006/relationships/tags" Target="../tags/tag55.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8.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image" Target="../media/image27.png"/><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58.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7.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image" Target="../media/image28.jpeg"/><Relationship Id="rId1" Type="http://schemas.openxmlformats.org/officeDocument/2006/relationships/image" Target="../media/image16.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5.xml"/><Relationship Id="rId5" Type="http://schemas.openxmlformats.org/officeDocument/2006/relationships/tags" Target="../tags/tag66.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5.xml"/><Relationship Id="rId5" Type="http://schemas.openxmlformats.org/officeDocument/2006/relationships/tags" Target="../tags/tag67.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16.jpe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5.xml"/><Relationship Id="rId5" Type="http://schemas.openxmlformats.org/officeDocument/2006/relationships/tags" Target="../tags/tag68.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4.xml"/><Relationship Id="rId3" Type="http://schemas.openxmlformats.org/officeDocument/2006/relationships/tags" Target="../tags/tag69.xml"/><Relationship Id="rId2" Type="http://schemas.openxmlformats.org/officeDocument/2006/relationships/image" Target="../media/image5.png"/><Relationship Id="rId1" Type="http://schemas.openxmlformats.org/officeDocument/2006/relationships/image" Target="../media/image38.jpe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image" Target="../media/image39.png"/><Relationship Id="rId2" Type="http://schemas.openxmlformats.org/officeDocument/2006/relationships/tags" Target="../tags/tag71.xml"/><Relationship Id="rId10" Type="http://schemas.openxmlformats.org/officeDocument/2006/relationships/notesSlide" Target="../notesSlides/notesSlide19.xml"/><Relationship Id="rId1" Type="http://schemas.openxmlformats.org/officeDocument/2006/relationships/tags" Target="../tags/tag70.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8.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76.xml"/></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8.xml"/><Relationship Id="rId7" Type="http://schemas.openxmlformats.org/officeDocument/2006/relationships/tags" Target="../tags/tag81.xml"/><Relationship Id="rId6" Type="http://schemas.openxmlformats.org/officeDocument/2006/relationships/image" Target="../media/image41.png"/><Relationship Id="rId5" Type="http://schemas.openxmlformats.org/officeDocument/2006/relationships/tags" Target="../tags/tag80.xml"/><Relationship Id="rId4" Type="http://schemas.openxmlformats.org/officeDocument/2006/relationships/image" Target="../media/image16.jpeg"/><Relationship Id="rId3" Type="http://schemas.openxmlformats.org/officeDocument/2006/relationships/image" Target="../media/image40.png"/><Relationship Id="rId2" Type="http://schemas.openxmlformats.org/officeDocument/2006/relationships/image" Target="../media/image25.png"/><Relationship Id="rId1" Type="http://schemas.openxmlformats.org/officeDocument/2006/relationships/tags" Target="../tags/tag79.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8.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image" Target="../media/image42.png"/><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82.xml"/></Relationships>
</file>

<file path=ppt/slides/_rels/slide24.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4" Type="http://schemas.openxmlformats.org/officeDocument/2006/relationships/notesSlide" Target="../notesSlides/notesSlide23.xml"/><Relationship Id="rId23" Type="http://schemas.openxmlformats.org/officeDocument/2006/relationships/slideLayout" Target="../slideLayouts/slideLayout1.xml"/><Relationship Id="rId22" Type="http://schemas.openxmlformats.org/officeDocument/2006/relationships/image" Target="../media/image16.jpeg"/><Relationship Id="rId21" Type="http://schemas.openxmlformats.org/officeDocument/2006/relationships/tags" Target="../tags/tag104.xml"/><Relationship Id="rId20" Type="http://schemas.openxmlformats.org/officeDocument/2006/relationships/tags" Target="../tags/tag103.xml"/><Relationship Id="rId2" Type="http://schemas.openxmlformats.org/officeDocument/2006/relationships/tags" Target="../tags/tag85.xml"/><Relationship Id="rId19" Type="http://schemas.openxmlformats.org/officeDocument/2006/relationships/tags" Target="../tags/tag102.xml"/><Relationship Id="rId18" Type="http://schemas.openxmlformats.org/officeDocument/2006/relationships/tags" Target="../tags/tag101.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4.xml"/><Relationship Id="rId3" Type="http://schemas.openxmlformats.org/officeDocument/2006/relationships/tags" Target="../tags/tag105.xml"/><Relationship Id="rId2" Type="http://schemas.openxmlformats.org/officeDocument/2006/relationships/image" Target="../media/image5.png"/><Relationship Id="rId1" Type="http://schemas.openxmlformats.org/officeDocument/2006/relationships/image" Target="../media/image43.jpeg"/></Relationships>
</file>

<file path=ppt/slides/_rels/slide26.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image" Target="../media/image44.png"/><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8" Type="http://schemas.openxmlformats.org/officeDocument/2006/relationships/notesSlide" Target="../notesSlides/notesSlide25.xml"/><Relationship Id="rId37" Type="http://schemas.openxmlformats.org/officeDocument/2006/relationships/slideLayout" Target="../slideLayouts/slideLayout1.xml"/><Relationship Id="rId36" Type="http://schemas.openxmlformats.org/officeDocument/2006/relationships/image" Target="../media/image16.jpeg"/><Relationship Id="rId35" Type="http://schemas.openxmlformats.org/officeDocument/2006/relationships/tags" Target="../tags/tag138.xml"/><Relationship Id="rId34" Type="http://schemas.openxmlformats.org/officeDocument/2006/relationships/tags" Target="../tags/tag137.xml"/><Relationship Id="rId33" Type="http://schemas.openxmlformats.org/officeDocument/2006/relationships/tags" Target="../tags/tag136.xml"/><Relationship Id="rId32" Type="http://schemas.openxmlformats.org/officeDocument/2006/relationships/tags" Target="../tags/tag135.xml"/><Relationship Id="rId31" Type="http://schemas.openxmlformats.org/officeDocument/2006/relationships/tags" Target="../tags/tag134.xml"/><Relationship Id="rId30" Type="http://schemas.openxmlformats.org/officeDocument/2006/relationships/tags" Target="../tags/tag133.xml"/><Relationship Id="rId3" Type="http://schemas.openxmlformats.org/officeDocument/2006/relationships/tags" Target="../tags/tag107.xml"/><Relationship Id="rId29" Type="http://schemas.openxmlformats.org/officeDocument/2006/relationships/tags" Target="../tags/tag132.xml"/><Relationship Id="rId28" Type="http://schemas.openxmlformats.org/officeDocument/2006/relationships/tags" Target="../tags/tag131.xml"/><Relationship Id="rId27" Type="http://schemas.openxmlformats.org/officeDocument/2006/relationships/tags" Target="../tags/tag130.xml"/><Relationship Id="rId26" Type="http://schemas.openxmlformats.org/officeDocument/2006/relationships/tags" Target="../tags/tag129.xml"/><Relationship Id="rId25" Type="http://schemas.openxmlformats.org/officeDocument/2006/relationships/tags" Target="../tags/tag128.xml"/><Relationship Id="rId24" Type="http://schemas.openxmlformats.org/officeDocument/2006/relationships/tags" Target="../tags/tag127.xml"/><Relationship Id="rId23" Type="http://schemas.openxmlformats.org/officeDocument/2006/relationships/tags" Target="../tags/tag126.xml"/><Relationship Id="rId22" Type="http://schemas.openxmlformats.org/officeDocument/2006/relationships/tags" Target="../tags/tag125.xml"/><Relationship Id="rId21" Type="http://schemas.openxmlformats.org/officeDocument/2006/relationships/tags" Target="../tags/tag124.xml"/><Relationship Id="rId20" Type="http://schemas.openxmlformats.org/officeDocument/2006/relationships/tags" Target="../tags/tag123.xml"/><Relationship Id="rId2" Type="http://schemas.openxmlformats.org/officeDocument/2006/relationships/tags" Target="../tags/tag106.xml"/><Relationship Id="rId19" Type="http://schemas.openxmlformats.org/officeDocument/2006/relationships/tags" Target="../tags/tag122.xml"/><Relationship Id="rId18" Type="http://schemas.openxmlformats.org/officeDocument/2006/relationships/tags" Target="../tags/tag121.xml"/><Relationship Id="rId17" Type="http://schemas.openxmlformats.org/officeDocument/2006/relationships/tags" Target="../tags/tag120.xml"/><Relationship Id="rId16" Type="http://schemas.openxmlformats.org/officeDocument/2006/relationships/tags" Target="../tags/tag119.xml"/><Relationship Id="rId15" Type="http://schemas.openxmlformats.org/officeDocument/2006/relationships/tags" Target="../tags/tag118.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4" Type="http://schemas.openxmlformats.org/officeDocument/2006/relationships/notesSlide" Target="../notesSlides/notesSlide26.xml"/><Relationship Id="rId23" Type="http://schemas.openxmlformats.org/officeDocument/2006/relationships/slideLayout" Target="../slideLayouts/slideLayout16.xml"/><Relationship Id="rId22" Type="http://schemas.openxmlformats.org/officeDocument/2006/relationships/tags" Target="../tags/tag156.xml"/><Relationship Id="rId21" Type="http://schemas.openxmlformats.org/officeDocument/2006/relationships/image" Target="../media/image16.jpeg"/><Relationship Id="rId20" Type="http://schemas.openxmlformats.org/officeDocument/2006/relationships/tags" Target="../tags/tag155.xml"/><Relationship Id="rId2" Type="http://schemas.openxmlformats.org/officeDocument/2006/relationships/tags" Target="../tags/tag140.xml"/><Relationship Id="rId19" Type="http://schemas.openxmlformats.org/officeDocument/2006/relationships/image" Target="../media/image47.png"/><Relationship Id="rId18" Type="http://schemas.openxmlformats.org/officeDocument/2006/relationships/tags" Target="../tags/tag154.xml"/><Relationship Id="rId17" Type="http://schemas.openxmlformats.org/officeDocument/2006/relationships/image" Target="../media/image46.png"/><Relationship Id="rId16" Type="http://schemas.openxmlformats.org/officeDocument/2006/relationships/tags" Target="../tags/tag153.xml"/><Relationship Id="rId15" Type="http://schemas.openxmlformats.org/officeDocument/2006/relationships/image" Target="../media/image45.png"/><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18.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157.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8.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tags" Target="../tags/tag160.xml"/></Relationships>
</file>

<file path=ppt/slides/_rels/slide30.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image" Target="../media/image15.png"/><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6" Type="http://schemas.openxmlformats.org/officeDocument/2006/relationships/notesSlide" Target="../notesSlides/notesSlide29.xml"/><Relationship Id="rId15" Type="http://schemas.openxmlformats.org/officeDocument/2006/relationships/slideLayout" Target="../slideLayouts/slideLayout1.xml"/><Relationship Id="rId14" Type="http://schemas.openxmlformats.org/officeDocument/2006/relationships/image" Target="../media/image16.jpeg"/><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3.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175.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明信片 拷贝"/>
          <p:cNvPicPr>
            <a:picLocks noChangeAspect="1"/>
          </p:cNvPicPr>
          <p:nvPr>
            <p:custDataLst>
              <p:tags r:id="rId1"/>
            </p:custDataLst>
          </p:nvPr>
        </p:nvPicPr>
        <p:blipFill>
          <a:blip r:embed="rId2"/>
          <a:srcRect t="4385" b="4166"/>
          <a:stretch>
            <a:fillRect/>
          </a:stretch>
        </p:blipFill>
        <p:spPr>
          <a:xfrm>
            <a:off x="0" y="-26670"/>
            <a:ext cx="12232640" cy="6913245"/>
          </a:xfrm>
          <a:prstGeom prst="rect">
            <a:avLst/>
          </a:prstGeom>
        </p:spPr>
      </p:pic>
      <p:pic>
        <p:nvPicPr>
          <p:cNvPr id="4" name="图片 3"/>
          <p:cNvPicPr>
            <a:picLocks noChangeAspect="1"/>
          </p:cNvPicPr>
          <p:nvPr/>
        </p:nvPicPr>
        <p:blipFill>
          <a:blip r:embed="rId3"/>
          <a:srcRect t="31437"/>
          <a:stretch>
            <a:fillRect/>
          </a:stretch>
        </p:blipFill>
        <p:spPr>
          <a:xfrm>
            <a:off x="5665470" y="635"/>
            <a:ext cx="6537960" cy="6885940"/>
          </a:xfrm>
          <a:prstGeom prst="rect">
            <a:avLst/>
          </a:prstGeom>
        </p:spPr>
      </p:pic>
      <p:sp>
        <p:nvSpPr>
          <p:cNvPr id="2" name="直角三角形 1"/>
          <p:cNvSpPr/>
          <p:nvPr/>
        </p:nvSpPr>
        <p:spPr>
          <a:xfrm rot="10800000" flipH="1">
            <a:off x="0" y="0"/>
            <a:ext cx="2749550" cy="4351655"/>
          </a:xfrm>
          <a:prstGeom prst="rtTriangle">
            <a:avLst/>
          </a:prstGeom>
          <a:solidFill>
            <a:srgbClr val="76BCD2">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flipH="1">
            <a:off x="313690" y="0"/>
            <a:ext cx="3439160" cy="5372735"/>
          </a:xfrm>
          <a:prstGeom prst="line">
            <a:avLst/>
          </a:prstGeom>
          <a:ln w="28575">
            <a:solidFill>
              <a:srgbClr val="ADA6A1">
                <a:alpha val="23000"/>
              </a:srgb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998855" y="635"/>
            <a:ext cx="10160" cy="88265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151890" y="86360"/>
            <a:ext cx="4084320" cy="521970"/>
          </a:xfrm>
          <a:prstGeom prst="rect">
            <a:avLst/>
          </a:prstGeom>
          <a:noFill/>
        </p:spPr>
        <p:txBody>
          <a:bodyPr wrap="square" rtlCol="0">
            <a:spAutoFit/>
          </a:bodyPr>
          <a:lstStyle/>
          <a:p>
            <a:r>
              <a:rPr lang="zh-CN" altLang="en-US" sz="2800" b="1">
                <a:solidFill>
                  <a:srgbClr val="4F677D"/>
                </a:solidFill>
              </a:rPr>
              <a:t>数</a:t>
            </a:r>
            <a:r>
              <a:rPr lang="en-US" altLang="zh-CN" sz="2800" b="1">
                <a:solidFill>
                  <a:srgbClr val="4F677D"/>
                </a:solidFill>
              </a:rPr>
              <a:t> </a:t>
            </a:r>
            <a:r>
              <a:rPr lang="zh-CN" altLang="en-US" sz="2800" b="1">
                <a:solidFill>
                  <a:srgbClr val="4F677D"/>
                </a:solidFill>
              </a:rPr>
              <a:t>据</a:t>
            </a:r>
            <a:r>
              <a:rPr lang="en-US" altLang="zh-CN" sz="2800" b="1">
                <a:solidFill>
                  <a:srgbClr val="4F677D"/>
                </a:solidFill>
              </a:rPr>
              <a:t> </a:t>
            </a:r>
            <a:r>
              <a:rPr lang="zh-CN" altLang="en-US" sz="2800" b="1">
                <a:solidFill>
                  <a:srgbClr val="4F677D"/>
                </a:solidFill>
              </a:rPr>
              <a:t>库</a:t>
            </a:r>
            <a:r>
              <a:rPr lang="en-US" altLang="zh-CN" sz="2800" b="1">
                <a:solidFill>
                  <a:srgbClr val="4F677D"/>
                </a:solidFill>
              </a:rPr>
              <a:t> </a:t>
            </a:r>
            <a:r>
              <a:rPr lang="zh-CN" altLang="en-US" sz="2800" b="1">
                <a:solidFill>
                  <a:srgbClr val="4F677D"/>
                </a:solidFill>
              </a:rPr>
              <a:t>课</a:t>
            </a:r>
            <a:r>
              <a:rPr lang="en-US" altLang="zh-CN" sz="2800" b="1">
                <a:solidFill>
                  <a:srgbClr val="4F677D"/>
                </a:solidFill>
              </a:rPr>
              <a:t> </a:t>
            </a:r>
            <a:r>
              <a:rPr lang="zh-CN" altLang="en-US" sz="2800" b="1">
                <a:solidFill>
                  <a:srgbClr val="4F677D"/>
                </a:solidFill>
              </a:rPr>
              <a:t>程</a:t>
            </a:r>
            <a:r>
              <a:rPr lang="en-US" altLang="zh-CN" sz="2800" b="1">
                <a:solidFill>
                  <a:srgbClr val="4F677D"/>
                </a:solidFill>
              </a:rPr>
              <a:t> </a:t>
            </a:r>
            <a:r>
              <a:rPr lang="zh-CN" altLang="en-US" sz="2800" b="1">
                <a:solidFill>
                  <a:srgbClr val="4F677D"/>
                </a:solidFill>
              </a:rPr>
              <a:t>实</a:t>
            </a:r>
            <a:r>
              <a:rPr lang="en-US" altLang="zh-CN" sz="2800" b="1">
                <a:solidFill>
                  <a:srgbClr val="4F677D"/>
                </a:solidFill>
              </a:rPr>
              <a:t> </a:t>
            </a:r>
            <a:r>
              <a:rPr lang="zh-CN" altLang="en-US" sz="2800" b="1">
                <a:solidFill>
                  <a:srgbClr val="4F677D"/>
                </a:solidFill>
              </a:rPr>
              <a:t>践</a:t>
            </a:r>
            <a:r>
              <a:rPr lang="en-US" altLang="zh-CN" sz="2800" b="1">
                <a:solidFill>
                  <a:srgbClr val="4F677D"/>
                </a:solidFill>
              </a:rPr>
              <a:t> </a:t>
            </a:r>
            <a:r>
              <a:rPr lang="zh-CN" altLang="en-US" sz="2800" b="1">
                <a:solidFill>
                  <a:srgbClr val="4F677D"/>
                </a:solidFill>
              </a:rPr>
              <a:t>项</a:t>
            </a:r>
            <a:r>
              <a:rPr lang="en-US" altLang="zh-CN" sz="2800" b="1">
                <a:solidFill>
                  <a:srgbClr val="4F677D"/>
                </a:solidFill>
              </a:rPr>
              <a:t> </a:t>
            </a:r>
            <a:r>
              <a:rPr lang="zh-CN" altLang="en-US" sz="2800" b="1">
                <a:solidFill>
                  <a:srgbClr val="4F677D"/>
                </a:solidFill>
              </a:rPr>
              <a:t>目</a:t>
            </a:r>
            <a:endParaRPr lang="zh-CN" altLang="en-US" sz="2800" b="1">
              <a:solidFill>
                <a:srgbClr val="4F677D"/>
              </a:solidFill>
            </a:endParaRPr>
          </a:p>
        </p:txBody>
      </p:sp>
      <p:cxnSp>
        <p:nvCxnSpPr>
          <p:cNvPr id="30" name="直接连接符 29"/>
          <p:cNvCxnSpPr/>
          <p:nvPr/>
        </p:nvCxnSpPr>
        <p:spPr>
          <a:xfrm flipH="1">
            <a:off x="9014460" y="0"/>
            <a:ext cx="852805" cy="1139190"/>
          </a:xfrm>
          <a:prstGeom prst="line">
            <a:avLst/>
          </a:prstGeom>
          <a:ln w="34925">
            <a:solidFill>
              <a:srgbClr val="ADA6A1">
                <a:alpha val="26000"/>
              </a:srgbClr>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0795" y="314960"/>
            <a:ext cx="1940560" cy="568325"/>
          </a:xfrm>
          <a:prstGeom prst="rect">
            <a:avLst/>
          </a:prstGeom>
        </p:spPr>
      </p:pic>
      <p:grpSp>
        <p:nvGrpSpPr>
          <p:cNvPr id="39" name="组合 38"/>
          <p:cNvGrpSpPr/>
          <p:nvPr/>
        </p:nvGrpSpPr>
        <p:grpSpPr>
          <a:xfrm>
            <a:off x="4202430" y="2486025"/>
            <a:ext cx="8964930" cy="1924685"/>
            <a:chOff x="6554" y="5005"/>
            <a:chExt cx="14118" cy="3031"/>
          </a:xfrm>
        </p:grpSpPr>
        <p:sp>
          <p:nvSpPr>
            <p:cNvPr id="31" name="文本框 30"/>
            <p:cNvSpPr txBox="1"/>
            <p:nvPr/>
          </p:nvSpPr>
          <p:spPr>
            <a:xfrm>
              <a:off x="13870" y="7311"/>
              <a:ext cx="4680" cy="725"/>
            </a:xfrm>
            <a:prstGeom prst="rect">
              <a:avLst/>
            </a:prstGeom>
            <a:noFill/>
          </p:spPr>
          <p:txBody>
            <a:bodyPr wrap="square" rtlCol="0">
              <a:spAutoFit/>
            </a:bodyPr>
            <a:lstStyle/>
            <a:p>
              <a:pPr algn="r"/>
              <a:r>
                <a:rPr lang="zh-CN" altLang="en-US" sz="2400">
                  <a:solidFill>
                    <a:schemeClr val="bg1"/>
                  </a:solidFill>
                </a:rPr>
                <a:t>汇报人：</a:t>
              </a:r>
              <a:r>
                <a:rPr lang="en-US" altLang="zh-CN" sz="2400">
                  <a:solidFill>
                    <a:schemeClr val="bg1"/>
                  </a:solidFill>
                </a:rPr>
                <a:t>xxx</a:t>
              </a:r>
              <a:endParaRPr lang="en-US" altLang="zh-CN" sz="2400">
                <a:solidFill>
                  <a:schemeClr val="bg1"/>
                </a:solidFill>
              </a:endParaRPr>
            </a:p>
          </p:txBody>
        </p:sp>
        <p:pic>
          <p:nvPicPr>
            <p:cNvPr id="37" name="图片 36"/>
            <p:cNvPicPr>
              <a:picLocks noChangeAspect="1"/>
            </p:cNvPicPr>
            <p:nvPr/>
          </p:nvPicPr>
          <p:blipFill>
            <a:blip r:embed="rId5">
              <a:lum bright="12000" contrast="30000"/>
            </a:blip>
            <a:srcRect r="9074"/>
            <a:stretch>
              <a:fillRect/>
            </a:stretch>
          </p:blipFill>
          <p:spPr>
            <a:xfrm>
              <a:off x="6554" y="5005"/>
              <a:ext cx="12646" cy="1644"/>
            </a:xfrm>
            <a:prstGeom prst="rect">
              <a:avLst/>
            </a:prstGeom>
          </p:spPr>
        </p:pic>
        <p:sp>
          <p:nvSpPr>
            <p:cNvPr id="26" name="文本框 25"/>
            <p:cNvSpPr txBox="1"/>
            <p:nvPr/>
          </p:nvSpPr>
          <p:spPr>
            <a:xfrm>
              <a:off x="7833" y="5222"/>
              <a:ext cx="12839" cy="1210"/>
            </a:xfrm>
            <a:prstGeom prst="rect">
              <a:avLst/>
            </a:prstGeom>
            <a:noFill/>
          </p:spPr>
          <p:txBody>
            <a:bodyPr wrap="square" rtlCol="0">
              <a:spAutoFit/>
            </a:bodyPr>
            <a:lstStyle/>
            <a:p>
              <a:r>
                <a:rPr lang="en-US" sz="4400" b="1" dirty="0">
                  <a:solidFill>
                    <a:schemeClr val="bg1"/>
                  </a:solidFill>
                  <a:latin typeface="MiSans" panose="00000500000000000000" pitchFamily="34" charset="-122"/>
                  <a:ea typeface="MiSans" panose="00000500000000000000" pitchFamily="34" charset="-122"/>
                  <a:cs typeface="MiSans" panose="00000500000000000000" pitchFamily="34" charset="-120"/>
                  <a:sym typeface="+mn-ea"/>
                </a:rPr>
                <a:t>多数据库同步管理系统实践</a:t>
              </a:r>
              <a:endParaRPr lang="en-US" altLang="en-US" sz="4400" b="1" dirty="0">
                <a:solidFill>
                  <a:schemeClr val="bg1"/>
                </a:solidFill>
                <a:latin typeface="MiSans" panose="00000500000000000000" pitchFamily="34" charset="-122"/>
                <a:ea typeface="MiSans" panose="00000500000000000000" pitchFamily="34" charset="-122"/>
                <a:cs typeface="MiSans" panose="00000500000000000000" pitchFamily="34" charset="-120"/>
                <a:sym typeface="+mn-ea"/>
              </a:endParaRPr>
            </a:p>
          </p:txBody>
        </p:sp>
      </p:grpSp>
      <p:pic>
        <p:nvPicPr>
          <p:cNvPr id="25" name="图片 24"/>
          <p:cNvPicPr>
            <a:picLocks noChangeAspect="1"/>
          </p:cNvPicPr>
          <p:nvPr/>
        </p:nvPicPr>
        <p:blipFill>
          <a:blip r:embed="rId6"/>
          <a:stretch>
            <a:fillRect/>
          </a:stretch>
        </p:blipFill>
        <p:spPr>
          <a:xfrm>
            <a:off x="3048000" y="3787140"/>
            <a:ext cx="9144000" cy="1295400"/>
          </a:xfrm>
          <a:prstGeom prst="rect">
            <a:avLst/>
          </a:prstGeom>
        </p:spPr>
      </p:pic>
    </p:spTree>
    <p:custDataLst>
      <p:tags r:id="rId7"/>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500" fill="hold">
                                          <p:stCondLst>
                                            <p:cond delay="0"/>
                                          </p:stCondLst>
                                        </p:cTn>
                                        <p:tgtEl>
                                          <p:spTgt spid="39"/>
                                        </p:tgtEl>
                                        <p:attrNameLst>
                                          <p:attrName>style.visibility</p:attrName>
                                        </p:attrNameLst>
                                      </p:cBhvr>
                                      <p:to>
                                        <p:strVal val="visible"/>
                                      </p:to>
                                    </p:set>
                                    <p:animEffect transition="in" filter="wipe(right)">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47" name="图片 46" descr="C:\Users\dell\Desktop\余若冰\校庆ppt\微信图片_20200427144537.jpg微信图片_20200427144537"/>
          <p:cNvPicPr>
            <a:picLocks noChangeAspect="1"/>
          </p:cNvPicPr>
          <p:nvPr/>
        </p:nvPicPr>
        <p:blipFill>
          <a:blip r:embed="rId1">
            <a:lum contrast="-6000"/>
          </a:blip>
          <a:srcRect t="5514" b="9796"/>
          <a:stretch>
            <a:fillRect/>
          </a:stretch>
        </p:blipFill>
        <p:spPr>
          <a:xfrm>
            <a:off x="1270" y="-12065"/>
            <a:ext cx="12191365" cy="6894830"/>
          </a:xfrm>
          <a:prstGeom prst="rect">
            <a:avLst/>
          </a:prstGeom>
        </p:spPr>
      </p:pic>
      <p:pic>
        <p:nvPicPr>
          <p:cNvPr id="2" name="Image 0" descr="https://kimi-img.moonshot.cn/pub/slides/slides_tmpl/image/25-09-04-14:54:56-d2sjfg61bb2p4onbpvpg.png"/>
          <p:cNvPicPr>
            <a:picLocks noChangeAspect="1"/>
          </p:cNvPicPr>
          <p:nvPr/>
        </p:nvPicPr>
        <p:blipFill>
          <a:blip r:embed="rId2">
            <a:alphaModFix amt="80000"/>
          </a:blip>
          <a:srcRect l="20060" t="9520" b="9520"/>
          <a:stretch>
            <a:fillRect/>
          </a:stretch>
        </p:blipFill>
        <p:spPr>
          <a:xfrm>
            <a:off x="-831215" y="0"/>
            <a:ext cx="6771640" cy="6857365"/>
          </a:xfrm>
          <a:prstGeom prst="rect">
            <a:avLst/>
          </a:prstGeom>
        </p:spPr>
      </p:pic>
      <p:sp>
        <p:nvSpPr>
          <p:cNvPr id="3" name="Shape 0"/>
          <p:cNvSpPr/>
          <p:nvPr/>
        </p:nvSpPr>
        <p:spPr>
          <a:xfrm>
            <a:off x="4876800" y="715645"/>
            <a:ext cx="4559935" cy="633730"/>
          </a:xfrm>
          <a:prstGeom prst="roundRect">
            <a:avLst>
              <a:gd name="adj" fmla="val 50000"/>
            </a:avLst>
          </a:prstGeom>
          <a:gradFill flip="none" rotWithShape="1">
            <a:gsLst>
              <a:gs pos="0">
                <a:srgbClr val="FFFFFF"/>
              </a:gs>
              <a:gs pos="2000">
                <a:srgbClr val="FFFFFF"/>
              </a:gs>
              <a:gs pos="55000">
                <a:srgbClr val="FFFFFF">
                  <a:alpha val="27000"/>
                </a:srgbClr>
              </a:gs>
              <a:gs pos="100000">
                <a:srgbClr val="FFFFFF"/>
              </a:gs>
            </a:gsLst>
            <a:lin ang="2700000" scaled="1"/>
          </a:gradFill>
          <a:ln w="19050">
            <a:solidFill>
              <a:srgbClr val="FFFFFF"/>
            </a:solidFill>
            <a:prstDash val="solid"/>
          </a:ln>
          <a:effectLst>
            <a:outerShdw blurRad="203200" dist="63500" dir="2700000" algn="bl" rotWithShape="0">
              <a:srgbClr val="6389D3">
                <a:alpha val="58039"/>
              </a:srgbClr>
            </a:outerShdw>
          </a:effectLst>
        </p:spPr>
      </p:sp>
      <p:sp>
        <p:nvSpPr>
          <p:cNvPr id="4" name="Text 1"/>
          <p:cNvSpPr/>
          <p:nvPr/>
        </p:nvSpPr>
        <p:spPr>
          <a:xfrm>
            <a:off x="4876800" y="715645"/>
            <a:ext cx="4559935" cy="633730"/>
          </a:xfrm>
          <a:prstGeom prst="rect">
            <a:avLst/>
          </a:prstGeom>
          <a:noFill/>
        </p:spPr>
        <p:txBody>
          <a:bodyPr wrap="square" lIns="45720" tIns="91440" rIns="91440" bIns="45720" rtlCol="0" anchor="ctr"/>
          <a:lstStyle/>
          <a:p>
            <a:pPr>
              <a:lnSpc>
                <a:spcPct val="100000"/>
              </a:lnSpc>
            </a:pPr>
            <a:endParaRPr lang="en-US" sz="1600" dirty="0"/>
          </a:p>
        </p:txBody>
      </p:sp>
      <p:sp>
        <p:nvSpPr>
          <p:cNvPr id="5" name="Shape 2"/>
          <p:cNvSpPr/>
          <p:nvPr/>
        </p:nvSpPr>
        <p:spPr>
          <a:xfrm>
            <a:off x="4981575" y="804545"/>
            <a:ext cx="469265" cy="469265"/>
          </a:xfrm>
          <a:prstGeom prst="ellipse">
            <a:avLst/>
          </a:prstGeom>
          <a:gradFill flip="none" rotWithShape="1">
            <a:gsLst>
              <a:gs pos="0">
                <a:srgbClr val="D1DCF2">
                  <a:alpha val="84000"/>
                </a:srgbClr>
              </a:gs>
              <a:gs pos="2000">
                <a:srgbClr val="D1DCF2">
                  <a:alpha val="84000"/>
                </a:srgbClr>
              </a:gs>
              <a:gs pos="55000">
                <a:srgbClr val="4874CB">
                  <a:alpha val="69000"/>
                </a:srgbClr>
              </a:gs>
              <a:gs pos="100000">
                <a:srgbClr val="345FB6"/>
              </a:gs>
            </a:gsLst>
            <a:path path="circle">
              <a:fillToRect r="100000" b="100000"/>
            </a:path>
            <a:tileRect l="-100000" t="-100000"/>
          </a:gradFill>
        </p:spPr>
      </p:sp>
      <p:sp>
        <p:nvSpPr>
          <p:cNvPr id="6" name="Text 3"/>
          <p:cNvSpPr/>
          <p:nvPr/>
        </p:nvSpPr>
        <p:spPr>
          <a:xfrm>
            <a:off x="4981575" y="804545"/>
            <a:ext cx="469265" cy="469265"/>
          </a:xfrm>
          <a:prstGeom prst="rect">
            <a:avLst/>
          </a:prstGeom>
          <a:noFill/>
        </p:spPr>
        <p:txBody>
          <a:bodyPr wrap="square" lIns="45720" tIns="91440" rIns="91440" bIns="45720" rtlCol="0" anchor="ctr"/>
          <a:lstStyle/>
          <a:p>
            <a:pPr>
              <a:lnSpc>
                <a:spcPct val="100000"/>
              </a:lnSpc>
            </a:pPr>
            <a:endParaRPr lang="en-US" sz="1600" dirty="0"/>
          </a:p>
        </p:txBody>
      </p:sp>
      <p:sp>
        <p:nvSpPr>
          <p:cNvPr id="7" name="Text 4"/>
          <p:cNvSpPr/>
          <p:nvPr/>
        </p:nvSpPr>
        <p:spPr>
          <a:xfrm>
            <a:off x="5001260" y="842645"/>
            <a:ext cx="513080" cy="431165"/>
          </a:xfrm>
          <a:prstGeom prst="rect">
            <a:avLst/>
          </a:prstGeom>
          <a:noFill/>
        </p:spPr>
        <p:txBody>
          <a:bodyPr wrap="square" lIns="91440" tIns="45720" rIns="91440" bIns="45720" rtlCol="0" anchor="ctr"/>
          <a:lstStyle/>
          <a:p>
            <a:pPr>
              <a:lnSpc>
                <a:spcPct val="100000"/>
              </a:lnSpc>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8" name="Text 5"/>
          <p:cNvSpPr/>
          <p:nvPr/>
        </p:nvSpPr>
        <p:spPr>
          <a:xfrm>
            <a:off x="5561965" y="1957070"/>
            <a:ext cx="1031875" cy="823595"/>
          </a:xfrm>
          <a:prstGeom prst="rect">
            <a:avLst/>
          </a:prstGeom>
          <a:noFill/>
        </p:spPr>
        <p:txBody>
          <a:bodyPr wrap="square" lIns="91440" tIns="45720" rIns="91440" bIns="45720" rtlCol="0" anchor="t"/>
          <a:lstStyle/>
          <a:p>
            <a:pPr>
              <a:lnSpc>
                <a:spcPct val="100000"/>
              </a:lnSpc>
            </a:pPr>
            <a:r>
              <a:rPr lang="en-US" sz="2400" b="1" dirty="0">
                <a:solidFill>
                  <a:srgbClr val="FFFFFF"/>
                </a:solidFill>
                <a:latin typeface="MiSans" panose="00000500000000000000" pitchFamily="34" charset="-122"/>
                <a:ea typeface="MiSans" panose="00000500000000000000" pitchFamily="34" charset="-122"/>
                <a:cs typeface="MiSans" panose="00000500000000000000" pitchFamily="34" charset="-120"/>
              </a:rPr>
              <a:t>2</a:t>
            </a:r>
            <a:endParaRPr lang="en-US" sz="1600" dirty="0"/>
          </a:p>
        </p:txBody>
      </p:sp>
      <p:sp>
        <p:nvSpPr>
          <p:cNvPr id="9" name="Shape 6"/>
          <p:cNvSpPr/>
          <p:nvPr/>
        </p:nvSpPr>
        <p:spPr>
          <a:xfrm>
            <a:off x="5381625" y="1899285"/>
            <a:ext cx="4559935" cy="633730"/>
          </a:xfrm>
          <a:prstGeom prst="roundRect">
            <a:avLst>
              <a:gd name="adj" fmla="val 50000"/>
            </a:avLst>
          </a:prstGeom>
          <a:gradFill flip="none" rotWithShape="1">
            <a:gsLst>
              <a:gs pos="0">
                <a:srgbClr val="FFFFFF"/>
              </a:gs>
              <a:gs pos="2000">
                <a:srgbClr val="FFFFFF"/>
              </a:gs>
              <a:gs pos="55000">
                <a:srgbClr val="FFFFFF">
                  <a:alpha val="27000"/>
                </a:srgbClr>
              </a:gs>
              <a:gs pos="100000">
                <a:srgbClr val="FFFFFF"/>
              </a:gs>
            </a:gsLst>
            <a:lin ang="2700000" scaled="1"/>
          </a:gradFill>
          <a:ln w="19050">
            <a:solidFill>
              <a:srgbClr val="FFFFFF"/>
            </a:solidFill>
            <a:prstDash val="solid"/>
          </a:ln>
          <a:effectLst>
            <a:outerShdw blurRad="203200" dist="63500" dir="2700000" algn="bl" rotWithShape="0">
              <a:srgbClr val="6389D3">
                <a:alpha val="58039"/>
              </a:srgbClr>
            </a:outerShdw>
          </a:effectLst>
        </p:spPr>
      </p:sp>
      <p:sp>
        <p:nvSpPr>
          <p:cNvPr id="10" name="Text 7"/>
          <p:cNvSpPr/>
          <p:nvPr/>
        </p:nvSpPr>
        <p:spPr>
          <a:xfrm>
            <a:off x="5381625" y="1899285"/>
            <a:ext cx="4559935" cy="633730"/>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8"/>
          <p:cNvSpPr/>
          <p:nvPr/>
        </p:nvSpPr>
        <p:spPr>
          <a:xfrm>
            <a:off x="5486400" y="1988185"/>
            <a:ext cx="469265" cy="469265"/>
          </a:xfrm>
          <a:prstGeom prst="ellipse">
            <a:avLst/>
          </a:prstGeom>
          <a:gradFill flip="none" rotWithShape="1">
            <a:gsLst>
              <a:gs pos="0">
                <a:srgbClr val="D1DCF2">
                  <a:alpha val="84000"/>
                </a:srgbClr>
              </a:gs>
              <a:gs pos="2000">
                <a:srgbClr val="D1DCF2">
                  <a:alpha val="84000"/>
                </a:srgbClr>
              </a:gs>
              <a:gs pos="55000">
                <a:srgbClr val="4874CB">
                  <a:alpha val="69000"/>
                </a:srgbClr>
              </a:gs>
              <a:gs pos="100000">
                <a:srgbClr val="345FB6"/>
              </a:gs>
            </a:gsLst>
            <a:path path="circle">
              <a:fillToRect r="100000" b="100000"/>
            </a:path>
            <a:tileRect l="-100000" t="-100000"/>
          </a:gradFill>
        </p:spPr>
      </p:sp>
      <p:sp>
        <p:nvSpPr>
          <p:cNvPr id="12" name="Text 9"/>
          <p:cNvSpPr/>
          <p:nvPr/>
        </p:nvSpPr>
        <p:spPr>
          <a:xfrm>
            <a:off x="5486400" y="1988185"/>
            <a:ext cx="469265" cy="469265"/>
          </a:xfrm>
          <a:prstGeom prst="rect">
            <a:avLst/>
          </a:prstGeom>
          <a:noFill/>
        </p:spPr>
        <p:txBody>
          <a:bodyPr wrap="square" lIns="45720" tIns="91440" rIns="91440" bIns="45720" rtlCol="0" anchor="ctr"/>
          <a:lstStyle/>
          <a:p>
            <a:pPr>
              <a:lnSpc>
                <a:spcPct val="100000"/>
              </a:lnSpc>
            </a:pPr>
            <a:endParaRPr lang="en-US" sz="1600" dirty="0"/>
          </a:p>
        </p:txBody>
      </p:sp>
      <p:sp>
        <p:nvSpPr>
          <p:cNvPr id="13" name="Text 10"/>
          <p:cNvSpPr/>
          <p:nvPr/>
        </p:nvSpPr>
        <p:spPr>
          <a:xfrm>
            <a:off x="5485130" y="2019300"/>
            <a:ext cx="513080" cy="431165"/>
          </a:xfrm>
          <a:prstGeom prst="rect">
            <a:avLst/>
          </a:prstGeom>
          <a:noFill/>
        </p:spPr>
        <p:txBody>
          <a:bodyPr wrap="square" lIns="91440" tIns="45720" rIns="91440" bIns="45720" rtlCol="0" anchor="ctr"/>
          <a:lstStyle/>
          <a:p>
            <a:pPr>
              <a:lnSpc>
                <a:spcPct val="100000"/>
              </a:lnSpc>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
        <p:nvSpPr>
          <p:cNvPr id="14" name="Shape 11"/>
          <p:cNvSpPr/>
          <p:nvPr/>
        </p:nvSpPr>
        <p:spPr>
          <a:xfrm>
            <a:off x="5720715" y="3102610"/>
            <a:ext cx="4559300" cy="633730"/>
          </a:xfrm>
          <a:prstGeom prst="roundRect">
            <a:avLst>
              <a:gd name="adj" fmla="val 50000"/>
            </a:avLst>
          </a:prstGeom>
          <a:gradFill flip="none" rotWithShape="1">
            <a:gsLst>
              <a:gs pos="0">
                <a:srgbClr val="FFFFFF"/>
              </a:gs>
              <a:gs pos="2000">
                <a:srgbClr val="FFFFFF"/>
              </a:gs>
              <a:gs pos="55000">
                <a:srgbClr val="FFFFFF">
                  <a:alpha val="27000"/>
                </a:srgbClr>
              </a:gs>
              <a:gs pos="100000">
                <a:srgbClr val="FFFFFF"/>
              </a:gs>
            </a:gsLst>
            <a:lin ang="2700000" scaled="1"/>
          </a:gradFill>
          <a:ln w="19050">
            <a:solidFill>
              <a:srgbClr val="FFFFFF"/>
            </a:solidFill>
            <a:prstDash val="solid"/>
          </a:ln>
          <a:effectLst>
            <a:outerShdw blurRad="203200" dist="63500" dir="2700000" algn="bl" rotWithShape="0">
              <a:srgbClr val="6389D3">
                <a:alpha val="58039"/>
              </a:srgbClr>
            </a:outerShdw>
          </a:effectLst>
        </p:spPr>
      </p:sp>
      <p:sp>
        <p:nvSpPr>
          <p:cNvPr id="15" name="Text 12"/>
          <p:cNvSpPr/>
          <p:nvPr/>
        </p:nvSpPr>
        <p:spPr>
          <a:xfrm>
            <a:off x="5720715" y="3102610"/>
            <a:ext cx="4559300" cy="63373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3"/>
          <p:cNvSpPr/>
          <p:nvPr/>
        </p:nvSpPr>
        <p:spPr>
          <a:xfrm>
            <a:off x="5825490" y="3191510"/>
            <a:ext cx="469265" cy="469265"/>
          </a:xfrm>
          <a:prstGeom prst="ellipse">
            <a:avLst/>
          </a:prstGeom>
          <a:gradFill flip="none" rotWithShape="1">
            <a:gsLst>
              <a:gs pos="0">
                <a:srgbClr val="D1DCF2">
                  <a:alpha val="84000"/>
                </a:srgbClr>
              </a:gs>
              <a:gs pos="2000">
                <a:srgbClr val="D1DCF2">
                  <a:alpha val="84000"/>
                </a:srgbClr>
              </a:gs>
              <a:gs pos="55000">
                <a:srgbClr val="4874CB">
                  <a:alpha val="69000"/>
                </a:srgbClr>
              </a:gs>
              <a:gs pos="100000">
                <a:srgbClr val="345FB6"/>
              </a:gs>
            </a:gsLst>
            <a:path path="circle">
              <a:fillToRect r="100000" b="100000"/>
            </a:path>
            <a:tileRect l="-100000" t="-100000"/>
          </a:gradFill>
        </p:spPr>
      </p:sp>
      <p:sp>
        <p:nvSpPr>
          <p:cNvPr id="17" name="Text 14"/>
          <p:cNvSpPr/>
          <p:nvPr/>
        </p:nvSpPr>
        <p:spPr>
          <a:xfrm>
            <a:off x="5825490" y="3191510"/>
            <a:ext cx="469265" cy="469265"/>
          </a:xfrm>
          <a:prstGeom prst="rect">
            <a:avLst/>
          </a:prstGeom>
          <a:noFill/>
        </p:spPr>
        <p:txBody>
          <a:bodyPr wrap="square" lIns="45720" tIns="91440" rIns="91440" bIns="45720" rtlCol="0" anchor="ctr"/>
          <a:lstStyle/>
          <a:p>
            <a:pPr>
              <a:lnSpc>
                <a:spcPct val="100000"/>
              </a:lnSpc>
            </a:pPr>
            <a:endParaRPr lang="en-US" sz="1600" dirty="0"/>
          </a:p>
        </p:txBody>
      </p:sp>
      <p:sp>
        <p:nvSpPr>
          <p:cNvPr id="18" name="Text 15"/>
          <p:cNvSpPr/>
          <p:nvPr/>
        </p:nvSpPr>
        <p:spPr>
          <a:xfrm>
            <a:off x="5824220" y="3222625"/>
            <a:ext cx="513080" cy="431165"/>
          </a:xfrm>
          <a:prstGeom prst="rect">
            <a:avLst/>
          </a:prstGeom>
          <a:noFill/>
        </p:spPr>
        <p:txBody>
          <a:bodyPr wrap="square" lIns="91440" tIns="45720" rIns="91440" bIns="45720" rtlCol="0" anchor="ctr"/>
          <a:lstStyle/>
          <a:p>
            <a:pPr>
              <a:lnSpc>
                <a:spcPct val="100000"/>
              </a:lnSpc>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03</a:t>
            </a:r>
            <a:endParaRPr lang="en-US" sz="1600" dirty="0"/>
          </a:p>
        </p:txBody>
      </p:sp>
      <p:sp>
        <p:nvSpPr>
          <p:cNvPr id="19" name="Shape 16"/>
          <p:cNvSpPr/>
          <p:nvPr/>
        </p:nvSpPr>
        <p:spPr>
          <a:xfrm>
            <a:off x="5366385" y="4277995"/>
            <a:ext cx="4559935" cy="633730"/>
          </a:xfrm>
          <a:prstGeom prst="roundRect">
            <a:avLst>
              <a:gd name="adj" fmla="val 50000"/>
            </a:avLst>
          </a:prstGeom>
          <a:gradFill flip="none" rotWithShape="1">
            <a:gsLst>
              <a:gs pos="0">
                <a:srgbClr val="FFFFFF"/>
              </a:gs>
              <a:gs pos="2000">
                <a:srgbClr val="FFFFFF"/>
              </a:gs>
              <a:gs pos="55000">
                <a:srgbClr val="FFFFFF">
                  <a:alpha val="27000"/>
                </a:srgbClr>
              </a:gs>
              <a:gs pos="100000">
                <a:srgbClr val="FFFFFF"/>
              </a:gs>
            </a:gsLst>
            <a:lin ang="2700000" scaled="1"/>
          </a:gradFill>
          <a:ln w="19050">
            <a:solidFill>
              <a:srgbClr val="FFFFFF"/>
            </a:solidFill>
            <a:prstDash val="solid"/>
          </a:ln>
          <a:effectLst>
            <a:outerShdw blurRad="203200" dist="63500" dir="2700000" algn="bl" rotWithShape="0">
              <a:srgbClr val="6389D3">
                <a:alpha val="58039"/>
              </a:srgbClr>
            </a:outerShdw>
          </a:effectLst>
        </p:spPr>
      </p:sp>
      <p:sp>
        <p:nvSpPr>
          <p:cNvPr id="20" name="Text 17"/>
          <p:cNvSpPr/>
          <p:nvPr/>
        </p:nvSpPr>
        <p:spPr>
          <a:xfrm>
            <a:off x="5366385" y="4277995"/>
            <a:ext cx="4559935" cy="633730"/>
          </a:xfrm>
          <a:prstGeom prst="rect">
            <a:avLst/>
          </a:prstGeom>
          <a:noFill/>
        </p:spPr>
        <p:txBody>
          <a:bodyPr wrap="square" lIns="45720" tIns="91440" rIns="91440" bIns="45720" rtlCol="0" anchor="ctr"/>
          <a:lstStyle/>
          <a:p>
            <a:pPr>
              <a:lnSpc>
                <a:spcPct val="100000"/>
              </a:lnSpc>
            </a:pPr>
            <a:endParaRPr lang="en-US" sz="1600" dirty="0"/>
          </a:p>
        </p:txBody>
      </p:sp>
      <p:sp>
        <p:nvSpPr>
          <p:cNvPr id="21" name="Shape 18"/>
          <p:cNvSpPr/>
          <p:nvPr/>
        </p:nvSpPr>
        <p:spPr>
          <a:xfrm>
            <a:off x="5471160" y="4366895"/>
            <a:ext cx="469265" cy="469265"/>
          </a:xfrm>
          <a:prstGeom prst="ellipse">
            <a:avLst/>
          </a:prstGeom>
          <a:gradFill flip="none" rotWithShape="1">
            <a:gsLst>
              <a:gs pos="0">
                <a:srgbClr val="D1DCF2">
                  <a:alpha val="84000"/>
                </a:srgbClr>
              </a:gs>
              <a:gs pos="2000">
                <a:srgbClr val="D1DCF2">
                  <a:alpha val="84000"/>
                </a:srgbClr>
              </a:gs>
              <a:gs pos="55000">
                <a:srgbClr val="4874CB">
                  <a:alpha val="69000"/>
                </a:srgbClr>
              </a:gs>
              <a:gs pos="100000">
                <a:srgbClr val="345FB6"/>
              </a:gs>
            </a:gsLst>
            <a:path path="circle">
              <a:fillToRect r="100000" b="100000"/>
            </a:path>
            <a:tileRect l="-100000" t="-100000"/>
          </a:gradFill>
        </p:spPr>
      </p:sp>
      <p:sp>
        <p:nvSpPr>
          <p:cNvPr id="22" name="Text 19"/>
          <p:cNvSpPr/>
          <p:nvPr/>
        </p:nvSpPr>
        <p:spPr>
          <a:xfrm>
            <a:off x="5471160" y="4366895"/>
            <a:ext cx="469265" cy="469265"/>
          </a:xfrm>
          <a:prstGeom prst="rect">
            <a:avLst/>
          </a:prstGeom>
          <a:noFill/>
        </p:spPr>
        <p:txBody>
          <a:bodyPr wrap="square" lIns="45720" tIns="91440" rIns="91440" bIns="45720" rtlCol="0" anchor="ctr"/>
          <a:lstStyle/>
          <a:p>
            <a:pPr>
              <a:lnSpc>
                <a:spcPct val="100000"/>
              </a:lnSpc>
            </a:pPr>
            <a:endParaRPr lang="en-US" sz="1600" dirty="0"/>
          </a:p>
        </p:txBody>
      </p:sp>
      <p:sp>
        <p:nvSpPr>
          <p:cNvPr id="23" name="Text 20"/>
          <p:cNvSpPr/>
          <p:nvPr/>
        </p:nvSpPr>
        <p:spPr>
          <a:xfrm>
            <a:off x="5490845" y="4404995"/>
            <a:ext cx="513080" cy="431165"/>
          </a:xfrm>
          <a:prstGeom prst="rect">
            <a:avLst/>
          </a:prstGeom>
          <a:noFill/>
        </p:spPr>
        <p:txBody>
          <a:bodyPr wrap="square" lIns="91440" tIns="45720" rIns="91440" bIns="45720" rtlCol="0" anchor="ctr"/>
          <a:lstStyle/>
          <a:p>
            <a:pPr>
              <a:lnSpc>
                <a:spcPct val="100000"/>
              </a:lnSpc>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04</a:t>
            </a:r>
            <a:endParaRPr lang="en-US" sz="1600" dirty="0"/>
          </a:p>
        </p:txBody>
      </p:sp>
      <p:sp>
        <p:nvSpPr>
          <p:cNvPr id="24" name="Shape 21"/>
          <p:cNvSpPr/>
          <p:nvPr/>
        </p:nvSpPr>
        <p:spPr>
          <a:xfrm rot="13620000">
            <a:off x="1092835" y="1878330"/>
            <a:ext cx="3207385" cy="3219450"/>
          </a:xfrm>
          <a:prstGeom prst="ellipse">
            <a:avLst/>
          </a:prstGeom>
        </p:spPr>
        <p:style>
          <a:lnRef idx="3">
            <a:schemeClr val="accent1"/>
          </a:lnRef>
          <a:fillRef idx="0">
            <a:srgbClr val="FFFFFF"/>
          </a:fillRef>
          <a:effectRef idx="0">
            <a:srgbClr val="FFFFFF"/>
          </a:effectRef>
          <a:fontRef idx="minor">
            <a:schemeClr val="tx1"/>
          </a:fontRef>
        </p:style>
      </p:sp>
      <p:sp>
        <p:nvSpPr>
          <p:cNvPr id="25" name="Text 22"/>
          <p:cNvSpPr/>
          <p:nvPr/>
        </p:nvSpPr>
        <p:spPr>
          <a:xfrm rot="13620000">
            <a:off x="1092835" y="1878330"/>
            <a:ext cx="3207385" cy="3219450"/>
          </a:xfrm>
          <a:prstGeom prst="rect">
            <a:avLst/>
          </a:prstGeom>
          <a:noFill/>
        </p:spPr>
        <p:txBody>
          <a:bodyPr wrap="square" lIns="45720" tIns="91440" rIns="91440" bIns="45720" rtlCol="0" anchor="ctr"/>
          <a:lstStyle/>
          <a:p>
            <a:pPr>
              <a:lnSpc>
                <a:spcPct val="100000"/>
              </a:lnSpc>
            </a:pPr>
            <a:endParaRPr lang="en-US" sz="1600" dirty="0"/>
          </a:p>
        </p:txBody>
      </p:sp>
      <p:sp>
        <p:nvSpPr>
          <p:cNvPr id="26" name="Text 23"/>
          <p:cNvSpPr/>
          <p:nvPr/>
        </p:nvSpPr>
        <p:spPr>
          <a:xfrm>
            <a:off x="560705" y="2338705"/>
            <a:ext cx="2174240" cy="975995"/>
          </a:xfrm>
          <a:prstGeom prst="rect">
            <a:avLst/>
          </a:prstGeom>
          <a:noFill/>
        </p:spPr>
        <p:txBody>
          <a:bodyPr wrap="square" lIns="91440" tIns="45720" rIns="91440" bIns="45720" rtlCol="0" anchor="t"/>
          <a:lstStyle/>
          <a:p>
            <a:pPr>
              <a:lnSpc>
                <a:spcPct val="100000"/>
              </a:lnSpc>
            </a:pPr>
            <a:r>
              <a:rPr lang="en-US" sz="1800" dirty="0">
                <a:solidFill>
                  <a:srgbClr val="000000"/>
                </a:solidFill>
                <a:latin typeface="Arial" panose="020B0604020202020204" pitchFamily="34" charset="0"/>
                <a:ea typeface="Arial" panose="020B0604020202020204" pitchFamily="34" charset="-122"/>
                <a:cs typeface="Arial" panose="020B0604020202020204" pitchFamily="34" charset="-120"/>
              </a:rPr>
              <a:t> </a:t>
            </a:r>
            <a:endParaRPr lang="en-US" sz="1600" dirty="0"/>
          </a:p>
        </p:txBody>
      </p:sp>
      <p:sp>
        <p:nvSpPr>
          <p:cNvPr id="27" name="Text 24"/>
          <p:cNvSpPr/>
          <p:nvPr/>
        </p:nvSpPr>
        <p:spPr>
          <a:xfrm>
            <a:off x="5057140" y="5547995"/>
            <a:ext cx="1031875" cy="823595"/>
          </a:xfrm>
          <a:prstGeom prst="rect">
            <a:avLst/>
          </a:prstGeom>
          <a:noFill/>
        </p:spPr>
        <p:txBody>
          <a:bodyPr wrap="square" lIns="91440" tIns="45720" rIns="91440" bIns="45720" rtlCol="0" anchor="t"/>
          <a:lstStyle/>
          <a:p>
            <a:pPr>
              <a:lnSpc>
                <a:spcPct val="100000"/>
              </a:lnSpc>
            </a:pPr>
            <a:r>
              <a:rPr lang="en-US" sz="2400" b="1" dirty="0">
                <a:solidFill>
                  <a:srgbClr val="FFFFFF"/>
                </a:solidFill>
                <a:latin typeface="MiSans" panose="00000500000000000000" pitchFamily="34" charset="-122"/>
                <a:ea typeface="MiSans" panose="00000500000000000000" pitchFamily="34" charset="-122"/>
                <a:cs typeface="MiSans" panose="00000500000000000000" pitchFamily="34" charset="-120"/>
              </a:rPr>
              <a:t>2</a:t>
            </a:r>
            <a:endParaRPr lang="en-US" sz="1600" dirty="0"/>
          </a:p>
        </p:txBody>
      </p:sp>
      <p:sp>
        <p:nvSpPr>
          <p:cNvPr id="28" name="Shape 25"/>
          <p:cNvSpPr/>
          <p:nvPr/>
        </p:nvSpPr>
        <p:spPr>
          <a:xfrm>
            <a:off x="4876800" y="5490210"/>
            <a:ext cx="4559935" cy="633730"/>
          </a:xfrm>
          <a:prstGeom prst="roundRect">
            <a:avLst>
              <a:gd name="adj" fmla="val 50000"/>
            </a:avLst>
          </a:prstGeom>
          <a:gradFill flip="none" rotWithShape="1">
            <a:gsLst>
              <a:gs pos="0">
                <a:srgbClr val="FFFFFF"/>
              </a:gs>
              <a:gs pos="2000">
                <a:srgbClr val="FFFFFF"/>
              </a:gs>
              <a:gs pos="55000">
                <a:srgbClr val="FFFFFF">
                  <a:alpha val="27000"/>
                </a:srgbClr>
              </a:gs>
              <a:gs pos="100000">
                <a:srgbClr val="FFFFFF"/>
              </a:gs>
            </a:gsLst>
            <a:lin ang="2700000" scaled="1"/>
          </a:gradFill>
          <a:ln w="19050">
            <a:solidFill>
              <a:srgbClr val="FFFFFF"/>
            </a:solidFill>
            <a:prstDash val="solid"/>
          </a:ln>
          <a:effectLst>
            <a:outerShdw blurRad="203200" dist="63500" dir="2700000" algn="bl" rotWithShape="0">
              <a:srgbClr val="6389D3">
                <a:alpha val="58039"/>
              </a:srgbClr>
            </a:outerShdw>
          </a:effectLst>
        </p:spPr>
      </p:sp>
      <p:sp>
        <p:nvSpPr>
          <p:cNvPr id="29" name="Text 26"/>
          <p:cNvSpPr/>
          <p:nvPr/>
        </p:nvSpPr>
        <p:spPr>
          <a:xfrm>
            <a:off x="4876800" y="5490210"/>
            <a:ext cx="4559935" cy="633730"/>
          </a:xfrm>
          <a:prstGeom prst="rect">
            <a:avLst/>
          </a:prstGeom>
          <a:noFill/>
        </p:spPr>
        <p:txBody>
          <a:bodyPr wrap="square" lIns="45720" tIns="91440" rIns="91440" bIns="45720" rtlCol="0" anchor="ctr"/>
          <a:lstStyle/>
          <a:p>
            <a:pPr>
              <a:lnSpc>
                <a:spcPct val="100000"/>
              </a:lnSpc>
            </a:pPr>
            <a:endParaRPr lang="en-US" sz="1600" dirty="0"/>
          </a:p>
        </p:txBody>
      </p:sp>
      <p:sp>
        <p:nvSpPr>
          <p:cNvPr id="30" name="Shape 27"/>
          <p:cNvSpPr/>
          <p:nvPr/>
        </p:nvSpPr>
        <p:spPr>
          <a:xfrm>
            <a:off x="4981575" y="5579110"/>
            <a:ext cx="469265" cy="469265"/>
          </a:xfrm>
          <a:prstGeom prst="ellipse">
            <a:avLst/>
          </a:prstGeom>
          <a:gradFill flip="none" rotWithShape="1">
            <a:gsLst>
              <a:gs pos="0">
                <a:srgbClr val="D1DCF2">
                  <a:alpha val="84000"/>
                </a:srgbClr>
              </a:gs>
              <a:gs pos="2000">
                <a:srgbClr val="D1DCF2">
                  <a:alpha val="84000"/>
                </a:srgbClr>
              </a:gs>
              <a:gs pos="55000">
                <a:srgbClr val="4874CB">
                  <a:alpha val="69000"/>
                </a:srgbClr>
              </a:gs>
              <a:gs pos="100000">
                <a:srgbClr val="345FB6"/>
              </a:gs>
            </a:gsLst>
            <a:path path="circle">
              <a:fillToRect r="100000" b="100000"/>
            </a:path>
            <a:tileRect l="-100000" t="-100000"/>
          </a:gradFill>
        </p:spPr>
      </p:sp>
      <p:sp>
        <p:nvSpPr>
          <p:cNvPr id="31" name="Text 28"/>
          <p:cNvSpPr/>
          <p:nvPr/>
        </p:nvSpPr>
        <p:spPr>
          <a:xfrm>
            <a:off x="4981575" y="5579110"/>
            <a:ext cx="469265" cy="469265"/>
          </a:xfrm>
          <a:prstGeom prst="rect">
            <a:avLst/>
          </a:prstGeom>
          <a:noFill/>
        </p:spPr>
        <p:txBody>
          <a:bodyPr wrap="square" lIns="45720" tIns="91440" rIns="91440" bIns="45720" rtlCol="0" anchor="ctr"/>
          <a:lstStyle/>
          <a:p>
            <a:pPr>
              <a:lnSpc>
                <a:spcPct val="100000"/>
              </a:lnSpc>
            </a:pPr>
            <a:endParaRPr lang="en-US" sz="1600" dirty="0"/>
          </a:p>
        </p:txBody>
      </p:sp>
      <p:sp>
        <p:nvSpPr>
          <p:cNvPr id="32" name="Text 29"/>
          <p:cNvSpPr/>
          <p:nvPr/>
        </p:nvSpPr>
        <p:spPr>
          <a:xfrm>
            <a:off x="4980305" y="5610225"/>
            <a:ext cx="513080" cy="431165"/>
          </a:xfrm>
          <a:prstGeom prst="rect">
            <a:avLst/>
          </a:prstGeom>
          <a:noFill/>
        </p:spPr>
        <p:txBody>
          <a:bodyPr wrap="square" lIns="91440" tIns="45720" rIns="91440" bIns="45720" rtlCol="0" anchor="ctr"/>
          <a:lstStyle/>
          <a:p>
            <a:pPr>
              <a:lnSpc>
                <a:spcPct val="100000"/>
              </a:lnSpc>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05</a:t>
            </a:r>
            <a:endParaRPr lang="en-US" sz="1600" dirty="0"/>
          </a:p>
        </p:txBody>
      </p:sp>
      <p:sp>
        <p:nvSpPr>
          <p:cNvPr id="33" name="Text 30"/>
          <p:cNvSpPr/>
          <p:nvPr/>
        </p:nvSpPr>
        <p:spPr>
          <a:xfrm>
            <a:off x="1555115" y="2779395"/>
            <a:ext cx="2174240" cy="975995"/>
          </a:xfrm>
          <a:prstGeom prst="rect">
            <a:avLst/>
          </a:prstGeom>
          <a:noFill/>
        </p:spPr>
        <p:txBody>
          <a:bodyPr wrap="square" lIns="91440" tIns="45720" rIns="91440" bIns="45720" rtlCol="0" anchor="ctr"/>
          <a:lstStyle/>
          <a:p>
            <a:pPr algn="ctr">
              <a:lnSpc>
                <a:spcPct val="100000"/>
              </a:lnSpc>
            </a:pPr>
            <a:r>
              <a:rPr lang="en-US" sz="6600" b="1" dirty="0">
                <a:solidFill>
                  <a:srgbClr val="FFFFFF"/>
                </a:solidFill>
                <a:latin typeface="MiSans" panose="00000500000000000000" pitchFamily="34" charset="-122"/>
                <a:ea typeface="MiSans" panose="00000500000000000000" pitchFamily="34" charset="-122"/>
                <a:cs typeface="MiSans" panose="00000500000000000000" pitchFamily="34" charset="-120"/>
              </a:rPr>
              <a:t>目录</a:t>
            </a:r>
            <a:endParaRPr lang="en-US" sz="1600" dirty="0"/>
          </a:p>
        </p:txBody>
      </p:sp>
      <p:sp>
        <p:nvSpPr>
          <p:cNvPr id="34" name="Text 31"/>
          <p:cNvSpPr/>
          <p:nvPr/>
        </p:nvSpPr>
        <p:spPr>
          <a:xfrm>
            <a:off x="1548765" y="3736340"/>
            <a:ext cx="2359660" cy="466090"/>
          </a:xfrm>
          <a:prstGeom prst="rect">
            <a:avLst/>
          </a:prstGeom>
          <a:noFill/>
        </p:spPr>
        <p:txBody>
          <a:bodyPr wrap="square" lIns="91440" tIns="45720" rIns="91440" bIns="45720" rtlCol="0" anchor="t"/>
          <a:lstStyle/>
          <a:p>
            <a:pPr algn="ctr">
              <a:lnSpc>
                <a:spcPct val="100000"/>
              </a:lnSpc>
            </a:pPr>
            <a:r>
              <a:rPr lang="en-US" sz="2400" b="1" dirty="0">
                <a:solidFill>
                  <a:srgbClr val="FFFFFF"/>
                </a:solidFill>
                <a:latin typeface="Arial" panose="020B0604020202020204" pitchFamily="34" charset="0"/>
                <a:ea typeface="Arial" panose="020B0604020202020204" pitchFamily="34" charset="-122"/>
                <a:cs typeface="Arial" panose="020B0604020202020204" pitchFamily="34" charset="-120"/>
              </a:rPr>
              <a:t>CONTENTS</a:t>
            </a:r>
            <a:endParaRPr lang="en-US" sz="1600" dirty="0"/>
          </a:p>
        </p:txBody>
      </p:sp>
      <p:sp>
        <p:nvSpPr>
          <p:cNvPr id="35" name="Shape 32"/>
          <p:cNvSpPr/>
          <p:nvPr/>
        </p:nvSpPr>
        <p:spPr>
          <a:xfrm rot="14760000">
            <a:off x="1065530" y="5008245"/>
            <a:ext cx="215900" cy="215900"/>
          </a:xfrm>
          <a:prstGeom prst="ellipse">
            <a:avLst/>
          </a:prstGeom>
          <a:gradFill flip="none" rotWithShape="1">
            <a:gsLst>
              <a:gs pos="0">
                <a:srgbClr val="D1DCF2">
                  <a:alpha val="14000"/>
                </a:srgbClr>
              </a:gs>
              <a:gs pos="22000">
                <a:srgbClr val="B3CBF9"/>
              </a:gs>
              <a:gs pos="45000">
                <a:srgbClr val="94B9FF"/>
              </a:gs>
              <a:gs pos="66000">
                <a:srgbClr val="94B9FF"/>
              </a:gs>
              <a:gs pos="100000">
                <a:srgbClr val="94B9FF"/>
              </a:gs>
            </a:gsLst>
            <a:lin ang="5400000" scaled="1"/>
          </a:gradFill>
        </p:spPr>
      </p:sp>
      <p:sp>
        <p:nvSpPr>
          <p:cNvPr id="36" name="Text 33"/>
          <p:cNvSpPr/>
          <p:nvPr/>
        </p:nvSpPr>
        <p:spPr>
          <a:xfrm rot="14760000">
            <a:off x="1065530" y="5008245"/>
            <a:ext cx="215900" cy="215900"/>
          </a:xfrm>
          <a:prstGeom prst="rect">
            <a:avLst/>
          </a:prstGeom>
          <a:noFill/>
        </p:spPr>
        <p:txBody>
          <a:bodyPr wrap="square" lIns="45720" tIns="91440" rIns="91440" bIns="45720" rtlCol="0" anchor="ctr"/>
          <a:lstStyle/>
          <a:p>
            <a:pPr>
              <a:lnSpc>
                <a:spcPct val="100000"/>
              </a:lnSpc>
            </a:pPr>
            <a:endParaRPr lang="en-US" sz="1600" dirty="0"/>
          </a:p>
        </p:txBody>
      </p:sp>
      <p:pic>
        <p:nvPicPr>
          <p:cNvPr id="37" name="Image 1" descr="https://kimi-img.moonshot.cn/pub/slides/slides_tmpl/image/25-09-04-14:54:55-d2sjffu1bb2p4onbpvm0.png"/>
          <p:cNvPicPr>
            <a:picLocks noChangeAspect="1"/>
          </p:cNvPicPr>
          <p:nvPr/>
        </p:nvPicPr>
        <p:blipFill>
          <a:blip r:embed="rId3">
            <a:alphaModFix amt="37000"/>
          </a:blip>
          <a:srcRect t="65733" r="67587" b="5067"/>
          <a:stretch>
            <a:fillRect/>
          </a:stretch>
        </p:blipFill>
        <p:spPr>
          <a:xfrm>
            <a:off x="1031240" y="2090420"/>
            <a:ext cx="589280" cy="556895"/>
          </a:xfrm>
          <a:prstGeom prst="rect">
            <a:avLst/>
          </a:prstGeom>
        </p:spPr>
      </p:pic>
      <p:sp>
        <p:nvSpPr>
          <p:cNvPr id="38" name="Shape 34"/>
          <p:cNvSpPr/>
          <p:nvPr/>
        </p:nvSpPr>
        <p:spPr>
          <a:xfrm rot="14760000">
            <a:off x="3753485" y="1815465"/>
            <a:ext cx="149225" cy="149225"/>
          </a:xfrm>
          <a:prstGeom prst="ellipse">
            <a:avLst/>
          </a:prstGeom>
          <a:gradFill flip="none" rotWithShape="1">
            <a:gsLst>
              <a:gs pos="0">
                <a:srgbClr val="D1DCF2">
                  <a:alpha val="14000"/>
                </a:srgbClr>
              </a:gs>
              <a:gs pos="22000">
                <a:srgbClr val="B3CBF9"/>
              </a:gs>
              <a:gs pos="45000">
                <a:srgbClr val="94B9FF"/>
              </a:gs>
              <a:gs pos="66000">
                <a:srgbClr val="94B9FF"/>
              </a:gs>
              <a:gs pos="100000">
                <a:srgbClr val="94B9FF"/>
              </a:gs>
            </a:gsLst>
            <a:lin ang="5400000" scaled="1"/>
          </a:gradFill>
        </p:spPr>
      </p:sp>
      <p:sp>
        <p:nvSpPr>
          <p:cNvPr id="39" name="Text 35"/>
          <p:cNvSpPr/>
          <p:nvPr/>
        </p:nvSpPr>
        <p:spPr>
          <a:xfrm rot="14760000">
            <a:off x="3753485" y="1815465"/>
            <a:ext cx="149225" cy="149225"/>
          </a:xfrm>
          <a:prstGeom prst="rect">
            <a:avLst/>
          </a:prstGeom>
          <a:noFill/>
        </p:spPr>
        <p:txBody>
          <a:bodyPr wrap="square" lIns="45720" tIns="91440" rIns="91440" bIns="45720" rtlCol="0" anchor="ctr"/>
          <a:lstStyle/>
          <a:p>
            <a:pPr>
              <a:lnSpc>
                <a:spcPct val="100000"/>
              </a:lnSpc>
            </a:pPr>
            <a:endParaRPr lang="en-US" sz="1600" dirty="0"/>
          </a:p>
        </p:txBody>
      </p:sp>
      <p:sp>
        <p:nvSpPr>
          <p:cNvPr id="40" name="Shape 36"/>
          <p:cNvSpPr/>
          <p:nvPr/>
        </p:nvSpPr>
        <p:spPr>
          <a:xfrm rot="18060000">
            <a:off x="10944860" y="1118870"/>
            <a:ext cx="219710" cy="219710"/>
          </a:xfrm>
          <a:prstGeom prst="ellipse">
            <a:avLst/>
          </a:prstGeom>
          <a:gradFill flip="none" rotWithShape="1">
            <a:gsLst>
              <a:gs pos="0">
                <a:srgbClr val="D1DCF2">
                  <a:alpha val="14000"/>
                </a:srgbClr>
              </a:gs>
              <a:gs pos="22000">
                <a:srgbClr val="B3CBF9">
                  <a:alpha val="81000"/>
                </a:srgbClr>
              </a:gs>
              <a:gs pos="45000">
                <a:srgbClr val="94B9FF">
                  <a:alpha val="80000"/>
                </a:srgbClr>
              </a:gs>
              <a:gs pos="66000">
                <a:srgbClr val="94B9FF">
                  <a:alpha val="94000"/>
                </a:srgbClr>
              </a:gs>
              <a:gs pos="100000">
                <a:srgbClr val="94B9FF">
                  <a:alpha val="94000"/>
                </a:srgbClr>
              </a:gs>
            </a:gsLst>
            <a:lin ang="5400000" scaled="1"/>
          </a:gradFill>
        </p:spPr>
      </p:sp>
      <p:sp>
        <p:nvSpPr>
          <p:cNvPr id="41" name="Text 37"/>
          <p:cNvSpPr/>
          <p:nvPr/>
        </p:nvSpPr>
        <p:spPr>
          <a:xfrm rot="18060000">
            <a:off x="10944860" y="1118870"/>
            <a:ext cx="219710" cy="219710"/>
          </a:xfrm>
          <a:prstGeom prst="rect">
            <a:avLst/>
          </a:prstGeom>
          <a:noFill/>
        </p:spPr>
        <p:txBody>
          <a:bodyPr wrap="square" lIns="45720" tIns="91440" rIns="91440" bIns="45720" rtlCol="0" anchor="ctr"/>
          <a:lstStyle/>
          <a:p>
            <a:pPr>
              <a:lnSpc>
                <a:spcPct val="100000"/>
              </a:lnSpc>
            </a:pPr>
            <a:endParaRPr lang="en-US" sz="1600" dirty="0"/>
          </a:p>
        </p:txBody>
      </p:sp>
      <p:sp>
        <p:nvSpPr>
          <p:cNvPr id="42" name="Text 38"/>
          <p:cNvSpPr/>
          <p:nvPr/>
        </p:nvSpPr>
        <p:spPr>
          <a:xfrm>
            <a:off x="5450840" y="855345"/>
            <a:ext cx="4092575" cy="524510"/>
          </a:xfrm>
          <a:prstGeom prst="rect">
            <a:avLst/>
          </a:prstGeom>
          <a:noFill/>
        </p:spPr>
        <p:txBody>
          <a:bodyPr wrap="square" lIns="91440" tIns="45720" rIns="91440" bIns="45720" rtlCol="0" anchor="t"/>
          <a:lstStyle/>
          <a:p>
            <a:pPr>
              <a:lnSpc>
                <a:spcPct val="100000"/>
              </a:lnSpc>
            </a:pPr>
            <a:r>
              <a:rPr 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项目全景速览</a:t>
            </a:r>
            <a:endParaRPr lang="en-US" sz="1600" dirty="0"/>
          </a:p>
        </p:txBody>
      </p:sp>
      <p:sp>
        <p:nvSpPr>
          <p:cNvPr id="43" name="Text 39"/>
          <p:cNvSpPr/>
          <p:nvPr/>
        </p:nvSpPr>
        <p:spPr>
          <a:xfrm>
            <a:off x="5955665" y="2038985"/>
            <a:ext cx="4092575" cy="480060"/>
          </a:xfrm>
          <a:prstGeom prst="rect">
            <a:avLst/>
          </a:prstGeom>
          <a:noFill/>
        </p:spPr>
        <p:txBody>
          <a:bodyPr wrap="square" lIns="91440" tIns="45720" rIns="91440" bIns="45720" rtlCol="0" anchor="t"/>
          <a:lstStyle/>
          <a:p>
            <a:pPr>
              <a:lnSpc>
                <a:spcPct val="100000"/>
              </a:lnSpc>
            </a:pPr>
            <a:r>
              <a:rPr 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架构与数据模型</a:t>
            </a:r>
            <a:endParaRPr lang="en-US" sz="1600" dirty="0"/>
          </a:p>
        </p:txBody>
      </p:sp>
      <p:sp>
        <p:nvSpPr>
          <p:cNvPr id="44" name="Text 40"/>
          <p:cNvSpPr/>
          <p:nvPr/>
        </p:nvSpPr>
        <p:spPr>
          <a:xfrm>
            <a:off x="6294755" y="3228340"/>
            <a:ext cx="3766185" cy="459105"/>
          </a:xfrm>
          <a:prstGeom prst="rect">
            <a:avLst/>
          </a:prstGeom>
          <a:noFill/>
        </p:spPr>
        <p:txBody>
          <a:bodyPr wrap="square" lIns="91440" tIns="45720" rIns="91440" bIns="45720" rtlCol="0" anchor="t"/>
          <a:lstStyle/>
          <a:p>
            <a:pPr>
              <a:lnSpc>
                <a:spcPct val="100000"/>
              </a:lnSpc>
            </a:pPr>
            <a:r>
              <a:rPr 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核心技术实现</a:t>
            </a:r>
            <a:endParaRPr lang="en-US" sz="1600" dirty="0"/>
          </a:p>
        </p:txBody>
      </p:sp>
      <p:sp>
        <p:nvSpPr>
          <p:cNvPr id="45" name="Text 41"/>
          <p:cNvSpPr/>
          <p:nvPr/>
        </p:nvSpPr>
        <p:spPr>
          <a:xfrm>
            <a:off x="5940425" y="4417695"/>
            <a:ext cx="4092575" cy="524510"/>
          </a:xfrm>
          <a:prstGeom prst="rect">
            <a:avLst/>
          </a:prstGeom>
          <a:noFill/>
        </p:spPr>
        <p:txBody>
          <a:bodyPr wrap="square" lIns="91440" tIns="45720" rIns="91440" bIns="45720" rtlCol="0" anchor="t"/>
          <a:lstStyle/>
          <a:p>
            <a:pPr>
              <a:lnSpc>
                <a:spcPct val="100000"/>
              </a:lnSpc>
            </a:pPr>
            <a:r>
              <a:rPr 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前端交互与功能模块化</a:t>
            </a:r>
            <a:endParaRPr lang="en-US" sz="1600" dirty="0"/>
          </a:p>
        </p:txBody>
      </p:sp>
      <p:sp>
        <p:nvSpPr>
          <p:cNvPr id="46" name="Text 42"/>
          <p:cNvSpPr/>
          <p:nvPr/>
        </p:nvSpPr>
        <p:spPr>
          <a:xfrm>
            <a:off x="5450840" y="5629910"/>
            <a:ext cx="4092575" cy="480060"/>
          </a:xfrm>
          <a:prstGeom prst="rect">
            <a:avLst/>
          </a:prstGeom>
          <a:noFill/>
        </p:spPr>
        <p:txBody>
          <a:bodyPr wrap="square" lIns="91440" tIns="45720" rIns="91440" bIns="45720" rtlCol="0" anchor="t"/>
          <a:lstStyle/>
          <a:p>
            <a:pPr>
              <a:lnSpc>
                <a:spcPct val="100000"/>
              </a:lnSpc>
            </a:pPr>
            <a:r>
              <a:rPr lang="zh-CN" altLang="en-US" sz="2000" b="1" dirty="0">
                <a:latin typeface="MiSans" panose="00000500000000000000" pitchFamily="34" charset="-122"/>
                <a:ea typeface="MiSans" panose="00000500000000000000" pitchFamily="34" charset="-122"/>
              </a:rPr>
              <a:t>总结与展望</a:t>
            </a:r>
            <a:endParaRPr lang="zh-CN" altLang="en-US" sz="2000" b="1" dirty="0">
              <a:latin typeface="MiSans" panose="00000500000000000000" pitchFamily="34" charset="-122"/>
              <a:ea typeface="MiSans" panose="00000500000000000000" pitchFamily="34" charset="-122"/>
            </a:endParaRPr>
          </a:p>
        </p:txBody>
      </p:sp>
      <p:pic>
        <p:nvPicPr>
          <p:cNvPr id="94" name="图片 9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6055" y="80010"/>
            <a:ext cx="3030220" cy="88709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000" fill="hold">
                                          <p:stCondLst>
                                            <p:cond delay="0"/>
                                          </p:stCondLst>
                                        </p:cTn>
                                        <p:tgtEl>
                                          <p:spTgt spid="94"/>
                                        </p:tgtEl>
                                        <p:attrNameLst>
                                          <p:attrName>style.visibility</p:attrName>
                                        </p:attrNameLst>
                                      </p:cBhvr>
                                      <p:to>
                                        <p:strVal val="visible"/>
                                      </p:to>
                                    </p:set>
                                    <p:animEffect transition="in" filter="fade">
                                      <p:cBhvr>
                                        <p:cTn id="7"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C:\Users\dell\Desktop\余若冰\校庆ppt\20200130CSU标志建筑风景\20200130CSU标志建筑风景\本部\图书馆.jpg图书馆"/>
          <p:cNvPicPr>
            <a:picLocks noChangeAspect="1"/>
          </p:cNvPicPr>
          <p:nvPr/>
        </p:nvPicPr>
        <p:blipFill>
          <a:blip r:embed="rId1"/>
          <a:srcRect/>
          <a:stretch>
            <a:fillRect/>
          </a:stretch>
        </p:blipFill>
        <p:spPr>
          <a:xfrm>
            <a:off x="17181" y="1666879"/>
            <a:ext cx="5373370" cy="3604895"/>
          </a:xfrm>
          <a:prstGeom prst="rect">
            <a:avLst/>
          </a:prstGeom>
        </p:spPr>
      </p:pic>
      <p:sp>
        <p:nvSpPr>
          <p:cNvPr id="19" name="矩形 18"/>
          <p:cNvSpPr/>
          <p:nvPr/>
        </p:nvSpPr>
        <p:spPr>
          <a:xfrm rot="5400000">
            <a:off x="6116955" y="-436880"/>
            <a:ext cx="2588895" cy="7813040"/>
          </a:xfrm>
          <a:prstGeom prst="rect">
            <a:avLst/>
          </a:prstGeom>
          <a:solidFill>
            <a:srgbClr val="76BCD2">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3819868" y="2733598"/>
            <a:ext cx="1314784" cy="1569660"/>
          </a:xfrm>
          <a:prstGeom prst="rect">
            <a:avLst/>
          </a:prstGeom>
        </p:spPr>
        <p:txBody>
          <a:bodyPr wrap="none">
            <a:spAutoFit/>
          </a:bodyPr>
          <a:lstStyle/>
          <a:p>
            <a:r>
              <a:rPr lang="en-US" altLang="zh-CN" sz="9600" dirty="0">
                <a:solidFill>
                  <a:prstClr val="white"/>
                </a:solidFill>
                <a:latin typeface="Impact" panose="020B0806030902050204" pitchFamily="34" charset="0"/>
                <a:ea typeface="微软雅黑" panose="020B0503020204020204" charset="-122"/>
                <a:cs typeface="Gisha" panose="020B0502040204020203" pitchFamily="34" charset="-79"/>
              </a:rPr>
              <a:t>01</a:t>
            </a:r>
            <a:endParaRPr lang="zh-CN" altLang="en-US" sz="9600" dirty="0">
              <a:solidFill>
                <a:prstClr val="white"/>
              </a:solidFill>
            </a:endParaRPr>
          </a:p>
        </p:txBody>
      </p:sp>
      <p:sp>
        <p:nvSpPr>
          <p:cNvPr id="21" name="TextBox 62"/>
          <p:cNvSpPr txBox="1"/>
          <p:nvPr/>
        </p:nvSpPr>
        <p:spPr>
          <a:xfrm>
            <a:off x="5792470" y="3592195"/>
            <a:ext cx="5011420" cy="975995"/>
          </a:xfrm>
          <a:prstGeom prst="rect">
            <a:avLst/>
          </a:prstGeom>
          <a:noFill/>
          <a:effectLst/>
        </p:spPr>
        <p:txBody>
          <a:bodyPr wrap="square" rtlCol="0">
            <a:spAutoFit/>
          </a:bodyPr>
          <a:lstStyle/>
          <a:p>
            <a:pPr>
              <a:lnSpc>
                <a:spcPct val="120000"/>
              </a:lnSpc>
            </a:pPr>
            <a:r>
              <a:rPr lang="zh-CN" altLang="en-US" sz="1200" dirty="0">
                <a:solidFill>
                  <a:prstClr val="white"/>
                </a:solidFill>
                <a:latin typeface="微软雅黑" panose="020B0503020204020204" charset="-122"/>
                <a:ea typeface="微软雅黑" panose="020B0503020204020204" charset="-122"/>
              </a:rPr>
              <a:t>本项目是一个图书管理系统，结合多数据库同步功能，旨在实现</a:t>
            </a:r>
            <a:r>
              <a:rPr lang="en-US" altLang="zh-CN" sz="1200" dirty="0">
                <a:solidFill>
                  <a:prstClr val="white"/>
                </a:solidFill>
                <a:latin typeface="微软雅黑" panose="020B0503020204020204" charset="-122"/>
                <a:ea typeface="微软雅黑" panose="020B0503020204020204" charset="-122"/>
              </a:rPr>
              <a:t>MySQL</a:t>
            </a:r>
            <a:r>
              <a:rPr lang="zh-CN" altLang="en-US" sz="1200" dirty="0">
                <a:solidFill>
                  <a:prstClr val="white"/>
                </a:solidFill>
                <a:latin typeface="微软雅黑" panose="020B0503020204020204" charset="-122"/>
                <a:ea typeface="微软雅黑" panose="020B0503020204020204" charset="-122"/>
              </a:rPr>
              <a:t>、</a:t>
            </a:r>
            <a:r>
              <a:rPr lang="en-US" altLang="zh-CN" sz="1200" dirty="0">
                <a:solidFill>
                  <a:prstClr val="white"/>
                </a:solidFill>
                <a:latin typeface="微软雅黑" panose="020B0503020204020204" charset="-122"/>
                <a:ea typeface="微软雅黑" panose="020B0503020204020204" charset="-122"/>
              </a:rPr>
              <a:t>PostgreSQL</a:t>
            </a:r>
            <a:r>
              <a:rPr lang="zh-CN" altLang="en-US" sz="1200" dirty="0">
                <a:solidFill>
                  <a:prstClr val="white"/>
                </a:solidFill>
                <a:latin typeface="微软雅黑" panose="020B0503020204020204" charset="-122"/>
                <a:ea typeface="微软雅黑" panose="020B0503020204020204" charset="-122"/>
              </a:rPr>
              <a:t>和</a:t>
            </a:r>
            <a:r>
              <a:rPr lang="en-US" altLang="zh-CN" sz="1200" dirty="0">
                <a:solidFill>
                  <a:prstClr val="white"/>
                </a:solidFill>
                <a:latin typeface="微软雅黑" panose="020B0503020204020204" charset="-122"/>
                <a:ea typeface="微软雅黑" panose="020B0503020204020204" charset="-122"/>
              </a:rPr>
              <a:t>SQL Server</a:t>
            </a:r>
            <a:r>
              <a:rPr lang="zh-CN" altLang="en-US" sz="1200" dirty="0">
                <a:solidFill>
                  <a:prstClr val="white"/>
                </a:solidFill>
                <a:latin typeface="微软雅黑" panose="020B0503020204020204" charset="-122"/>
                <a:ea typeface="微软雅黑" panose="020B0503020204020204" charset="-122"/>
              </a:rPr>
              <a:t>之间的数据实时同步，确保数据的一致性和完整性。</a:t>
            </a:r>
            <a:endParaRPr lang="zh-CN" altLang="en-US" sz="1200" dirty="0">
              <a:solidFill>
                <a:prstClr val="white"/>
              </a:solidFill>
              <a:latin typeface="微软雅黑" panose="020B0503020204020204" charset="-122"/>
              <a:ea typeface="微软雅黑" panose="020B0503020204020204" charset="-122"/>
            </a:endParaRPr>
          </a:p>
          <a:p>
            <a:pPr>
              <a:lnSpc>
                <a:spcPct val="120000"/>
              </a:lnSpc>
            </a:pPr>
            <a:endParaRPr lang="zh-CN" altLang="en-US" sz="1200" dirty="0">
              <a:solidFill>
                <a:prstClr val="white"/>
              </a:solidFill>
              <a:latin typeface="微软雅黑" panose="020B0503020204020204" charset="-122"/>
              <a:ea typeface="微软雅黑" panose="020B0503020204020204" charset="-122"/>
            </a:endParaRPr>
          </a:p>
        </p:txBody>
      </p:sp>
      <p:sp>
        <p:nvSpPr>
          <p:cNvPr id="22" name="矩形 21"/>
          <p:cNvSpPr/>
          <p:nvPr/>
        </p:nvSpPr>
        <p:spPr>
          <a:xfrm>
            <a:off x="6403261" y="2733712"/>
            <a:ext cx="4274439" cy="706755"/>
          </a:xfrm>
          <a:prstGeom prst="rect">
            <a:avLst/>
          </a:prstGeom>
        </p:spPr>
        <p:txBody>
          <a:bodyPr wrap="square">
            <a:spAutoFit/>
          </a:bodyPr>
          <a:lstStyle/>
          <a:p>
            <a:pPr defTabSz="685800">
              <a:defRPr/>
            </a:pP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项</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目</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全</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景</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速</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览</a:t>
            </a:r>
            <a:endPar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endParaRPr>
          </a:p>
        </p:txBody>
      </p:sp>
      <p:grpSp>
        <p:nvGrpSpPr>
          <p:cNvPr id="8" name="组合 7"/>
          <p:cNvGrpSpPr/>
          <p:nvPr/>
        </p:nvGrpSpPr>
        <p:grpSpPr>
          <a:xfrm>
            <a:off x="5691146" y="3339029"/>
            <a:ext cx="4887760" cy="262538"/>
            <a:chOff x="5444484" y="3347558"/>
            <a:chExt cx="4887760" cy="262538"/>
          </a:xfrm>
        </p:grpSpPr>
        <p:sp>
          <p:nvSpPr>
            <p:cNvPr id="9" name="任意多边形 8"/>
            <p:cNvSpPr/>
            <p:nvPr/>
          </p:nvSpPr>
          <p:spPr>
            <a:xfrm flipV="1">
              <a:off x="5545778" y="3347558"/>
              <a:ext cx="4786466" cy="178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5444484" y="3443844"/>
              <a:ext cx="166252" cy="1662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5" name="图片 24"/>
          <p:cNvPicPr>
            <a:picLocks noChangeAspect="1"/>
          </p:cNvPicPr>
          <p:nvPr/>
        </p:nvPicPr>
        <p:blipFill>
          <a:blip r:embed="rId2"/>
          <a:stretch>
            <a:fillRect/>
          </a:stretch>
        </p:blipFill>
        <p:spPr>
          <a:xfrm>
            <a:off x="3048000" y="4131310"/>
            <a:ext cx="9144000" cy="1295400"/>
          </a:xfrm>
          <a:prstGeom prst="rect">
            <a:avLst/>
          </a:prstGeom>
        </p:spPr>
      </p:pic>
    </p:spTree>
    <p:custDataLst>
      <p:tags r:id="rId3"/>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ipe(down)">
                                      <p:cBhvr>
                                        <p:cTn id="7" dur="1000"/>
                                        <p:tgtEl>
                                          <p:spTgt spid="7"/>
                                        </p:tgtEl>
                                      </p:cBhvr>
                                    </p:animEffect>
                                  </p:childTnLst>
                                </p:cTn>
                              </p:par>
                              <p:par>
                                <p:cTn id="8" presetID="22" presetClass="entr" presetSubtype="4" fill="hold" grpId="0" nodeType="withEffect">
                                  <p:stCondLst>
                                    <p:cond delay="0"/>
                                  </p:stCondLst>
                                  <p:childTnLst>
                                    <p:set>
                                      <p:cBhvr>
                                        <p:cTn id="9" dur="1000" fill="hold">
                                          <p:stCondLst>
                                            <p:cond delay="0"/>
                                          </p:stCondLst>
                                        </p:cTn>
                                        <p:tgtEl>
                                          <p:spTgt spid="19"/>
                                        </p:tgtEl>
                                        <p:attrNameLst>
                                          <p:attrName>style.visibility</p:attrName>
                                        </p:attrNameLst>
                                      </p:cBhvr>
                                      <p:to>
                                        <p:strVal val="visible"/>
                                      </p:to>
                                    </p:set>
                                    <p:animEffect transition="in" filter="wipe(down)">
                                      <p:cBhvr>
                                        <p:cTn id="10" dur="1000"/>
                                        <p:tgtEl>
                                          <p:spTgt spid="19"/>
                                        </p:tgtEl>
                                      </p:cBhvr>
                                    </p:animEffect>
                                  </p:childTnLst>
                                </p:cTn>
                              </p:par>
                              <p:par>
                                <p:cTn id="11" presetID="22" presetClass="entr" presetSubtype="4" fill="hold" grpId="0" nodeType="withEffect">
                                  <p:stCondLst>
                                    <p:cond delay="0"/>
                                  </p:stCondLst>
                                  <p:childTnLst>
                                    <p:set>
                                      <p:cBhvr>
                                        <p:cTn id="12" dur="1000" fill="hold">
                                          <p:stCondLst>
                                            <p:cond delay="0"/>
                                          </p:stCondLst>
                                        </p:cTn>
                                        <p:tgtEl>
                                          <p:spTgt spid="20"/>
                                        </p:tgtEl>
                                        <p:attrNameLst>
                                          <p:attrName>style.visibility</p:attrName>
                                        </p:attrNameLst>
                                      </p:cBhvr>
                                      <p:to>
                                        <p:strVal val="visible"/>
                                      </p:to>
                                    </p:set>
                                    <p:animEffect transition="in" filter="wipe(down)">
                                      <p:cBhvr>
                                        <p:cTn id="13" dur="1000"/>
                                        <p:tgtEl>
                                          <p:spTgt spid="20"/>
                                        </p:tgtEl>
                                      </p:cBhvr>
                                    </p:animEffect>
                                  </p:childTnLst>
                                </p:cTn>
                              </p:par>
                              <p:par>
                                <p:cTn id="14" presetID="22" presetClass="entr" presetSubtype="4" fill="hold" grpId="0" nodeType="withEffect">
                                  <p:stCondLst>
                                    <p:cond delay="0"/>
                                  </p:stCondLst>
                                  <p:childTnLst>
                                    <p:set>
                                      <p:cBhvr>
                                        <p:cTn id="15" dur="1000" fill="hold">
                                          <p:stCondLst>
                                            <p:cond delay="0"/>
                                          </p:stCondLst>
                                        </p:cTn>
                                        <p:tgtEl>
                                          <p:spTgt spid="22"/>
                                        </p:tgtEl>
                                        <p:attrNameLst>
                                          <p:attrName>style.visibility</p:attrName>
                                        </p:attrNameLst>
                                      </p:cBhvr>
                                      <p:to>
                                        <p:strVal val="visible"/>
                                      </p:to>
                                    </p:set>
                                    <p:animEffect transition="in" filter="wipe(down)">
                                      <p:cBhvr>
                                        <p:cTn id="16" dur="1000"/>
                                        <p:tgtEl>
                                          <p:spTgt spid="22"/>
                                        </p:tgtEl>
                                      </p:cBhvr>
                                    </p:animEffect>
                                  </p:childTnLst>
                                </p:cTn>
                              </p:par>
                              <p:par>
                                <p:cTn id="17" presetID="22" presetClass="entr" presetSubtype="4" fill="hold" grpId="0" nodeType="withEffect">
                                  <p:stCondLst>
                                    <p:cond delay="0"/>
                                  </p:stCondLst>
                                  <p:childTnLst>
                                    <p:set>
                                      <p:cBhvr>
                                        <p:cTn id="18" dur="1000" fill="hold">
                                          <p:stCondLst>
                                            <p:cond delay="0"/>
                                          </p:stCondLst>
                                        </p:cTn>
                                        <p:tgtEl>
                                          <p:spTgt spid="21"/>
                                        </p:tgtEl>
                                        <p:attrNameLst>
                                          <p:attrName>style.visibility</p:attrName>
                                        </p:attrNameLst>
                                      </p:cBhvr>
                                      <p:to>
                                        <p:strVal val="visible"/>
                                      </p:to>
                                    </p:set>
                                    <p:animEffect transition="in" filter="wipe(down)">
                                      <p:cBhvr>
                                        <p:cTn id="19" dur="1000"/>
                                        <p:tgtEl>
                                          <p:spTgt spid="21"/>
                                        </p:tgtEl>
                                      </p:cBhvr>
                                    </p:animEffect>
                                  </p:childTnLst>
                                </p:cTn>
                              </p:par>
                              <p:par>
                                <p:cTn id="20" presetID="22" presetClass="entr" presetSubtype="4" fill="hold" nodeType="withEffect">
                                  <p:stCondLst>
                                    <p:cond delay="0"/>
                                  </p:stCondLst>
                                  <p:childTnLst>
                                    <p:set>
                                      <p:cBhvr>
                                        <p:cTn id="21" dur="1000" fill="hold">
                                          <p:stCondLst>
                                            <p:cond delay="0"/>
                                          </p:stCondLst>
                                        </p:cTn>
                                        <p:tgtEl>
                                          <p:spTgt spid="8"/>
                                        </p:tgtEl>
                                        <p:attrNameLst>
                                          <p:attrName>style.visibility</p:attrName>
                                        </p:attrNameLst>
                                      </p:cBhvr>
                                      <p:to>
                                        <p:strVal val="visible"/>
                                      </p:to>
                                    </p:set>
                                    <p:animEffect transition="in" filter="wipe(down)">
                                      <p:cBhvr>
                                        <p:cTn id="22" dur="1000"/>
                                        <p:tgtEl>
                                          <p:spTgt spid="8"/>
                                        </p:tgtEl>
                                      </p:cBhvr>
                                    </p:animEffect>
                                  </p:childTnLst>
                                </p:cTn>
                              </p:par>
                              <p:par>
                                <p:cTn id="23" presetID="22" presetClass="entr" presetSubtype="4" fill="hold" nodeType="withEffect">
                                  <p:stCondLst>
                                    <p:cond delay="0"/>
                                  </p:stCondLst>
                                  <p:childTnLst>
                                    <p:set>
                                      <p:cBhvr>
                                        <p:cTn id="24" dur="1000" fill="hold">
                                          <p:stCondLst>
                                            <p:cond delay="0"/>
                                          </p:stCondLst>
                                        </p:cTn>
                                        <p:tgtEl>
                                          <p:spTgt spid="25"/>
                                        </p:tgtEl>
                                        <p:attrNameLst>
                                          <p:attrName>style.visibility</p:attrName>
                                        </p:attrNameLst>
                                      </p:cBhvr>
                                      <p:to>
                                        <p:strVal val="visible"/>
                                      </p:to>
                                    </p:set>
                                    <p:animEffect transition="in" filter="wipe(down)">
                                      <p:cBhvr>
                                        <p:cTn id="2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p:bldP spid="21" grpId="0" bldLvl="0" animBg="1"/>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5" name="图片占位符 10" descr="C:\Users\dell\Desktop\余若冰\校庆ppt\新建文件夹2\新建文件夹\本部.jpg本部"/>
          <p:cNvPicPr>
            <a:picLocks noGrp="1" noChangeAspect="1"/>
          </p:cNvPicPr>
          <p:nvPr/>
        </p:nvPicPr>
        <p:blipFill>
          <a:blip r:embed="rId1">
            <a:lum bright="12000" contrast="-6000"/>
          </a:blip>
          <a:srcRect t="42088" r="320" b="26851"/>
          <a:stretch>
            <a:fillRect/>
          </a:stretch>
        </p:blipFill>
        <p:spPr>
          <a:xfrm>
            <a:off x="0" y="0"/>
            <a:ext cx="12192000" cy="25146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pattFill prst="solidDmnd">
            <a:fgClr>
              <a:schemeClr val="bg1">
                <a:lumMod val="85000"/>
              </a:schemeClr>
            </a:fgClr>
            <a:bgClr>
              <a:schemeClr val="bg1"/>
            </a:bgClr>
          </a:pattFill>
        </p:spPr>
      </p:pic>
      <p:sp>
        <p:nvSpPr>
          <p:cNvPr id="2" name="Text 0"/>
          <p:cNvSpPr/>
          <p:nvPr/>
        </p:nvSpPr>
        <p:spPr>
          <a:xfrm>
            <a:off x="406400" y="499745"/>
            <a:ext cx="8239125" cy="552450"/>
          </a:xfrm>
          <a:prstGeom prst="rect">
            <a:avLst/>
          </a:prstGeom>
          <a:noFill/>
        </p:spPr>
        <p:txBody>
          <a:bodyPr wrap="square" lIns="91440" tIns="45720" rIns="91440" bIns="45720" rtlCol="0" anchor="t">
            <a:spAutoFit/>
          </a:bodyPr>
          <a:lstStyle/>
          <a:p>
            <a:pPr>
              <a:lnSpc>
                <a:spcPct val="100000"/>
              </a:lnSpc>
            </a:pPr>
            <a:r>
              <a:rPr lang="en-US" sz="3600" b="1" dirty="0">
                <a:solidFill>
                  <a:srgbClr val="FFFFFF"/>
                </a:solidFill>
                <a:latin typeface="MiSans" panose="00000500000000000000" pitchFamily="34" charset="-122"/>
                <a:ea typeface="MiSans" panose="00000500000000000000" pitchFamily="34" charset="-122"/>
                <a:cs typeface="MiSans" panose="00000500000000000000" pitchFamily="34" charset="-120"/>
              </a:rPr>
              <a:t>项目概述与技术亮点</a:t>
            </a:r>
            <a:endParaRPr lang="en-US" sz="1600" dirty="0"/>
          </a:p>
        </p:txBody>
      </p:sp>
      <p:sp>
        <p:nvSpPr>
          <p:cNvPr id="3" name="Shape 1"/>
          <p:cNvSpPr/>
          <p:nvPr/>
        </p:nvSpPr>
        <p:spPr>
          <a:xfrm flipH="1">
            <a:off x="536575" y="1445260"/>
            <a:ext cx="6555740" cy="0"/>
          </a:xfrm>
          <a:prstGeom prst="line">
            <a:avLst/>
          </a:prstGeom>
          <a:noFill/>
          <a:ln w="38100">
            <a:gradFill flip="none" rotWithShape="1">
              <a:gsLst>
                <a:gs pos="0">
                  <a:srgbClr val="FFFFFF"/>
                </a:gs>
                <a:gs pos="21000">
                  <a:srgbClr val="FFFFFF"/>
                </a:gs>
                <a:gs pos="100000">
                  <a:srgbClr val="FFFFFF">
                    <a:alpha val="0"/>
                  </a:srgbClr>
                </a:gs>
              </a:gsLst>
              <a:lin ang="10800000" scaled="1"/>
            </a:gradFill>
            <a:prstDash val="solid"/>
            <a:headEnd type="none"/>
            <a:tailEnd type="none"/>
          </a:ln>
        </p:spPr>
      </p:sp>
      <p:sp>
        <p:nvSpPr>
          <p:cNvPr id="6" name="Text 3"/>
          <p:cNvSpPr/>
          <p:nvPr/>
        </p:nvSpPr>
        <p:spPr>
          <a:xfrm rot="16200000">
            <a:off x="4979169" y="-5041132"/>
            <a:ext cx="2233658" cy="1219200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custDataLst>
              <p:tags r:id="rId2"/>
            </p:custDataLst>
          </p:nvPr>
        </p:nvSpPr>
        <p:spPr>
          <a:xfrm>
            <a:off x="572135" y="2610485"/>
            <a:ext cx="2385695" cy="4171315"/>
          </a:xfrm>
          <a:prstGeom prst="roundRect">
            <a:avLst>
              <a:gd name="adj" fmla="val 16667"/>
            </a:avLst>
          </a:prstGeom>
          <a:gradFill flip="none" rotWithShape="0">
            <a:gsLst>
              <a:gs pos="0">
                <a:srgbClr val="94B9FF">
                  <a:alpha val="27000"/>
                </a:srgbClr>
              </a:gs>
              <a:gs pos="8000">
                <a:srgbClr val="94B9FF">
                  <a:alpha val="27000"/>
                </a:srgbClr>
              </a:gs>
              <a:gs pos="37000">
                <a:srgbClr val="94B9FF">
                  <a:alpha val="3000"/>
                </a:srgbClr>
              </a:gs>
              <a:gs pos="65000">
                <a:srgbClr val="94B9FF">
                  <a:alpha val="18000"/>
                </a:srgbClr>
              </a:gs>
              <a:gs pos="98000">
                <a:srgbClr val="94B9FF">
                  <a:alpha val="51000"/>
                </a:srgbClr>
              </a:gs>
              <a:gs pos="100000">
                <a:srgbClr val="94B9FF">
                  <a:alpha val="51000"/>
                </a:srgbClr>
              </a:gs>
            </a:gsLst>
            <a:lin ang="17460000" scaled="1"/>
          </a:gradFill>
          <a:ln w="3175">
            <a:solidFill>
              <a:srgbClr val="376FFF">
                <a:alpha val="20000"/>
              </a:srgbClr>
            </a:solidFill>
            <a:prstDash val="solid"/>
          </a:ln>
          <a:effectLst>
            <a:outerShdw blurRad="508000" dist="50800" dir="2700000" algn="bl" rotWithShape="0">
              <a:srgbClr val="376FFF">
                <a:alpha val="20000"/>
              </a:srgbClr>
            </a:outerShdw>
          </a:effectLst>
        </p:spPr>
      </p:sp>
      <p:sp>
        <p:nvSpPr>
          <p:cNvPr id="8" name="Text 5"/>
          <p:cNvSpPr/>
          <p:nvPr/>
        </p:nvSpPr>
        <p:spPr>
          <a:xfrm>
            <a:off x="692785" y="2686685"/>
            <a:ext cx="2385695" cy="4171315"/>
          </a:xfrm>
          <a:prstGeom prst="rect">
            <a:avLst/>
          </a:prstGeom>
          <a:noFill/>
        </p:spPr>
        <p:txBody>
          <a:bodyPr wrap="square" lIns="45720" tIns="0" rIns="0" bIns="45720" rtlCol="0" anchor="ctr"/>
          <a:lstStyle/>
          <a:p>
            <a:pPr>
              <a:lnSpc>
                <a:spcPct val="100000"/>
              </a:lnSpc>
            </a:pPr>
            <a:endParaRPr lang="en-US" sz="1600" dirty="0"/>
          </a:p>
        </p:txBody>
      </p:sp>
      <p:sp>
        <p:nvSpPr>
          <p:cNvPr id="9" name="Shape 6"/>
          <p:cNvSpPr/>
          <p:nvPr>
            <p:custDataLst>
              <p:tags r:id="rId3"/>
            </p:custDataLst>
          </p:nvPr>
        </p:nvSpPr>
        <p:spPr>
          <a:xfrm>
            <a:off x="572135" y="2606675"/>
            <a:ext cx="2385695" cy="4175125"/>
          </a:xfrm>
          <a:prstGeom prst="roundRect">
            <a:avLst>
              <a:gd name="adj" fmla="val 16667"/>
            </a:avLst>
          </a:prstGeom>
          <a:solidFill>
            <a:schemeClr val="bg1"/>
          </a:solidFill>
          <a:ln w="3175">
            <a:solidFill>
              <a:schemeClr val="bg1">
                <a:alpha val="20000"/>
              </a:schemeClr>
            </a:solidFill>
            <a:prstDash val="solid"/>
          </a:ln>
        </p:spPr>
      </p:sp>
      <p:sp>
        <p:nvSpPr>
          <p:cNvPr id="10" name="Text 7"/>
          <p:cNvSpPr/>
          <p:nvPr/>
        </p:nvSpPr>
        <p:spPr>
          <a:xfrm>
            <a:off x="692785" y="2682875"/>
            <a:ext cx="2385695" cy="4175125"/>
          </a:xfrm>
          <a:prstGeom prst="rect">
            <a:avLst/>
          </a:prstGeom>
          <a:noFill/>
        </p:spPr>
        <p:txBody>
          <a:bodyPr wrap="square" lIns="45720" tIns="0" rIns="0" bIns="45720" rtlCol="0" anchor="ctr"/>
          <a:lstStyle/>
          <a:p>
            <a:pPr>
              <a:lnSpc>
                <a:spcPct val="100000"/>
              </a:lnSpc>
            </a:pPr>
            <a:endParaRPr lang="en-US" sz="1600" dirty="0"/>
          </a:p>
        </p:txBody>
      </p:sp>
      <p:sp>
        <p:nvSpPr>
          <p:cNvPr id="11" name="Shape 8"/>
          <p:cNvSpPr/>
          <p:nvPr>
            <p:custDataLst>
              <p:tags r:id="rId4"/>
            </p:custDataLst>
          </p:nvPr>
        </p:nvSpPr>
        <p:spPr>
          <a:xfrm>
            <a:off x="6301105" y="2614295"/>
            <a:ext cx="2385695" cy="4171315"/>
          </a:xfrm>
          <a:prstGeom prst="roundRect">
            <a:avLst>
              <a:gd name="adj" fmla="val 16667"/>
            </a:avLst>
          </a:prstGeom>
          <a:gradFill flip="none" rotWithShape="0">
            <a:gsLst>
              <a:gs pos="0">
                <a:srgbClr val="94B9FF">
                  <a:alpha val="27000"/>
                </a:srgbClr>
              </a:gs>
              <a:gs pos="8000">
                <a:srgbClr val="94B9FF">
                  <a:alpha val="27000"/>
                </a:srgbClr>
              </a:gs>
              <a:gs pos="37000">
                <a:srgbClr val="94B9FF">
                  <a:alpha val="3000"/>
                </a:srgbClr>
              </a:gs>
              <a:gs pos="65000">
                <a:srgbClr val="94B9FF">
                  <a:alpha val="18000"/>
                </a:srgbClr>
              </a:gs>
              <a:gs pos="98000">
                <a:srgbClr val="94B9FF">
                  <a:alpha val="51000"/>
                </a:srgbClr>
              </a:gs>
              <a:gs pos="100000">
                <a:srgbClr val="94B9FF">
                  <a:alpha val="51000"/>
                </a:srgbClr>
              </a:gs>
            </a:gsLst>
            <a:lin ang="17460000" scaled="1"/>
          </a:gradFill>
          <a:ln w="3175">
            <a:solidFill>
              <a:srgbClr val="376FFF">
                <a:alpha val="20000"/>
              </a:srgbClr>
            </a:solidFill>
            <a:prstDash val="solid"/>
          </a:ln>
          <a:effectLst>
            <a:outerShdw blurRad="508000" dist="50800" dir="2700000" algn="bl" rotWithShape="0">
              <a:srgbClr val="376FFF">
                <a:alpha val="20000"/>
              </a:srgbClr>
            </a:outerShdw>
          </a:effectLst>
        </p:spPr>
      </p:sp>
      <p:sp>
        <p:nvSpPr>
          <p:cNvPr id="12" name="Text 9"/>
          <p:cNvSpPr/>
          <p:nvPr/>
        </p:nvSpPr>
        <p:spPr>
          <a:xfrm>
            <a:off x="6421755" y="2690495"/>
            <a:ext cx="2385695" cy="4171315"/>
          </a:xfrm>
          <a:prstGeom prst="rect">
            <a:avLst/>
          </a:prstGeom>
          <a:noFill/>
        </p:spPr>
        <p:txBody>
          <a:bodyPr wrap="square" lIns="45720" tIns="0" rIns="0" bIns="45720" rtlCol="0" anchor="ctr"/>
          <a:lstStyle/>
          <a:p>
            <a:pPr>
              <a:lnSpc>
                <a:spcPct val="100000"/>
              </a:lnSpc>
            </a:pPr>
            <a:endParaRPr lang="en-US" sz="1600" dirty="0"/>
          </a:p>
        </p:txBody>
      </p:sp>
      <p:sp>
        <p:nvSpPr>
          <p:cNvPr id="13" name="Shape 10"/>
          <p:cNvSpPr/>
          <p:nvPr>
            <p:custDataLst>
              <p:tags r:id="rId5"/>
            </p:custDataLst>
          </p:nvPr>
        </p:nvSpPr>
        <p:spPr>
          <a:xfrm>
            <a:off x="6301105" y="2610485"/>
            <a:ext cx="2385695" cy="4175125"/>
          </a:xfrm>
          <a:prstGeom prst="roundRect">
            <a:avLst>
              <a:gd name="adj" fmla="val 16667"/>
            </a:avLst>
          </a:prstGeom>
          <a:solidFill>
            <a:schemeClr val="bg1"/>
          </a:solidFill>
          <a:ln w="3175">
            <a:solidFill>
              <a:srgbClr val="4874CB">
                <a:alpha val="20000"/>
              </a:srgbClr>
            </a:solidFill>
            <a:prstDash val="solid"/>
          </a:ln>
        </p:spPr>
      </p:sp>
      <p:sp>
        <p:nvSpPr>
          <p:cNvPr id="14" name="Text 11"/>
          <p:cNvSpPr/>
          <p:nvPr/>
        </p:nvSpPr>
        <p:spPr>
          <a:xfrm>
            <a:off x="6421755" y="2686685"/>
            <a:ext cx="2385695" cy="4175125"/>
          </a:xfrm>
          <a:prstGeom prst="rect">
            <a:avLst/>
          </a:prstGeom>
          <a:noFill/>
        </p:spPr>
        <p:txBody>
          <a:bodyPr wrap="square" lIns="45720" tIns="0" rIns="0" bIns="45720" rtlCol="0" anchor="ctr"/>
          <a:lstStyle/>
          <a:p>
            <a:pPr>
              <a:lnSpc>
                <a:spcPct val="100000"/>
              </a:lnSpc>
            </a:pPr>
            <a:endParaRPr lang="en-US" sz="1600" dirty="0"/>
          </a:p>
        </p:txBody>
      </p:sp>
      <p:sp>
        <p:nvSpPr>
          <p:cNvPr id="15" name="Shape 12"/>
          <p:cNvSpPr/>
          <p:nvPr>
            <p:custDataLst>
              <p:tags r:id="rId6"/>
            </p:custDataLst>
          </p:nvPr>
        </p:nvSpPr>
        <p:spPr>
          <a:xfrm>
            <a:off x="9165590" y="2614295"/>
            <a:ext cx="2385695" cy="4171315"/>
          </a:xfrm>
          <a:prstGeom prst="roundRect">
            <a:avLst>
              <a:gd name="adj" fmla="val 16667"/>
            </a:avLst>
          </a:prstGeom>
          <a:gradFill flip="none" rotWithShape="0">
            <a:gsLst>
              <a:gs pos="0">
                <a:srgbClr val="94B9FF">
                  <a:alpha val="27000"/>
                </a:srgbClr>
              </a:gs>
              <a:gs pos="8000">
                <a:srgbClr val="94B9FF">
                  <a:alpha val="27000"/>
                </a:srgbClr>
              </a:gs>
              <a:gs pos="37000">
                <a:srgbClr val="94B9FF">
                  <a:alpha val="3000"/>
                </a:srgbClr>
              </a:gs>
              <a:gs pos="65000">
                <a:srgbClr val="94B9FF">
                  <a:alpha val="18000"/>
                </a:srgbClr>
              </a:gs>
              <a:gs pos="98000">
                <a:srgbClr val="94B9FF">
                  <a:alpha val="51000"/>
                </a:srgbClr>
              </a:gs>
              <a:gs pos="100000">
                <a:srgbClr val="94B9FF">
                  <a:alpha val="51000"/>
                </a:srgbClr>
              </a:gs>
            </a:gsLst>
            <a:lin ang="17460000" scaled="1"/>
          </a:gradFill>
          <a:ln w="3175">
            <a:solidFill>
              <a:srgbClr val="376FFF">
                <a:alpha val="20000"/>
              </a:srgbClr>
            </a:solidFill>
            <a:prstDash val="solid"/>
          </a:ln>
          <a:effectLst>
            <a:outerShdw blurRad="508000" dist="50800" dir="2700000" algn="bl" rotWithShape="0">
              <a:srgbClr val="376FFF">
                <a:alpha val="20000"/>
              </a:srgbClr>
            </a:outerShdw>
          </a:effectLst>
        </p:spPr>
      </p:sp>
      <p:sp>
        <p:nvSpPr>
          <p:cNvPr id="16" name="Text 13"/>
          <p:cNvSpPr/>
          <p:nvPr/>
        </p:nvSpPr>
        <p:spPr>
          <a:xfrm>
            <a:off x="9286240" y="2690495"/>
            <a:ext cx="2385695" cy="4171315"/>
          </a:xfrm>
          <a:prstGeom prst="rect">
            <a:avLst/>
          </a:prstGeom>
          <a:noFill/>
        </p:spPr>
        <p:txBody>
          <a:bodyPr wrap="square" lIns="45720" tIns="0" rIns="0" bIns="45720" rtlCol="0" anchor="ctr"/>
          <a:lstStyle/>
          <a:p>
            <a:pPr>
              <a:lnSpc>
                <a:spcPct val="100000"/>
              </a:lnSpc>
            </a:pPr>
            <a:endParaRPr lang="en-US" sz="1600" dirty="0"/>
          </a:p>
        </p:txBody>
      </p:sp>
      <p:sp>
        <p:nvSpPr>
          <p:cNvPr id="17" name="Shape 14"/>
          <p:cNvSpPr/>
          <p:nvPr>
            <p:custDataLst>
              <p:tags r:id="rId7"/>
            </p:custDataLst>
          </p:nvPr>
        </p:nvSpPr>
        <p:spPr>
          <a:xfrm>
            <a:off x="9165590" y="2610485"/>
            <a:ext cx="2385695" cy="4175125"/>
          </a:xfrm>
          <a:prstGeom prst="roundRect">
            <a:avLst>
              <a:gd name="adj" fmla="val 16667"/>
            </a:avLst>
          </a:prstGeom>
          <a:solidFill>
            <a:schemeClr val="bg1"/>
          </a:solidFill>
          <a:ln w="3175">
            <a:solidFill>
              <a:srgbClr val="4874CB">
                <a:alpha val="20000"/>
              </a:srgbClr>
            </a:solidFill>
            <a:prstDash val="solid"/>
          </a:ln>
        </p:spPr>
      </p:sp>
      <p:sp>
        <p:nvSpPr>
          <p:cNvPr id="18" name="Text 15"/>
          <p:cNvSpPr/>
          <p:nvPr/>
        </p:nvSpPr>
        <p:spPr>
          <a:xfrm>
            <a:off x="9286240" y="2686685"/>
            <a:ext cx="2385695" cy="4175125"/>
          </a:xfrm>
          <a:prstGeom prst="rect">
            <a:avLst/>
          </a:prstGeom>
          <a:noFill/>
        </p:spPr>
        <p:txBody>
          <a:bodyPr wrap="square" lIns="45720" tIns="0" rIns="0" bIns="45720" rtlCol="0" anchor="ctr"/>
          <a:lstStyle/>
          <a:p>
            <a:pPr>
              <a:lnSpc>
                <a:spcPct val="100000"/>
              </a:lnSpc>
            </a:pPr>
            <a:endParaRPr lang="en-US" sz="1600" dirty="0"/>
          </a:p>
        </p:txBody>
      </p:sp>
      <p:sp>
        <p:nvSpPr>
          <p:cNvPr id="19" name="Shape 16"/>
          <p:cNvSpPr/>
          <p:nvPr>
            <p:custDataLst>
              <p:tags r:id="rId8"/>
            </p:custDataLst>
          </p:nvPr>
        </p:nvSpPr>
        <p:spPr>
          <a:xfrm>
            <a:off x="3436620" y="2610485"/>
            <a:ext cx="2385695" cy="4171315"/>
          </a:xfrm>
          <a:prstGeom prst="roundRect">
            <a:avLst>
              <a:gd name="adj" fmla="val 16667"/>
            </a:avLst>
          </a:prstGeom>
          <a:gradFill flip="none" rotWithShape="0">
            <a:gsLst>
              <a:gs pos="0">
                <a:srgbClr val="94B9FF">
                  <a:alpha val="27000"/>
                </a:srgbClr>
              </a:gs>
              <a:gs pos="8000">
                <a:srgbClr val="94B9FF">
                  <a:alpha val="27000"/>
                </a:srgbClr>
              </a:gs>
              <a:gs pos="37000">
                <a:srgbClr val="94B9FF">
                  <a:alpha val="3000"/>
                </a:srgbClr>
              </a:gs>
              <a:gs pos="65000">
                <a:srgbClr val="94B9FF">
                  <a:alpha val="18000"/>
                </a:srgbClr>
              </a:gs>
              <a:gs pos="98000">
                <a:srgbClr val="94B9FF">
                  <a:alpha val="51000"/>
                </a:srgbClr>
              </a:gs>
              <a:gs pos="100000">
                <a:srgbClr val="94B9FF">
                  <a:alpha val="51000"/>
                </a:srgbClr>
              </a:gs>
            </a:gsLst>
            <a:lin ang="17460000" scaled="1"/>
          </a:gradFill>
          <a:ln w="3175">
            <a:solidFill>
              <a:srgbClr val="376FFF">
                <a:alpha val="20000"/>
              </a:srgbClr>
            </a:solidFill>
            <a:prstDash val="solid"/>
          </a:ln>
          <a:effectLst>
            <a:outerShdw blurRad="508000" dist="50800" dir="2700000" algn="bl" rotWithShape="0">
              <a:srgbClr val="376FFF">
                <a:alpha val="20000"/>
              </a:srgbClr>
            </a:outerShdw>
          </a:effectLst>
        </p:spPr>
      </p:sp>
      <p:sp>
        <p:nvSpPr>
          <p:cNvPr id="20" name="Text 17"/>
          <p:cNvSpPr/>
          <p:nvPr/>
        </p:nvSpPr>
        <p:spPr>
          <a:xfrm>
            <a:off x="3557270" y="2686685"/>
            <a:ext cx="2385695" cy="4171315"/>
          </a:xfrm>
          <a:prstGeom prst="rect">
            <a:avLst/>
          </a:prstGeom>
          <a:noFill/>
        </p:spPr>
        <p:txBody>
          <a:bodyPr wrap="square" lIns="45720" tIns="0" rIns="0" bIns="45720" rtlCol="0" anchor="ctr"/>
          <a:lstStyle/>
          <a:p>
            <a:pPr>
              <a:lnSpc>
                <a:spcPct val="100000"/>
              </a:lnSpc>
            </a:pPr>
            <a:endParaRPr lang="en-US" sz="1600" dirty="0"/>
          </a:p>
        </p:txBody>
      </p:sp>
      <p:sp>
        <p:nvSpPr>
          <p:cNvPr id="21" name="Shape 18"/>
          <p:cNvSpPr/>
          <p:nvPr>
            <p:custDataLst>
              <p:tags r:id="rId9"/>
            </p:custDataLst>
          </p:nvPr>
        </p:nvSpPr>
        <p:spPr>
          <a:xfrm>
            <a:off x="3436620" y="2606675"/>
            <a:ext cx="2385695" cy="4175125"/>
          </a:xfrm>
          <a:prstGeom prst="roundRect">
            <a:avLst>
              <a:gd name="adj" fmla="val 16667"/>
            </a:avLst>
          </a:prstGeom>
          <a:solidFill>
            <a:schemeClr val="bg1"/>
          </a:solidFill>
          <a:ln w="3175">
            <a:solidFill>
              <a:srgbClr val="4874CB">
                <a:alpha val="20000"/>
              </a:srgbClr>
            </a:solidFill>
            <a:prstDash val="solid"/>
          </a:ln>
        </p:spPr>
      </p:sp>
      <p:sp>
        <p:nvSpPr>
          <p:cNvPr id="22" name="Text 19"/>
          <p:cNvSpPr/>
          <p:nvPr/>
        </p:nvSpPr>
        <p:spPr>
          <a:xfrm>
            <a:off x="3557270" y="2682875"/>
            <a:ext cx="2385695" cy="4175125"/>
          </a:xfrm>
          <a:prstGeom prst="rect">
            <a:avLst/>
          </a:prstGeom>
          <a:noFill/>
        </p:spPr>
        <p:txBody>
          <a:bodyPr wrap="square" lIns="45720" tIns="0" rIns="0" bIns="45720" rtlCol="0" anchor="ctr"/>
          <a:lstStyle/>
          <a:p>
            <a:pPr>
              <a:lnSpc>
                <a:spcPct val="100000"/>
              </a:lnSpc>
            </a:pPr>
            <a:endParaRPr lang="en-US" sz="1600" dirty="0"/>
          </a:p>
        </p:txBody>
      </p:sp>
      <p:sp>
        <p:nvSpPr>
          <p:cNvPr id="23" name="Text 20"/>
          <p:cNvSpPr/>
          <p:nvPr>
            <p:custDataLst>
              <p:tags r:id="rId10"/>
            </p:custDataLst>
          </p:nvPr>
        </p:nvSpPr>
        <p:spPr>
          <a:xfrm>
            <a:off x="2261870" y="6176645"/>
            <a:ext cx="629285" cy="605790"/>
          </a:xfrm>
          <a:prstGeom prst="rect">
            <a:avLst/>
          </a:prstGeom>
          <a:solidFill>
            <a:schemeClr val="bg1"/>
          </a:solidFill>
        </p:spPr>
        <p:txBody>
          <a:bodyPr wrap="square" lIns="0" tIns="0" rIns="0" bIns="107950" rtlCol="0" anchor="ctr"/>
          <a:lstStyle/>
          <a:p>
            <a:pPr algn="ctr">
              <a:lnSpc>
                <a:spcPct val="140000"/>
              </a:lnSpc>
            </a:pPr>
            <a:r>
              <a:rPr lang="en-US" sz="4000" b="1" dirty="0">
                <a:solidFill>
                  <a:srgbClr val="376FFF">
                    <a:alpha val="25000"/>
                  </a:srgbClr>
                </a:solidFill>
                <a:latin typeface="Arial" panose="020B0604020202020204" pitchFamily="34" charset="0"/>
                <a:ea typeface="Arial" panose="020B0604020202020204" pitchFamily="34" charset="-122"/>
                <a:cs typeface="Arial" panose="020B0604020202020204" pitchFamily="34" charset="-120"/>
              </a:rPr>
              <a:t>01</a:t>
            </a:r>
            <a:endParaRPr lang="en-US" sz="1600" dirty="0"/>
          </a:p>
        </p:txBody>
      </p:sp>
      <p:sp>
        <p:nvSpPr>
          <p:cNvPr id="24" name="Text 21"/>
          <p:cNvSpPr/>
          <p:nvPr>
            <p:custDataLst>
              <p:tags r:id="rId11"/>
            </p:custDataLst>
          </p:nvPr>
        </p:nvSpPr>
        <p:spPr>
          <a:xfrm>
            <a:off x="832485" y="2482850"/>
            <a:ext cx="1899285" cy="1198245"/>
          </a:xfrm>
          <a:prstGeom prst="rect">
            <a:avLst/>
          </a:prstGeom>
          <a:noFill/>
        </p:spPr>
        <p:txBody>
          <a:bodyPr wrap="square" lIns="0" tIns="0" rIns="0" bIns="0" rtlCol="0" anchor="ctr"/>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项目简介</a:t>
            </a:r>
            <a:endParaRPr lang="en-US" sz="1600" dirty="0"/>
          </a:p>
        </p:txBody>
      </p:sp>
      <p:sp>
        <p:nvSpPr>
          <p:cNvPr id="25" name="Text 22"/>
          <p:cNvSpPr/>
          <p:nvPr>
            <p:custDataLst>
              <p:tags r:id="rId12"/>
            </p:custDataLst>
          </p:nvPr>
        </p:nvSpPr>
        <p:spPr>
          <a:xfrm>
            <a:off x="814070" y="3575685"/>
            <a:ext cx="1863090" cy="191770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本项目是一个图书管理系统，结合多数据库同步功能，旨在实现MySQL、PostgreSQL和SQL Server之间的数据实时同步，确保数据的一致性和完整性。</a:t>
            </a:r>
            <a:endParaRPr lang="en-US" sz="1600" dirty="0"/>
          </a:p>
        </p:txBody>
      </p:sp>
      <p:sp>
        <p:nvSpPr>
          <p:cNvPr id="26" name="Text 23"/>
          <p:cNvSpPr/>
          <p:nvPr>
            <p:custDataLst>
              <p:tags r:id="rId13"/>
            </p:custDataLst>
          </p:nvPr>
        </p:nvSpPr>
        <p:spPr>
          <a:xfrm>
            <a:off x="5126355" y="6176645"/>
            <a:ext cx="629285" cy="605790"/>
          </a:xfrm>
          <a:prstGeom prst="rect">
            <a:avLst/>
          </a:prstGeom>
          <a:noFill/>
        </p:spPr>
        <p:txBody>
          <a:bodyPr wrap="square" lIns="0" tIns="0" rIns="0" bIns="107950" rtlCol="0" anchor="ctr"/>
          <a:lstStyle/>
          <a:p>
            <a:pPr algn="ctr">
              <a:lnSpc>
                <a:spcPct val="140000"/>
              </a:lnSpc>
            </a:pPr>
            <a:r>
              <a:rPr lang="en-US" sz="4000" b="1" dirty="0">
                <a:solidFill>
                  <a:srgbClr val="376FFF">
                    <a:alpha val="25000"/>
                  </a:srgbClr>
                </a:solidFill>
                <a:latin typeface="Arial" panose="020B0604020202020204" pitchFamily="34" charset="0"/>
                <a:ea typeface="Arial" panose="020B0604020202020204" pitchFamily="34" charset="-122"/>
                <a:cs typeface="Arial" panose="020B0604020202020204" pitchFamily="34" charset="-120"/>
              </a:rPr>
              <a:t>02</a:t>
            </a:r>
            <a:endParaRPr lang="en-US" sz="1600" dirty="0"/>
          </a:p>
        </p:txBody>
      </p:sp>
      <p:sp>
        <p:nvSpPr>
          <p:cNvPr id="27" name="Text 24"/>
          <p:cNvSpPr/>
          <p:nvPr>
            <p:custDataLst>
              <p:tags r:id="rId14"/>
            </p:custDataLst>
          </p:nvPr>
        </p:nvSpPr>
        <p:spPr>
          <a:xfrm>
            <a:off x="3696970" y="2482850"/>
            <a:ext cx="1899285" cy="1198245"/>
          </a:xfrm>
          <a:prstGeom prst="rect">
            <a:avLst/>
          </a:prstGeom>
          <a:noFill/>
        </p:spPr>
        <p:txBody>
          <a:bodyPr wrap="square" lIns="0" tIns="0" rIns="0" bIns="0" rtlCol="0" anchor="ctr"/>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核心亮点</a:t>
            </a:r>
            <a:endParaRPr lang="en-US" sz="1600" dirty="0"/>
          </a:p>
        </p:txBody>
      </p:sp>
      <p:sp>
        <p:nvSpPr>
          <p:cNvPr id="28" name="Text 25"/>
          <p:cNvSpPr/>
          <p:nvPr>
            <p:custDataLst>
              <p:tags r:id="rId15"/>
            </p:custDataLst>
          </p:nvPr>
        </p:nvSpPr>
        <p:spPr>
          <a:xfrm>
            <a:off x="3678555" y="3575685"/>
            <a:ext cx="1863090" cy="191770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系统具备四大核心亮点：支持三数据库实时同步，自动检测冲突并发送邮件通知管理员，提供完整的PC端与移动端双平台报表，以及实时同步与定时任务双模式，满足不同场景需求。</a:t>
            </a:r>
            <a:endParaRPr lang="en-US" sz="1600" dirty="0"/>
          </a:p>
        </p:txBody>
      </p:sp>
      <p:sp>
        <p:nvSpPr>
          <p:cNvPr id="29" name="Text 26"/>
          <p:cNvSpPr/>
          <p:nvPr>
            <p:custDataLst>
              <p:tags r:id="rId16"/>
            </p:custDataLst>
          </p:nvPr>
        </p:nvSpPr>
        <p:spPr>
          <a:xfrm>
            <a:off x="7990840" y="6180455"/>
            <a:ext cx="629285" cy="605790"/>
          </a:xfrm>
          <a:prstGeom prst="rect">
            <a:avLst/>
          </a:prstGeom>
          <a:noFill/>
        </p:spPr>
        <p:txBody>
          <a:bodyPr wrap="square" lIns="0" tIns="0" rIns="0" bIns="107950" rtlCol="0" anchor="ctr"/>
          <a:lstStyle/>
          <a:p>
            <a:pPr algn="ctr">
              <a:lnSpc>
                <a:spcPct val="140000"/>
              </a:lnSpc>
            </a:pPr>
            <a:r>
              <a:rPr lang="en-US" sz="4000" b="1" dirty="0">
                <a:solidFill>
                  <a:srgbClr val="376FFF">
                    <a:alpha val="25000"/>
                  </a:srgbClr>
                </a:solidFill>
                <a:latin typeface="Arial" panose="020B0604020202020204" pitchFamily="34" charset="0"/>
                <a:ea typeface="Arial" panose="020B0604020202020204" pitchFamily="34" charset="-122"/>
                <a:cs typeface="Arial" panose="020B0604020202020204" pitchFamily="34" charset="-120"/>
              </a:rPr>
              <a:t>03</a:t>
            </a:r>
            <a:endParaRPr lang="en-US" sz="1600" dirty="0"/>
          </a:p>
        </p:txBody>
      </p:sp>
      <p:sp>
        <p:nvSpPr>
          <p:cNvPr id="30" name="Text 27"/>
          <p:cNvSpPr/>
          <p:nvPr>
            <p:custDataLst>
              <p:tags r:id="rId17"/>
            </p:custDataLst>
          </p:nvPr>
        </p:nvSpPr>
        <p:spPr>
          <a:xfrm>
            <a:off x="6561455" y="2486660"/>
            <a:ext cx="1899285" cy="1198245"/>
          </a:xfrm>
          <a:prstGeom prst="rect">
            <a:avLst/>
          </a:prstGeom>
          <a:noFill/>
        </p:spPr>
        <p:txBody>
          <a:bodyPr wrap="square" lIns="0" tIns="0" rIns="0" bIns="0" rtlCol="0" anchor="ctr"/>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技术栈</a:t>
            </a:r>
            <a:endParaRPr lang="en-US" sz="1600" dirty="0"/>
          </a:p>
        </p:txBody>
      </p:sp>
      <p:sp>
        <p:nvSpPr>
          <p:cNvPr id="31" name="Text 28"/>
          <p:cNvSpPr/>
          <p:nvPr>
            <p:custDataLst>
              <p:tags r:id="rId18"/>
            </p:custDataLst>
          </p:nvPr>
        </p:nvSpPr>
        <p:spPr>
          <a:xfrm>
            <a:off x="6543040" y="3579495"/>
            <a:ext cx="1863090" cy="191770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采用Spring Boot作为后端框架，结合Thymeleaf进行前端页面渲染，使用Chart.js实现数据可视化。数据层面，通过JPA整合MySQL、PostgreSQL和SQL Server，构建稳定高效的技术架构。</a:t>
            </a:r>
            <a:endParaRPr lang="en-US" sz="1600" dirty="0"/>
          </a:p>
        </p:txBody>
      </p:sp>
      <p:sp>
        <p:nvSpPr>
          <p:cNvPr id="32" name="Text 29"/>
          <p:cNvSpPr/>
          <p:nvPr>
            <p:custDataLst>
              <p:tags r:id="rId19"/>
            </p:custDataLst>
          </p:nvPr>
        </p:nvSpPr>
        <p:spPr>
          <a:xfrm>
            <a:off x="10855325" y="6180455"/>
            <a:ext cx="629285" cy="605790"/>
          </a:xfrm>
          <a:prstGeom prst="rect">
            <a:avLst/>
          </a:prstGeom>
          <a:noFill/>
        </p:spPr>
        <p:txBody>
          <a:bodyPr wrap="square" lIns="0" tIns="0" rIns="0" bIns="107950" rtlCol="0" anchor="ctr"/>
          <a:lstStyle/>
          <a:p>
            <a:pPr algn="ctr">
              <a:lnSpc>
                <a:spcPct val="140000"/>
              </a:lnSpc>
            </a:pPr>
            <a:r>
              <a:rPr lang="en-US" sz="4000" b="1" dirty="0">
                <a:solidFill>
                  <a:srgbClr val="376FFF">
                    <a:alpha val="25000"/>
                  </a:srgbClr>
                </a:solidFill>
                <a:latin typeface="Arial" panose="020B0604020202020204" pitchFamily="34" charset="0"/>
                <a:ea typeface="Arial" panose="020B0604020202020204" pitchFamily="34" charset="-122"/>
                <a:cs typeface="Arial" panose="020B0604020202020204" pitchFamily="34" charset="-120"/>
              </a:rPr>
              <a:t>04</a:t>
            </a:r>
            <a:endParaRPr lang="en-US" sz="1600" dirty="0"/>
          </a:p>
        </p:txBody>
      </p:sp>
      <p:sp>
        <p:nvSpPr>
          <p:cNvPr id="33" name="Text 30"/>
          <p:cNvSpPr/>
          <p:nvPr>
            <p:custDataLst>
              <p:tags r:id="rId20"/>
            </p:custDataLst>
          </p:nvPr>
        </p:nvSpPr>
        <p:spPr>
          <a:xfrm>
            <a:off x="9425940" y="2486660"/>
            <a:ext cx="1899285" cy="1198245"/>
          </a:xfrm>
          <a:prstGeom prst="rect">
            <a:avLst/>
          </a:prstGeom>
          <a:noFill/>
        </p:spPr>
        <p:txBody>
          <a:bodyPr wrap="square" lIns="0" tIns="0" rIns="0" bIns="0" rtlCol="0" anchor="ctr"/>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项目价值</a:t>
            </a:r>
            <a:endParaRPr lang="en-US" sz="1600" dirty="0"/>
          </a:p>
        </p:txBody>
      </p:sp>
      <p:sp>
        <p:nvSpPr>
          <p:cNvPr id="34" name="Text 31"/>
          <p:cNvSpPr/>
          <p:nvPr>
            <p:custDataLst>
              <p:tags r:id="rId21"/>
            </p:custDataLst>
          </p:nvPr>
        </p:nvSpPr>
        <p:spPr>
          <a:xfrm>
            <a:off x="9407525" y="3579495"/>
            <a:ext cx="1863090" cy="191770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通过多数据库同步，提高数据的可用性和可靠性，降低单点故障风险。同时，双平台报表功能满足不同用户群体的需求，提升用户体验，为图书管理系统提供强大的技术支持。</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C:\Users\dell\Desktop\余若冰\校庆ppt\图片素材\图片\套装一选用图片\图片-中南蓝\2018-02-22 161602.jpg2018-02-22 161602"/>
          <p:cNvPicPr>
            <a:picLocks noChangeAspect="1"/>
          </p:cNvPicPr>
          <p:nvPr/>
        </p:nvPicPr>
        <p:blipFill>
          <a:blip r:embed="rId1">
            <a:lum bright="24000" contrast="-24000"/>
          </a:blip>
          <a:srcRect/>
          <a:stretch>
            <a:fillRect/>
          </a:stretch>
        </p:blipFill>
        <p:spPr>
          <a:xfrm>
            <a:off x="3846" y="1666879"/>
            <a:ext cx="5400040" cy="3604895"/>
          </a:xfrm>
          <a:prstGeom prst="rect">
            <a:avLst/>
          </a:prstGeom>
        </p:spPr>
      </p:pic>
      <p:sp>
        <p:nvSpPr>
          <p:cNvPr id="19" name="矩形 18"/>
          <p:cNvSpPr/>
          <p:nvPr/>
        </p:nvSpPr>
        <p:spPr>
          <a:xfrm rot="5400000">
            <a:off x="6116955" y="-436880"/>
            <a:ext cx="2588895" cy="7813040"/>
          </a:xfrm>
          <a:prstGeom prst="rect">
            <a:avLst/>
          </a:prstGeom>
          <a:solidFill>
            <a:srgbClr val="76BCD2">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3819868" y="2733598"/>
            <a:ext cx="1448435" cy="1568450"/>
          </a:xfrm>
          <a:prstGeom prst="rect">
            <a:avLst/>
          </a:prstGeom>
        </p:spPr>
        <p:txBody>
          <a:bodyPr wrap="none">
            <a:spAutoFit/>
          </a:bodyPr>
          <a:lstStyle/>
          <a:p>
            <a:r>
              <a:rPr lang="en-US" altLang="zh-CN" sz="9600" dirty="0">
                <a:solidFill>
                  <a:prstClr val="white"/>
                </a:solidFill>
                <a:latin typeface="Impact" panose="020B0806030902050204" pitchFamily="34" charset="0"/>
                <a:ea typeface="微软雅黑" panose="020B0503020204020204" charset="-122"/>
                <a:cs typeface="Gisha" panose="020B0502040204020203" pitchFamily="34" charset="-79"/>
              </a:rPr>
              <a:t>02</a:t>
            </a:r>
            <a:endParaRPr lang="zh-CN" altLang="en-US" sz="9600" dirty="0">
              <a:solidFill>
                <a:prstClr val="white"/>
              </a:solidFill>
            </a:endParaRPr>
          </a:p>
        </p:txBody>
      </p:sp>
      <p:sp>
        <p:nvSpPr>
          <p:cNvPr id="21" name="TextBox 62"/>
          <p:cNvSpPr txBox="1"/>
          <p:nvPr/>
        </p:nvSpPr>
        <p:spPr>
          <a:xfrm>
            <a:off x="6403260" y="3592093"/>
            <a:ext cx="4400728" cy="275590"/>
          </a:xfrm>
          <a:prstGeom prst="rect">
            <a:avLst/>
          </a:prstGeom>
          <a:noFill/>
          <a:effectLst/>
        </p:spPr>
        <p:txBody>
          <a:bodyPr wrap="square" rtlCol="0">
            <a:spAutoFit/>
          </a:bodyPr>
          <a:lstStyle/>
          <a:p>
            <a:pPr>
              <a:lnSpc>
                <a:spcPct val="120000"/>
              </a:lnSpc>
            </a:pPr>
            <a:r>
              <a:rPr lang="zh-CN" altLang="en-US" sz="1000" dirty="0">
                <a:solidFill>
                  <a:prstClr val="white"/>
                </a:solidFill>
                <a:latin typeface="微软雅黑" panose="020B0503020204020204" charset="-122"/>
                <a:ea typeface="微软雅黑" panose="020B0503020204020204" charset="-122"/>
              </a:rPr>
              <a:t>系统采用经典的三层架构：前端层、应用层、数据</a:t>
            </a:r>
            <a:r>
              <a:rPr lang="zh-CN" altLang="en-US" sz="1000" dirty="0">
                <a:solidFill>
                  <a:prstClr val="white"/>
                </a:solidFill>
                <a:latin typeface="微软雅黑" panose="020B0503020204020204" charset="-122"/>
                <a:ea typeface="微软雅黑" panose="020B0503020204020204" charset="-122"/>
              </a:rPr>
              <a:t>层</a:t>
            </a:r>
            <a:endParaRPr lang="zh-CN" altLang="en-US" sz="1000" dirty="0">
              <a:solidFill>
                <a:prstClr val="white"/>
              </a:solidFill>
              <a:latin typeface="微软雅黑" panose="020B0503020204020204" charset="-122"/>
              <a:ea typeface="微软雅黑" panose="020B0503020204020204" charset="-122"/>
            </a:endParaRPr>
          </a:p>
        </p:txBody>
      </p:sp>
      <p:sp>
        <p:nvSpPr>
          <p:cNvPr id="22" name="矩形 21"/>
          <p:cNvSpPr/>
          <p:nvPr/>
        </p:nvSpPr>
        <p:spPr>
          <a:xfrm>
            <a:off x="6403261" y="2733712"/>
            <a:ext cx="4274439" cy="706755"/>
          </a:xfrm>
          <a:prstGeom prst="rect">
            <a:avLst/>
          </a:prstGeom>
        </p:spPr>
        <p:txBody>
          <a:bodyPr wrap="square">
            <a:spAutoFit/>
          </a:bodyPr>
          <a:lstStyle/>
          <a:p>
            <a:pPr defTabSz="685800">
              <a:defRPr/>
            </a:pP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系</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统</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架</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构</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设</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计</a:t>
            </a:r>
            <a:endPar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endParaRPr>
          </a:p>
        </p:txBody>
      </p:sp>
      <p:grpSp>
        <p:nvGrpSpPr>
          <p:cNvPr id="8" name="组合 7"/>
          <p:cNvGrpSpPr/>
          <p:nvPr/>
        </p:nvGrpSpPr>
        <p:grpSpPr>
          <a:xfrm>
            <a:off x="5691146" y="3339029"/>
            <a:ext cx="4887760" cy="262538"/>
            <a:chOff x="5444484" y="3347558"/>
            <a:chExt cx="4887760" cy="262538"/>
          </a:xfrm>
        </p:grpSpPr>
        <p:sp>
          <p:nvSpPr>
            <p:cNvPr id="9" name="任意多边形 8"/>
            <p:cNvSpPr/>
            <p:nvPr/>
          </p:nvSpPr>
          <p:spPr>
            <a:xfrm flipV="1">
              <a:off x="5545778" y="3347558"/>
              <a:ext cx="4786466" cy="178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5444484" y="3443844"/>
              <a:ext cx="166252" cy="1662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5" name="图片 24"/>
          <p:cNvPicPr>
            <a:picLocks noChangeAspect="1"/>
          </p:cNvPicPr>
          <p:nvPr/>
        </p:nvPicPr>
        <p:blipFill>
          <a:blip r:embed="rId2"/>
          <a:stretch>
            <a:fillRect/>
          </a:stretch>
        </p:blipFill>
        <p:spPr>
          <a:xfrm>
            <a:off x="3048000" y="4131310"/>
            <a:ext cx="9144000" cy="1295400"/>
          </a:xfrm>
          <a:prstGeom prst="rect">
            <a:avLst/>
          </a:prstGeom>
        </p:spPr>
      </p:pic>
    </p:spTree>
    <p:custDataLst>
      <p:tags r:id="rId3"/>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ipe(down)">
                                      <p:cBhvr>
                                        <p:cTn id="7" dur="1000"/>
                                        <p:tgtEl>
                                          <p:spTgt spid="7"/>
                                        </p:tgtEl>
                                      </p:cBhvr>
                                    </p:animEffect>
                                  </p:childTnLst>
                                </p:cTn>
                              </p:par>
                              <p:par>
                                <p:cTn id="8" presetID="22" presetClass="entr" presetSubtype="4" fill="hold" grpId="0" nodeType="withEffect">
                                  <p:stCondLst>
                                    <p:cond delay="0"/>
                                  </p:stCondLst>
                                  <p:childTnLst>
                                    <p:set>
                                      <p:cBhvr>
                                        <p:cTn id="9" dur="1000" fill="hold">
                                          <p:stCondLst>
                                            <p:cond delay="0"/>
                                          </p:stCondLst>
                                        </p:cTn>
                                        <p:tgtEl>
                                          <p:spTgt spid="19"/>
                                        </p:tgtEl>
                                        <p:attrNameLst>
                                          <p:attrName>style.visibility</p:attrName>
                                        </p:attrNameLst>
                                      </p:cBhvr>
                                      <p:to>
                                        <p:strVal val="visible"/>
                                      </p:to>
                                    </p:set>
                                    <p:animEffect transition="in" filter="wipe(down)">
                                      <p:cBhvr>
                                        <p:cTn id="10" dur="1000"/>
                                        <p:tgtEl>
                                          <p:spTgt spid="19"/>
                                        </p:tgtEl>
                                      </p:cBhvr>
                                    </p:animEffect>
                                  </p:childTnLst>
                                </p:cTn>
                              </p:par>
                              <p:par>
                                <p:cTn id="11" presetID="22" presetClass="entr" presetSubtype="4" fill="hold" grpId="0" nodeType="withEffect">
                                  <p:stCondLst>
                                    <p:cond delay="0"/>
                                  </p:stCondLst>
                                  <p:childTnLst>
                                    <p:set>
                                      <p:cBhvr>
                                        <p:cTn id="12" dur="1000" fill="hold">
                                          <p:stCondLst>
                                            <p:cond delay="0"/>
                                          </p:stCondLst>
                                        </p:cTn>
                                        <p:tgtEl>
                                          <p:spTgt spid="20"/>
                                        </p:tgtEl>
                                        <p:attrNameLst>
                                          <p:attrName>style.visibility</p:attrName>
                                        </p:attrNameLst>
                                      </p:cBhvr>
                                      <p:to>
                                        <p:strVal val="visible"/>
                                      </p:to>
                                    </p:set>
                                    <p:animEffect transition="in" filter="wipe(down)">
                                      <p:cBhvr>
                                        <p:cTn id="13" dur="1000"/>
                                        <p:tgtEl>
                                          <p:spTgt spid="2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nodeType="withEffect">
                                  <p:stCondLst>
                                    <p:cond delay="0"/>
                                  </p:stCondLst>
                                  <p:childTnLst>
                                    <p:set>
                                      <p:cBhvr>
                                        <p:cTn id="21" dur="1000" fill="hold">
                                          <p:stCondLst>
                                            <p:cond delay="0"/>
                                          </p:stCondLst>
                                        </p:cTn>
                                        <p:tgtEl>
                                          <p:spTgt spid="8"/>
                                        </p:tgtEl>
                                        <p:attrNameLst>
                                          <p:attrName>style.visibility</p:attrName>
                                        </p:attrNameLst>
                                      </p:cBhvr>
                                      <p:to>
                                        <p:strVal val="visible"/>
                                      </p:to>
                                    </p:set>
                                    <p:animEffect transition="in" filter="wipe(down)">
                                      <p:cBhvr>
                                        <p:cTn id="22" dur="1000"/>
                                        <p:tgtEl>
                                          <p:spTgt spid="8"/>
                                        </p:tgtEl>
                                      </p:cBhvr>
                                    </p:animEffect>
                                  </p:childTnLst>
                                </p:cTn>
                              </p:par>
                              <p:par>
                                <p:cTn id="23" presetID="22" presetClass="entr" presetSubtype="4" fill="hold" nodeType="withEffect">
                                  <p:stCondLst>
                                    <p:cond delay="0"/>
                                  </p:stCondLst>
                                  <p:childTnLst>
                                    <p:set>
                                      <p:cBhvr>
                                        <p:cTn id="24" dur="1000" fill="hold">
                                          <p:stCondLst>
                                            <p:cond delay="0"/>
                                          </p:stCondLst>
                                        </p:cTn>
                                        <p:tgtEl>
                                          <p:spTgt spid="25"/>
                                        </p:tgtEl>
                                        <p:attrNameLst>
                                          <p:attrName>style.visibility</p:attrName>
                                        </p:attrNameLst>
                                      </p:cBhvr>
                                      <p:to>
                                        <p:strVal val="visible"/>
                                      </p:to>
                                    </p:set>
                                    <p:animEffect transition="in" filter="wipe(down)">
                                      <p:cBhvr>
                                        <p:cTn id="2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p:bldP spid="21" grpId="0" bldLvl="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03555" y="3521710"/>
            <a:ext cx="4011295" cy="2816225"/>
          </a:xfrm>
          <a:prstGeom prst="roundRect">
            <a:avLst>
              <a:gd name="adj" fmla="val 7137"/>
            </a:avLst>
          </a:prstGeom>
          <a:solidFill>
            <a:srgbClr val="FFFFFF"/>
          </a:solidFill>
          <a:effectLst>
            <a:outerShdw blurRad="152400" dist="26941" dir="2700000" algn="bl" rotWithShape="0">
              <a:srgbClr val="000000">
                <a:alpha val="10980"/>
              </a:srgbClr>
            </a:outerShdw>
          </a:effectLst>
        </p:spPr>
      </p:sp>
      <p:sp>
        <p:nvSpPr>
          <p:cNvPr id="3" name="Text 1"/>
          <p:cNvSpPr/>
          <p:nvPr/>
        </p:nvSpPr>
        <p:spPr>
          <a:xfrm>
            <a:off x="503555" y="3703320"/>
            <a:ext cx="3856355" cy="2587625"/>
          </a:xfrm>
          <a:prstGeom prst="rect">
            <a:avLst/>
          </a:prstGeom>
          <a:noFill/>
        </p:spPr>
        <p:txBody>
          <a:bodyPr wrap="square" lIns="45720" tIns="91440" rIns="91440" bIns="45720" rtlCol="0" anchor="ctr"/>
          <a:lstStyle/>
          <a:p>
            <a:pPr>
              <a:lnSpc>
                <a:spcPct val="100000"/>
              </a:lnSpc>
            </a:pPr>
            <a:endParaRPr lang="en-US" sz="1600" dirty="0"/>
          </a:p>
        </p:txBody>
      </p:sp>
      <p:sp>
        <p:nvSpPr>
          <p:cNvPr id="4" name="Shape 2"/>
          <p:cNvSpPr/>
          <p:nvPr/>
        </p:nvSpPr>
        <p:spPr>
          <a:xfrm>
            <a:off x="4581525" y="1299845"/>
            <a:ext cx="634365" cy="634365"/>
          </a:xfrm>
          <a:prstGeom prst="blockArc">
            <a:avLst>
              <a:gd name="adj1" fmla="val 10800000"/>
              <a:gd name="adj2" fmla="val 0"/>
              <a:gd name="adj3" fmla="val 25000"/>
            </a:avLst>
          </a:prstGeom>
          <a:gradFill flip="none" rotWithShape="1">
            <a:gsLst>
              <a:gs pos="0">
                <a:srgbClr val="DAE3F5"/>
              </a:gs>
              <a:gs pos="2000">
                <a:srgbClr val="DAE3F5"/>
              </a:gs>
              <a:gs pos="8000">
                <a:srgbClr val="91ACE0"/>
              </a:gs>
              <a:gs pos="55000">
                <a:srgbClr val="4874CB">
                  <a:alpha val="68000"/>
                </a:srgbClr>
              </a:gs>
              <a:gs pos="100000">
                <a:srgbClr val="345FB6">
                  <a:alpha val="29000"/>
                </a:srgbClr>
              </a:gs>
            </a:gsLst>
            <a:path path="circle">
              <a:fillToRect r="100000" b="100000"/>
            </a:path>
            <a:tileRect l="-100000" t="-100000"/>
          </a:gradFill>
        </p:spPr>
      </p:sp>
      <p:sp>
        <p:nvSpPr>
          <p:cNvPr id="5" name="Text 3"/>
          <p:cNvSpPr/>
          <p:nvPr/>
        </p:nvSpPr>
        <p:spPr>
          <a:xfrm>
            <a:off x="4581525" y="1299845"/>
            <a:ext cx="634365" cy="63436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789940" y="394335"/>
            <a:ext cx="6780530" cy="622935"/>
          </a:xfrm>
          <a:prstGeom prst="rect">
            <a:avLst/>
          </a:prstGeom>
          <a:noFill/>
        </p:spPr>
        <p:txBody>
          <a:bodyPr wrap="square" lIns="91440" tIns="45720" rIns="91440" bIns="45720" rtlCol="0" anchor="ctr"/>
          <a:lstStyle/>
          <a:p>
            <a:pPr>
              <a:lnSpc>
                <a:spcPct val="100000"/>
              </a:lnSpc>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系统分层架构详解</a:t>
            </a:r>
            <a:endParaRPr lang="en-US" sz="1600" dirty="0"/>
          </a:p>
        </p:txBody>
      </p:sp>
      <p:sp>
        <p:nvSpPr>
          <p:cNvPr id="7" name="Shape 5"/>
          <p:cNvSpPr/>
          <p:nvPr/>
        </p:nvSpPr>
        <p:spPr>
          <a:xfrm>
            <a:off x="260985" y="163195"/>
            <a:ext cx="1071245" cy="553720"/>
          </a:xfrm>
          <a:prstGeom prst="roundRect">
            <a:avLst>
              <a:gd name="adj" fmla="val 16667"/>
            </a:avLst>
          </a:prstGeom>
          <a:gradFill flip="none" rotWithShape="1">
            <a:gsLst>
              <a:gs pos="0">
                <a:srgbClr val="4874CB">
                  <a:alpha val="65000"/>
                </a:srgbClr>
              </a:gs>
              <a:gs pos="20000">
                <a:srgbClr val="4874CB">
                  <a:alpha val="65000"/>
                </a:srgbClr>
              </a:gs>
              <a:gs pos="43000">
                <a:srgbClr val="4874CB">
                  <a:alpha val="54000"/>
                </a:srgbClr>
              </a:gs>
              <a:gs pos="63000">
                <a:srgbClr val="4874CB">
                  <a:alpha val="17000"/>
                </a:srgbClr>
              </a:gs>
              <a:gs pos="100000">
                <a:srgbClr val="FFFFFF">
                  <a:alpha val="0"/>
                </a:srgbClr>
              </a:gs>
            </a:gsLst>
            <a:lin ang="0" scaled="1"/>
          </a:gradFill>
        </p:spPr>
      </p:sp>
      <p:sp>
        <p:nvSpPr>
          <p:cNvPr id="8" name="Text 6"/>
          <p:cNvSpPr/>
          <p:nvPr/>
        </p:nvSpPr>
        <p:spPr>
          <a:xfrm>
            <a:off x="260985" y="163195"/>
            <a:ext cx="1071245" cy="55372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a:off x="114858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0" name="Text 8"/>
          <p:cNvSpPr/>
          <p:nvPr/>
        </p:nvSpPr>
        <p:spPr>
          <a:xfrm>
            <a:off x="114858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11816080" y="589915"/>
            <a:ext cx="134620" cy="134620"/>
          </a:xfrm>
          <a:prstGeom prst="ellipse">
            <a:avLst/>
          </a:prstGeom>
          <a:solidFill>
            <a:srgbClr val="000000">
              <a:alpha val="0"/>
            </a:srgbClr>
          </a:solidFill>
          <a:ln w="19050">
            <a:gradFill flip="none" rotWithShape="1">
              <a:gsLst>
                <a:gs pos="0">
                  <a:srgbClr val="4874CB"/>
                </a:gs>
                <a:gs pos="100000">
                  <a:srgbClr val="4874CB">
                    <a:alpha val="29000"/>
                  </a:srgbClr>
                </a:gs>
              </a:gsLst>
              <a:lin ang="2700000" scaled="1"/>
            </a:gradFill>
            <a:prstDash val="solid"/>
          </a:ln>
        </p:spPr>
      </p:sp>
      <p:sp>
        <p:nvSpPr>
          <p:cNvPr id="12" name="Text 10"/>
          <p:cNvSpPr/>
          <p:nvPr/>
        </p:nvSpPr>
        <p:spPr>
          <a:xfrm>
            <a:off x="118160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nvSpPr>
        <p:spPr>
          <a:xfrm>
            <a:off x="116509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4" name="Text 12"/>
          <p:cNvSpPr/>
          <p:nvPr/>
        </p:nvSpPr>
        <p:spPr>
          <a:xfrm>
            <a:off x="116509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pic>
        <p:nvPicPr>
          <p:cNvPr id="15" name="Image 0" descr="https://kimi-img.moonshot.cn/pub/slides/slides_tmpl/image/25-09-04-14:55:08-d2sjfj61bb2p4onbq070.png"/>
          <p:cNvPicPr>
            <a:picLocks noChangeAspect="1"/>
          </p:cNvPicPr>
          <p:nvPr/>
        </p:nvPicPr>
        <p:blipFill>
          <a:blip r:embed="rId1">
            <a:alphaModFix amt="87000"/>
          </a:blip>
          <a:srcRect t="6012" b="6012"/>
          <a:stretch>
            <a:fillRect/>
          </a:stretch>
        </p:blipFill>
        <p:spPr>
          <a:xfrm>
            <a:off x="5850255" y="1395730"/>
            <a:ext cx="5867400" cy="2212340"/>
          </a:xfrm>
          <a:prstGeom prst="rect">
            <a:avLst/>
          </a:prstGeom>
        </p:spPr>
      </p:pic>
      <p:pic>
        <p:nvPicPr>
          <p:cNvPr id="16" name="Image 1" descr="https://kimi-img.moonshot.cn/pub/slides/slides_tmpl/image/25-09-04-14:55:10-d2sjfjm1bb2p4onbq0b0.png"/>
          <p:cNvPicPr>
            <a:picLocks noChangeAspect="1"/>
          </p:cNvPicPr>
          <p:nvPr/>
        </p:nvPicPr>
        <p:blipFill>
          <a:blip r:embed="rId2">
            <a:alphaModFix amt="95000"/>
          </a:blip>
          <a:srcRect t="4674" b="4674"/>
          <a:stretch>
            <a:fillRect/>
          </a:stretch>
        </p:blipFill>
        <p:spPr>
          <a:xfrm>
            <a:off x="4523740" y="3880485"/>
            <a:ext cx="4408805" cy="2233930"/>
          </a:xfrm>
          <a:prstGeom prst="rect">
            <a:avLst/>
          </a:prstGeom>
        </p:spPr>
      </p:pic>
      <p:sp>
        <p:nvSpPr>
          <p:cNvPr id="17" name="Shape 13"/>
          <p:cNvSpPr/>
          <p:nvPr/>
        </p:nvSpPr>
        <p:spPr>
          <a:xfrm rot="10800000">
            <a:off x="4581525" y="3308985"/>
            <a:ext cx="6776085" cy="650240"/>
          </a:xfrm>
          <a:prstGeom prst="roundRect">
            <a:avLst>
              <a:gd name="adj" fmla="val 50000"/>
            </a:avLst>
          </a:prstGeom>
          <a:gradFill flip="none" rotWithShape="1">
            <a:gsLst>
              <a:gs pos="0">
                <a:srgbClr val="D1DCF2">
                  <a:alpha val="0"/>
                </a:srgbClr>
              </a:gs>
              <a:gs pos="22000">
                <a:srgbClr val="6389D3">
                  <a:alpha val="0"/>
                </a:srgbClr>
              </a:gs>
              <a:gs pos="69000">
                <a:srgbClr val="6389D3">
                  <a:alpha val="31000"/>
                </a:srgbClr>
              </a:gs>
              <a:gs pos="95000">
                <a:srgbClr val="6389D3">
                  <a:alpha val="68000"/>
                </a:srgbClr>
              </a:gs>
              <a:gs pos="100000">
                <a:srgbClr val="6389D3">
                  <a:alpha val="68000"/>
                </a:srgbClr>
              </a:gs>
            </a:gsLst>
            <a:lin ang="0" scaled="1"/>
          </a:gradFill>
        </p:spPr>
      </p:sp>
      <p:sp>
        <p:nvSpPr>
          <p:cNvPr id="18" name="Text 14"/>
          <p:cNvSpPr/>
          <p:nvPr/>
        </p:nvSpPr>
        <p:spPr>
          <a:xfrm rot="10800000">
            <a:off x="4581525" y="3308985"/>
            <a:ext cx="6776085" cy="650240"/>
          </a:xfrm>
          <a:prstGeom prst="rect">
            <a:avLst/>
          </a:prstGeom>
          <a:noFill/>
        </p:spPr>
        <p:txBody>
          <a:bodyPr wrap="square" lIns="45720" tIns="91440" rIns="91440" bIns="45720" rtlCol="0" anchor="ctr"/>
          <a:lstStyle/>
          <a:p>
            <a:pPr>
              <a:lnSpc>
                <a:spcPct val="100000"/>
              </a:lnSpc>
            </a:pPr>
            <a:endParaRPr lang="en-US" sz="1600" dirty="0"/>
          </a:p>
        </p:txBody>
      </p:sp>
      <p:sp>
        <p:nvSpPr>
          <p:cNvPr id="19" name="Shape 15"/>
          <p:cNvSpPr/>
          <p:nvPr/>
        </p:nvSpPr>
        <p:spPr>
          <a:xfrm>
            <a:off x="502920" y="1299845"/>
            <a:ext cx="5850890" cy="1939290"/>
          </a:xfrm>
          <a:prstGeom prst="roundRect">
            <a:avLst>
              <a:gd name="adj" fmla="val 7137"/>
            </a:avLst>
          </a:prstGeom>
          <a:solidFill>
            <a:srgbClr val="FFFFFF"/>
          </a:solidFill>
          <a:effectLst>
            <a:outerShdw blurRad="152400" dist="26941" dir="2700000" algn="bl" rotWithShape="0">
              <a:srgbClr val="000000">
                <a:alpha val="10980"/>
              </a:srgbClr>
            </a:outerShdw>
          </a:effectLst>
        </p:spPr>
      </p:sp>
      <p:sp>
        <p:nvSpPr>
          <p:cNvPr id="20" name="Text 16"/>
          <p:cNvSpPr/>
          <p:nvPr/>
        </p:nvSpPr>
        <p:spPr>
          <a:xfrm>
            <a:off x="502920" y="1390650"/>
            <a:ext cx="5850890" cy="1939290"/>
          </a:xfrm>
          <a:prstGeom prst="rect">
            <a:avLst/>
          </a:prstGeom>
          <a:noFill/>
        </p:spPr>
        <p:txBody>
          <a:bodyPr wrap="square" lIns="45720" tIns="91440" rIns="91440" bIns="45720" rtlCol="0" anchor="ctr"/>
          <a:lstStyle/>
          <a:p>
            <a:pPr>
              <a:lnSpc>
                <a:spcPct val="100000"/>
              </a:lnSpc>
            </a:pPr>
            <a:endParaRPr lang="en-US" sz="1600" dirty="0"/>
          </a:p>
        </p:txBody>
      </p:sp>
      <p:sp>
        <p:nvSpPr>
          <p:cNvPr id="21" name="Shape 17"/>
          <p:cNvSpPr/>
          <p:nvPr/>
        </p:nvSpPr>
        <p:spPr>
          <a:xfrm>
            <a:off x="7339330" y="3754755"/>
            <a:ext cx="4377690" cy="2568575"/>
          </a:xfrm>
          <a:prstGeom prst="roundRect">
            <a:avLst>
              <a:gd name="adj" fmla="val 7137"/>
            </a:avLst>
          </a:prstGeom>
          <a:solidFill>
            <a:srgbClr val="FFFFFF"/>
          </a:solidFill>
          <a:effectLst>
            <a:outerShdw blurRad="152400" dist="26941" dir="2700000" algn="bl" rotWithShape="0">
              <a:srgbClr val="000000">
                <a:alpha val="10980"/>
              </a:srgbClr>
            </a:outerShdw>
          </a:effectLst>
        </p:spPr>
      </p:sp>
      <p:sp>
        <p:nvSpPr>
          <p:cNvPr id="22" name="Text 18"/>
          <p:cNvSpPr/>
          <p:nvPr/>
        </p:nvSpPr>
        <p:spPr>
          <a:xfrm>
            <a:off x="7339330" y="3754755"/>
            <a:ext cx="4377690" cy="2568575"/>
          </a:xfrm>
          <a:prstGeom prst="rect">
            <a:avLst/>
          </a:prstGeom>
          <a:noFill/>
        </p:spPr>
        <p:txBody>
          <a:bodyPr wrap="square" lIns="45720" tIns="91440" rIns="91440" bIns="45720" rtlCol="0" anchor="ctr"/>
          <a:lstStyle/>
          <a:p>
            <a:pPr>
              <a:lnSpc>
                <a:spcPct val="100000"/>
              </a:lnSpc>
            </a:pPr>
            <a:endParaRPr lang="en-US" sz="1600" dirty="0"/>
          </a:p>
        </p:txBody>
      </p:sp>
      <p:pic>
        <p:nvPicPr>
          <p:cNvPr id="23" name="Image 2" descr="https://kimi-img.moonshot.cn/pub/slides/slides_tmpl/image/25-09-04-14:54:56-d2sjfg61bb2p4onbpvp0.png"/>
          <p:cNvPicPr>
            <a:picLocks noChangeAspect="1"/>
          </p:cNvPicPr>
          <p:nvPr/>
        </p:nvPicPr>
        <p:blipFill>
          <a:blip r:embed="rId3">
            <a:alphaModFix amt="74000"/>
          </a:blip>
          <a:srcRect l="128" t="49493" r="-128" b="-2787"/>
          <a:stretch>
            <a:fillRect/>
          </a:stretch>
        </p:blipFill>
        <p:spPr>
          <a:xfrm>
            <a:off x="5582285" y="0"/>
            <a:ext cx="6927215" cy="2076450"/>
          </a:xfrm>
          <a:prstGeom prst="rect">
            <a:avLst/>
          </a:prstGeom>
        </p:spPr>
      </p:pic>
      <p:sp>
        <p:nvSpPr>
          <p:cNvPr id="24" name="Text 19"/>
          <p:cNvSpPr/>
          <p:nvPr/>
        </p:nvSpPr>
        <p:spPr>
          <a:xfrm>
            <a:off x="748839" y="1395563"/>
            <a:ext cx="5899611" cy="368329"/>
          </a:xfrm>
          <a:prstGeom prst="rect">
            <a:avLst/>
          </a:prstGeom>
          <a:noFill/>
        </p:spPr>
        <p:txBody>
          <a:bodyPr wrap="square" lIns="91440" tIns="45720" rIns="91440" bIns="45720" rtlCol="0" anchor="t"/>
          <a:lstStyle/>
          <a:p>
            <a:pP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前端层</a:t>
            </a:r>
            <a:endParaRPr lang="en-US" sz="1600" dirty="0"/>
          </a:p>
        </p:txBody>
      </p:sp>
      <p:sp>
        <p:nvSpPr>
          <p:cNvPr id="25" name="Text 20"/>
          <p:cNvSpPr/>
          <p:nvPr/>
        </p:nvSpPr>
        <p:spPr>
          <a:xfrm>
            <a:off x="672465" y="1816100"/>
            <a:ext cx="5395595" cy="1279922"/>
          </a:xfrm>
          <a:prstGeom prst="rect">
            <a:avLst/>
          </a:prstGeom>
          <a:noFill/>
        </p:spPr>
        <p:txBody>
          <a:bodyPr wrap="square" lIns="91440" tIns="45720" rIns="91440" bIns="45720" rtlCol="0" anchor="t">
            <a:spAutoFit/>
          </a:bodyPr>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前端层包括PC管理界面和移动端报表。PC管理界面采用Thymeleaf结合Bootstrap，实现功能丰富、交互流畅的管理操作。移动端报表通过响应式设计和Chart.js，确保在不同设备上都能提供清晰直观的数据展示。</a:t>
            </a:r>
            <a:endParaRPr lang="en-US" sz="1600" dirty="0"/>
          </a:p>
        </p:txBody>
      </p:sp>
      <p:sp>
        <p:nvSpPr>
          <p:cNvPr id="26" name="Text 21"/>
          <p:cNvSpPr/>
          <p:nvPr/>
        </p:nvSpPr>
        <p:spPr>
          <a:xfrm>
            <a:off x="609600" y="3703320"/>
            <a:ext cx="3708400" cy="538480"/>
          </a:xfrm>
          <a:prstGeom prst="rect">
            <a:avLst/>
          </a:prstGeom>
          <a:noFill/>
        </p:spPr>
        <p:txBody>
          <a:bodyPr wrap="square" lIns="91440" tIns="45720" rIns="91440" bIns="45720" rtlCol="0" anchor="t"/>
          <a:lstStyle/>
          <a:p>
            <a:pPr algn="ct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应用层</a:t>
            </a:r>
            <a:endParaRPr lang="en-US" sz="1600" dirty="0"/>
          </a:p>
        </p:txBody>
      </p:sp>
      <p:sp>
        <p:nvSpPr>
          <p:cNvPr id="27" name="Text 22"/>
          <p:cNvSpPr/>
          <p:nvPr/>
        </p:nvSpPr>
        <p:spPr>
          <a:xfrm>
            <a:off x="609600" y="3975100"/>
            <a:ext cx="3667760" cy="2239963"/>
          </a:xfrm>
          <a:prstGeom prst="rect">
            <a:avLst/>
          </a:prstGeom>
          <a:noFill/>
        </p:spPr>
        <p:txBody>
          <a:bodyPr wrap="square" lIns="91440" tIns="45720" rIns="91440" bIns="45720" rtlCol="0" anchor="t">
            <a:spAutoFit/>
          </a:bodyPr>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应用层基于Spring Boot构建，包含控制器层、业务服务层、数据访问层和配置层。控制器层通过@RestController注解实现接口交互；业务服务层处理核心业务逻辑；数据访问层使用@Repository注解操作数据库；配置层通过@Configuration注解管理各类配置，确保系统的稳定运行。</a:t>
            </a:r>
            <a:endParaRPr lang="en-US" sz="1600" dirty="0"/>
          </a:p>
        </p:txBody>
      </p:sp>
      <p:sp>
        <p:nvSpPr>
          <p:cNvPr id="28" name="Text 23"/>
          <p:cNvSpPr/>
          <p:nvPr/>
        </p:nvSpPr>
        <p:spPr>
          <a:xfrm>
            <a:off x="7425690" y="3855720"/>
            <a:ext cx="3708400" cy="538480"/>
          </a:xfrm>
          <a:prstGeom prst="rect">
            <a:avLst/>
          </a:prstGeom>
          <a:noFill/>
        </p:spPr>
        <p:txBody>
          <a:bodyPr wrap="square" lIns="91440" tIns="45720" rIns="91440" bIns="45720" rtlCol="0" anchor="ctr"/>
          <a:lstStyle/>
          <a:p>
            <a:pPr algn="ct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数据层</a:t>
            </a:r>
            <a:endParaRPr lang="en-US" sz="1600" dirty="0"/>
          </a:p>
        </p:txBody>
      </p:sp>
      <p:sp>
        <p:nvSpPr>
          <p:cNvPr id="29" name="Text 24"/>
          <p:cNvSpPr/>
          <p:nvPr/>
        </p:nvSpPr>
        <p:spPr>
          <a:xfrm>
            <a:off x="7483475" y="4326255"/>
            <a:ext cx="4121150" cy="1706880"/>
          </a:xfrm>
          <a:prstGeom prst="rect">
            <a:avLst/>
          </a:prstGeom>
          <a:noFill/>
        </p:spPr>
        <p:txBody>
          <a:bodyPr wrap="square" lIns="91440" tIns="45720" rIns="91440" bIns="45720" rtlCol="0" anchor="t">
            <a:spAutoFit/>
          </a:bodyPr>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数据层涵盖MySQL主库、PostgreSQL备份库和SQL Server备用库。MySQL主库负责实时数据操作</a:t>
            </a:r>
            <a:r>
              <a:rPr lang="zh-CN" alt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a:t>
            </a:r>
            <a:r>
              <a:rPr lang="zh-CN" altLang="en-US" sz="1400" dirty="0">
                <a:solidFill>
                  <a:srgbClr val="262626"/>
                </a:solidFill>
                <a:highlight>
                  <a:srgbClr val="FFFF00"/>
                </a:highlight>
                <a:latin typeface="MiSans" panose="00000500000000000000" pitchFamily="34" charset="-122"/>
                <a:ea typeface="MiSans" panose="00000500000000000000" pitchFamily="34" charset="-122"/>
                <a:cs typeface="MiSans" panose="00000500000000000000" pitchFamily="34" charset="-120"/>
              </a:rPr>
              <a:t>采用三个独立的</a:t>
            </a:r>
            <a:r>
              <a:rPr lang="en-US" altLang="zh-CN" sz="1400" dirty="0">
                <a:solidFill>
                  <a:srgbClr val="262626"/>
                </a:solidFill>
                <a:highlight>
                  <a:srgbClr val="FFFF00"/>
                </a:highlight>
                <a:latin typeface="MiSans" panose="00000500000000000000" pitchFamily="34" charset="-122"/>
                <a:ea typeface="MiSans" panose="00000500000000000000" pitchFamily="34" charset="-122"/>
                <a:cs typeface="MiSans" panose="00000500000000000000" pitchFamily="34" charset="-120"/>
              </a:rPr>
              <a:t>JdbcTemplate</a:t>
            </a:r>
            <a:r>
              <a:rPr lang="zh-CN" altLang="en-US" sz="1400" dirty="0">
                <a:solidFill>
                  <a:srgbClr val="262626"/>
                </a:solidFill>
                <a:highlight>
                  <a:srgbClr val="FFFF00"/>
                </a:highlight>
                <a:latin typeface="MiSans" panose="00000500000000000000" pitchFamily="34" charset="-122"/>
                <a:ea typeface="MiSans" panose="00000500000000000000" pitchFamily="34" charset="-122"/>
                <a:cs typeface="MiSans" panose="00000500000000000000" pitchFamily="34" charset="-120"/>
              </a:rPr>
              <a:t>直接操作原生</a:t>
            </a:r>
            <a:r>
              <a:rPr lang="en-US" altLang="zh-CN" sz="1400" dirty="0">
                <a:solidFill>
                  <a:srgbClr val="262626"/>
                </a:solidFill>
                <a:highlight>
                  <a:srgbClr val="FFFF00"/>
                </a:highlight>
                <a:latin typeface="MiSans" panose="00000500000000000000" pitchFamily="34" charset="-122"/>
                <a:ea typeface="MiSans" panose="00000500000000000000" pitchFamily="34" charset="-122"/>
                <a:cs typeface="MiSans" panose="00000500000000000000" pitchFamily="34" charset="-120"/>
              </a:rPr>
              <a:t>SQL</a:t>
            </a:r>
            <a:r>
              <a:rPr lang="zh-CN" alt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，而不是依赖中间件，这样可控性最强，性能最优</a:t>
            </a: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56285" y="2764790"/>
            <a:ext cx="2555875"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19" name="Rectangle 18"/>
          <p:cNvSpPr/>
          <p:nvPr/>
        </p:nvSpPr>
        <p:spPr>
          <a:xfrm>
            <a:off x="678307" y="3254209"/>
            <a:ext cx="4765548" cy="1639570"/>
          </a:xfrm>
          <a:prstGeom prst="rect">
            <a:avLst/>
          </a:prstGeom>
        </p:spPr>
        <p:txBody>
          <a:bodyPr wrap="square">
            <a:spAutoFit/>
          </a:bodyPr>
          <a:lstStyle/>
          <a:p>
            <a:pPr>
              <a:lnSpc>
                <a:spcPct val="120000"/>
              </a:lnSpc>
            </a:pPr>
            <a:r>
              <a:rPr lang="zh-CN" altLang="en-US" sz="1200" dirty="0">
                <a:solidFill>
                  <a:schemeClr val="bg1"/>
                </a:solidFill>
                <a:sym typeface="+mn-ea"/>
              </a:rPr>
              <a:t>用户可以在投影仪或者计算机上可以将演示文稿打印出来制作成胶片</a:t>
            </a:r>
            <a:endParaRPr lang="zh-CN" altLang="en-US" sz="1200" dirty="0">
              <a:solidFill>
                <a:schemeClr val="bg1"/>
              </a:solidFill>
              <a:sym typeface="+mn-ea"/>
            </a:endParaRPr>
          </a:p>
          <a:p>
            <a:pPr>
              <a:lnSpc>
                <a:spcPct val="120000"/>
              </a:lnSpc>
            </a:pPr>
            <a:r>
              <a:rPr lang="zh-CN" altLang="en-US" sz="1200" dirty="0">
                <a:solidFill>
                  <a:schemeClr val="bg1"/>
                </a:solidFill>
                <a:sym typeface="+mn-ea"/>
              </a:rPr>
              <a:t>以便应用到更广泛的领域中</a:t>
            </a:r>
            <a:endParaRPr lang="zh-CN" altLang="en-US" sz="1200" dirty="0">
              <a:solidFill>
                <a:schemeClr val="bg1"/>
              </a:solidFill>
              <a:sym typeface="+mn-ea"/>
            </a:endParaRPr>
          </a:p>
          <a:p>
            <a:pPr>
              <a:lnSpc>
                <a:spcPct val="120000"/>
              </a:lnSpc>
            </a:pPr>
            <a:r>
              <a:rPr lang="zh-CN" altLang="en-US" sz="1200" dirty="0">
                <a:solidFill>
                  <a:schemeClr val="bg1"/>
                </a:solidFill>
                <a:sym typeface="+mn-ea"/>
              </a:rPr>
              <a:t>用户可以在投影仪或者计算机上可以将演示文稿打印出来制作成胶片</a:t>
            </a:r>
            <a:endParaRPr lang="zh-CN" altLang="en-US" sz="1200" dirty="0">
              <a:solidFill>
                <a:schemeClr val="bg1"/>
              </a:solidFill>
              <a:sym typeface="+mn-ea"/>
            </a:endParaRPr>
          </a:p>
          <a:p>
            <a:pPr>
              <a:lnSpc>
                <a:spcPct val="120000"/>
              </a:lnSpc>
            </a:pPr>
            <a:r>
              <a:rPr lang="zh-CN" altLang="en-US" sz="1200" dirty="0">
                <a:solidFill>
                  <a:schemeClr val="bg1"/>
                </a:solidFill>
                <a:sym typeface="+mn-ea"/>
              </a:rPr>
              <a:t>以便应用到更广泛的领域中</a:t>
            </a:r>
            <a:endParaRPr kumimoji="0" lang="en-US" sz="1200" b="0" i="0" u="none" strike="noStrike" kern="1200" cap="none" spc="0" normalizeH="0" baseline="0" noProof="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r>
              <a:rPr lang="zh-CN" altLang="en-US" sz="1200" dirty="0">
                <a:solidFill>
                  <a:schemeClr val="bg1"/>
                </a:solidFill>
                <a:sym typeface="+mn-ea"/>
              </a:rPr>
              <a:t>用户可以在投影仪或者计算机上可以将演示文稿打印出来制作成胶片</a:t>
            </a:r>
            <a:endParaRPr lang="zh-CN" altLang="en-US" sz="1200" dirty="0">
              <a:solidFill>
                <a:schemeClr val="bg1"/>
              </a:solidFill>
              <a:sym typeface="+mn-ea"/>
            </a:endParaRPr>
          </a:p>
          <a:p>
            <a:pPr>
              <a:lnSpc>
                <a:spcPct val="120000"/>
              </a:lnSpc>
            </a:pPr>
            <a:r>
              <a:rPr lang="zh-CN" altLang="en-US" sz="1200" dirty="0">
                <a:solidFill>
                  <a:schemeClr val="bg1"/>
                </a:solidFill>
                <a:sym typeface="+mn-ea"/>
              </a:rPr>
              <a:t>以便应用到更广泛的领域中</a:t>
            </a:r>
            <a:endParaRPr kumimoji="0" lang="en-US" sz="1200" b="0" i="0" u="none" strike="noStrike" kern="1200" cap="none" spc="0" normalizeH="0" baseline="0" noProof="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endParaRPr kumimoji="0" lang="en-US" altLang="en-US" sz="1200"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grpSp>
        <p:nvGrpSpPr>
          <p:cNvPr id="9" name="组合 8"/>
          <p:cNvGrpSpPr/>
          <p:nvPr/>
        </p:nvGrpSpPr>
        <p:grpSpPr>
          <a:xfrm>
            <a:off x="0" y="331470"/>
            <a:ext cx="5256530" cy="907415"/>
            <a:chOff x="0" y="522"/>
            <a:chExt cx="8278" cy="1429"/>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2" name="矩形 1"/>
            <p:cNvSpPr/>
            <p:nvPr/>
          </p:nvSpPr>
          <p:spPr>
            <a:xfrm>
              <a:off x="2898" y="547"/>
              <a:ext cx="5380" cy="1404"/>
            </a:xfrm>
            <a:prstGeom prst="rect">
              <a:avLst/>
            </a:prstGeom>
          </p:spPr>
          <p:txBody>
            <a:bodyPr wrap="squar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总</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体</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架</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构</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设</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计</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a:p>
              <a:pPr algn="r" defTabSz="685800">
                <a:defRPr/>
              </a:pPr>
              <a:r>
                <a:rPr lang="en-US" altLang="zh-CN" sz="2400" b="1" dirty="0">
                  <a:solidFill>
                    <a:srgbClr val="293C54"/>
                  </a:solidFill>
                  <a:latin typeface="Arial" panose="020B0604020202020204"/>
                  <a:ea typeface="微软雅黑" panose="020B0503020204020204" charset="-122"/>
                  <a:cs typeface="Gisha" panose="020B0502040204020203" pitchFamily="34" charset="-79"/>
                  <a:sym typeface="+mn-ea"/>
                </a:rPr>
                <a:t>——</a:t>
              </a:r>
              <a:r>
                <a:rPr lang="zh-CN" altLang="en-US" sz="2400" b="1" dirty="0">
                  <a:solidFill>
                    <a:srgbClr val="293C54"/>
                  </a:solidFill>
                  <a:latin typeface="Arial" panose="020B0604020202020204"/>
                  <a:ea typeface="微软雅黑" panose="020B0503020204020204" charset="-122"/>
                  <a:cs typeface="Gisha" panose="020B0502040204020203" pitchFamily="34" charset="-79"/>
                  <a:sym typeface="+mn-ea"/>
                </a:rPr>
                <a:t>三层架构图</a:t>
              </a:r>
              <a:endParaRPr lang="zh-CN" altLang="en-US" sz="24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13" name="矩形 12"/>
            <p:cNvSpPr/>
            <p:nvPr/>
          </p:nvSpPr>
          <p:spPr>
            <a:xfrm>
              <a:off x="0" y="522"/>
              <a:ext cx="869"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a:t>
              </a:r>
              <a:r>
                <a:rPr lang="en-US" sz="2800" dirty="0">
                  <a:solidFill>
                    <a:schemeClr val="bg1"/>
                  </a:solidFill>
                  <a:latin typeface="Impact" panose="020B0806030902050204" pitchFamily="34" charset="0"/>
                  <a:ea typeface="微软雅黑" panose="020B0503020204020204" charset="-122"/>
                  <a:cs typeface="Gisha" panose="020B0502040204020203" pitchFamily="34" charset="-79"/>
                </a:rPr>
                <a:t>2</a:t>
              </a:r>
              <a:endParaRPr lang="en-US" sz="2800" dirty="0">
                <a:solidFill>
                  <a:schemeClr val="bg1"/>
                </a:solidFill>
              </a:endParaRPr>
            </a:p>
          </p:txBody>
        </p:sp>
        <p:pic>
          <p:nvPicPr>
            <p:cNvPr id="21" name="图片 20" descr="微信图片_20200425233959"/>
            <p:cNvPicPr>
              <a:picLocks noChangeAspect="1"/>
            </p:cNvPicPr>
            <p:nvPr/>
          </p:nvPicPr>
          <p:blipFill>
            <a:blip r:embed="rId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pic>
        <p:nvPicPr>
          <p:cNvPr id="17" name="图片 16" descr="C:\Users\dell\Desktop\余若冰\校庆ppt\20200130CSU标志建筑风景\20200130CSU标志建筑风景\南校\19268838493059787.jpg19268838493059787"/>
          <p:cNvPicPr>
            <a:picLocks noChangeAspect="1"/>
          </p:cNvPicPr>
          <p:nvPr/>
        </p:nvPicPr>
        <p:blipFill>
          <a:blip r:embed="rId2">
            <a:alphaModFix amt="60000"/>
            <a:lum bright="24000" contrast="-12000"/>
          </a:blip>
          <a:srcRect/>
          <a:stretch>
            <a:fillRect/>
          </a:stretch>
        </p:blipFill>
        <p:spPr>
          <a:xfrm>
            <a:off x="0" y="1441450"/>
            <a:ext cx="5615940" cy="4099560"/>
          </a:xfrm>
          <a:prstGeom prst="rect">
            <a:avLst/>
          </a:prstGeom>
        </p:spPr>
      </p:pic>
      <p:pic>
        <p:nvPicPr>
          <p:cNvPr id="16" name="图片 15" descr="deepseek_mermaid_20251210_1b6900"/>
          <p:cNvPicPr>
            <a:picLocks noChangeAspect="1"/>
          </p:cNvPicPr>
          <p:nvPr/>
        </p:nvPicPr>
        <p:blipFill>
          <a:blip r:embed="rId3"/>
          <a:srcRect l="4656" t="1667"/>
          <a:stretch>
            <a:fillRect/>
          </a:stretch>
        </p:blipFill>
        <p:spPr>
          <a:xfrm>
            <a:off x="5276850" y="114300"/>
            <a:ext cx="6761480" cy="6743700"/>
          </a:xfrm>
          <a:prstGeom prst="rect">
            <a:avLst/>
          </a:prstGeom>
        </p:spPr>
      </p:pic>
    </p:spTree>
    <p:custDataLst>
      <p:tags r:id="rId4"/>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ttps://kimi-img.moonshot.cn/pub/slides/slides_tmpl/image/25-09-04-14:54:57-d2sjfge1bb2p4onbpvr0.png"/>
          <p:cNvPicPr>
            <a:picLocks noChangeAspect="1"/>
          </p:cNvPicPr>
          <p:nvPr>
            <p:custDataLst>
              <p:tags r:id="rId1"/>
            </p:custDataLst>
          </p:nvPr>
        </p:nvPicPr>
        <p:blipFill>
          <a:blip r:embed="rId2">
            <a:alphaModFix amt="83000"/>
          </a:blip>
          <a:srcRect l="25401" t="16194" r="59766" b="26759"/>
          <a:stretch>
            <a:fillRect/>
          </a:stretch>
        </p:blipFill>
        <p:spPr>
          <a:xfrm>
            <a:off x="10478135" y="1482090"/>
            <a:ext cx="1723390" cy="3728085"/>
          </a:xfrm>
          <a:prstGeom prst="rect">
            <a:avLst/>
          </a:prstGeom>
        </p:spPr>
      </p:pic>
      <p:pic>
        <p:nvPicPr>
          <p:cNvPr id="3" name="Image 1" descr="https://kimi-img.moonshot.cn/pub/slides/slides_tmpl/image/25-09-04-14:54:56-d2sjfg61bb2p4onbpvpg.png"/>
          <p:cNvPicPr>
            <a:picLocks noChangeAspect="1"/>
          </p:cNvPicPr>
          <p:nvPr>
            <p:custDataLst>
              <p:tags r:id="rId3"/>
            </p:custDataLst>
          </p:nvPr>
        </p:nvPicPr>
        <p:blipFill>
          <a:blip r:embed="rId4"/>
          <a:srcRect l="20060" t="9520" b="9520"/>
          <a:stretch>
            <a:fillRect/>
          </a:stretch>
        </p:blipFill>
        <p:spPr>
          <a:xfrm flipH="1">
            <a:off x="1920875" y="0"/>
            <a:ext cx="6436360" cy="6858000"/>
          </a:xfrm>
          <a:prstGeom prst="rect">
            <a:avLst/>
          </a:prstGeom>
        </p:spPr>
      </p:pic>
      <p:sp>
        <p:nvSpPr>
          <p:cNvPr id="4" name="Text 0"/>
          <p:cNvSpPr/>
          <p:nvPr/>
        </p:nvSpPr>
        <p:spPr>
          <a:xfrm rot="5400000">
            <a:off x="-2324735" y="3696970"/>
            <a:ext cx="0" cy="675005"/>
          </a:xfrm>
          <a:prstGeom prst="rect">
            <a:avLst/>
          </a:prstGeom>
          <a:noFill/>
        </p:spPr>
        <p:txBody>
          <a:bodyPr vert="eaVert" wrap="square" lIns="91440" tIns="45720" rIns="91440" bIns="45720" rtlCol="0" anchor="t">
            <a:spAutoFit/>
          </a:bodyPr>
          <a:lstStyle/>
          <a:p>
            <a:pPr>
              <a:lnSpc>
                <a:spcPct val="100000"/>
              </a:lnSpc>
            </a:pPr>
            <a:r>
              <a:rPr lang="en-US" sz="1800" dirty="0">
                <a:solidFill>
                  <a:srgbClr val="000000"/>
                </a:solidFill>
                <a:latin typeface="Arial" panose="020B0604020202020204" pitchFamily="34" charset="0"/>
                <a:ea typeface="Arial" panose="020B0604020202020204" pitchFamily="34" charset="-122"/>
                <a:cs typeface="Arial" panose="020B0604020202020204" pitchFamily="34" charset="-120"/>
              </a:rPr>
              <a:t> </a:t>
            </a:r>
            <a:endParaRPr lang="en-US" sz="1600" dirty="0"/>
          </a:p>
        </p:txBody>
      </p:sp>
      <p:sp>
        <p:nvSpPr>
          <p:cNvPr id="5" name="Shape 1"/>
          <p:cNvSpPr/>
          <p:nvPr>
            <p:custDataLst>
              <p:tags r:id="rId5"/>
            </p:custDataLst>
          </p:nvPr>
        </p:nvSpPr>
        <p:spPr>
          <a:xfrm>
            <a:off x="11485880" y="49466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6" name="Text 2"/>
          <p:cNvSpPr/>
          <p:nvPr/>
        </p:nvSpPr>
        <p:spPr>
          <a:xfrm>
            <a:off x="11485880" y="49466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3"/>
          <p:cNvSpPr/>
          <p:nvPr>
            <p:custDataLst>
              <p:tags r:id="rId6"/>
            </p:custDataLst>
          </p:nvPr>
        </p:nvSpPr>
        <p:spPr>
          <a:xfrm>
            <a:off x="11816080" y="494665"/>
            <a:ext cx="134620" cy="134620"/>
          </a:xfrm>
          <a:prstGeom prst="ellipse">
            <a:avLst/>
          </a:prstGeom>
          <a:solidFill>
            <a:srgbClr val="000000">
              <a:alpha val="0"/>
            </a:srgbClr>
          </a:solidFill>
          <a:ln w="19050">
            <a:gradFill flip="none" rotWithShape="1">
              <a:gsLst>
                <a:gs pos="0">
                  <a:srgbClr val="4874CB"/>
                </a:gs>
                <a:gs pos="100000">
                  <a:srgbClr val="4874CB">
                    <a:alpha val="29000"/>
                  </a:srgbClr>
                </a:gs>
              </a:gsLst>
              <a:lin ang="2700000" scaled="1"/>
            </a:gradFill>
            <a:prstDash val="solid"/>
          </a:ln>
        </p:spPr>
      </p:sp>
      <p:sp>
        <p:nvSpPr>
          <p:cNvPr id="8" name="Text 4"/>
          <p:cNvSpPr/>
          <p:nvPr/>
        </p:nvSpPr>
        <p:spPr>
          <a:xfrm>
            <a:off x="11816080" y="49466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5"/>
          <p:cNvSpPr/>
          <p:nvPr>
            <p:custDataLst>
              <p:tags r:id="rId7"/>
            </p:custDataLst>
          </p:nvPr>
        </p:nvSpPr>
        <p:spPr>
          <a:xfrm>
            <a:off x="11650980" y="49466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0" name="Text 6"/>
          <p:cNvSpPr/>
          <p:nvPr/>
        </p:nvSpPr>
        <p:spPr>
          <a:xfrm>
            <a:off x="11650980" y="49466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1" name="Text 7"/>
          <p:cNvSpPr/>
          <p:nvPr/>
        </p:nvSpPr>
        <p:spPr>
          <a:xfrm>
            <a:off x="788035" y="595630"/>
            <a:ext cx="440134" cy="6069330"/>
          </a:xfrm>
          <a:prstGeom prst="rect">
            <a:avLst/>
          </a:prstGeom>
          <a:noFill/>
        </p:spPr>
        <p:txBody>
          <a:bodyPr vert="eaVert" wrap="square" lIns="91440" tIns="45720" rIns="91440" bIns="45720" rtlCol="0" anchor="t">
            <a:spAutoFit/>
          </a:bodyPr>
          <a:lstStyle/>
          <a:p>
            <a:pPr>
              <a:lnSpc>
                <a:spcPct val="100000"/>
              </a:lnSpc>
            </a:pPr>
            <a:r>
              <a:rPr lang="en-US" sz="2600" b="1" dirty="0">
                <a:solidFill>
                  <a:srgbClr val="3869A6"/>
                </a:solidFill>
                <a:latin typeface="MiSans" panose="00000500000000000000" pitchFamily="34" charset="-122"/>
                <a:ea typeface="MiSans" panose="00000500000000000000" pitchFamily="34" charset="-122"/>
                <a:cs typeface="MiSans" panose="00000500000000000000" pitchFamily="34" charset="-120"/>
              </a:rPr>
              <a:t>数据库设计范式与实体关系</a:t>
            </a:r>
            <a:endParaRPr lang="en-US" sz="1600" dirty="0"/>
          </a:p>
        </p:txBody>
      </p:sp>
      <p:sp>
        <p:nvSpPr>
          <p:cNvPr id="12" name="Text 8"/>
          <p:cNvSpPr/>
          <p:nvPr/>
        </p:nvSpPr>
        <p:spPr>
          <a:xfrm>
            <a:off x="1052195" y="130810"/>
            <a:ext cx="4064000" cy="174625"/>
          </a:xfrm>
          <a:prstGeom prst="rect">
            <a:avLst/>
          </a:prstGeom>
          <a:noFill/>
        </p:spPr>
        <p:txBody>
          <a:bodyPr wrap="square" lIns="91440" tIns="45720" rIns="91440" bIns="45720" rtlCol="0" anchor="t">
            <a:spAutoFit/>
          </a:bodyPr>
          <a:lstStyle/>
          <a:p>
            <a:pPr>
              <a:lnSpc>
                <a:spcPct val="100000"/>
              </a:lnSpc>
            </a:pPr>
            <a:r>
              <a:rPr lang="en-US" sz="1800" dirty="0">
                <a:solidFill>
                  <a:srgbClr val="000000"/>
                </a:solidFill>
                <a:latin typeface="Arial" panose="020B0604020202020204" pitchFamily="34" charset="0"/>
                <a:ea typeface="Arial" panose="020B0604020202020204" pitchFamily="34" charset="-122"/>
                <a:cs typeface="Arial" panose="020B0604020202020204" pitchFamily="34" charset="-120"/>
              </a:rPr>
              <a:t> </a:t>
            </a:r>
            <a:endParaRPr lang="en-US" sz="1600" dirty="0"/>
          </a:p>
        </p:txBody>
      </p:sp>
      <p:pic>
        <p:nvPicPr>
          <p:cNvPr id="13" name="Image 2" descr="https://kimi-img.moonshot.cn/pub/slides/slides_tmpl/image/25-09-04-14:54:55-d2sjffu1bb2p4onbpvlg.png"/>
          <p:cNvPicPr>
            <a:picLocks noChangeAspect="1"/>
          </p:cNvPicPr>
          <p:nvPr/>
        </p:nvPicPr>
        <p:blipFill>
          <a:blip r:embed="rId8">
            <a:duotone>
              <a:prstClr val="black"/>
              <a:srgbClr val="00B0F0">
                <a:tint val="45000"/>
                <a:satMod val="400000"/>
              </a:srgbClr>
            </a:duotone>
          </a:blip>
          <a:stretch>
            <a:fillRect/>
          </a:stretch>
        </p:blipFill>
        <p:spPr>
          <a:xfrm rot="1260000" flipH="1">
            <a:off x="-1464310" y="5602605"/>
            <a:ext cx="2905760" cy="1158240"/>
          </a:xfrm>
          <a:prstGeom prst="rect">
            <a:avLst/>
          </a:prstGeom>
        </p:spPr>
      </p:pic>
      <p:pic>
        <p:nvPicPr>
          <p:cNvPr id="14" name="Image 3" descr="https://kimi-img.moonshot.cn/pub/slides/slides_tmpl/image/25-09-04-14:55:09-d2sjfje1bb2p4onbq09g.png"/>
          <p:cNvPicPr>
            <a:picLocks noChangeAspect="1"/>
          </p:cNvPicPr>
          <p:nvPr/>
        </p:nvPicPr>
        <p:blipFill>
          <a:blip r:embed="rId9"/>
          <a:srcRect l="48779" t="49185" b="-3804"/>
          <a:stretch>
            <a:fillRect/>
          </a:stretch>
        </p:blipFill>
        <p:spPr>
          <a:xfrm>
            <a:off x="-27940" y="0"/>
            <a:ext cx="657860" cy="735965"/>
          </a:xfrm>
          <a:prstGeom prst="rect">
            <a:avLst/>
          </a:prstGeom>
        </p:spPr>
      </p:pic>
      <p:sp>
        <p:nvSpPr>
          <p:cNvPr id="15" name="Shape 9"/>
          <p:cNvSpPr/>
          <p:nvPr>
            <p:custDataLst>
              <p:tags r:id="rId10"/>
            </p:custDataLst>
          </p:nvPr>
        </p:nvSpPr>
        <p:spPr>
          <a:xfrm>
            <a:off x="2202815" y="831215"/>
            <a:ext cx="565785" cy="565785"/>
          </a:xfrm>
          <a:prstGeom prst="ellipse">
            <a:avLst/>
          </a:prstGeom>
          <a:gradFill flip="none" rotWithShape="1">
            <a:gsLst>
              <a:gs pos="0">
                <a:srgbClr val="678DD3">
                  <a:alpha val="53000"/>
                </a:srgbClr>
              </a:gs>
              <a:gs pos="43000">
                <a:srgbClr val="678DD3">
                  <a:alpha val="84000"/>
                </a:srgbClr>
              </a:gs>
              <a:gs pos="100000">
                <a:srgbClr val="678DD3">
                  <a:alpha val="50000"/>
                </a:srgbClr>
              </a:gs>
            </a:gsLst>
            <a:lin ang="6960000" scaled="1"/>
          </a:gradFill>
          <a:effectLst>
            <a:outerShdw blurRad="190500" dist="89803" dir="2700000" algn="bl" rotWithShape="0">
              <a:srgbClr val="4874CB">
                <a:alpha val="40000"/>
              </a:srgbClr>
            </a:outerShdw>
          </a:effectLst>
        </p:spPr>
      </p:sp>
      <p:sp>
        <p:nvSpPr>
          <p:cNvPr id="16" name="Text 10"/>
          <p:cNvSpPr/>
          <p:nvPr>
            <p:custDataLst>
              <p:tags r:id="rId11"/>
            </p:custDataLst>
          </p:nvPr>
        </p:nvSpPr>
        <p:spPr>
          <a:xfrm>
            <a:off x="2202815" y="831215"/>
            <a:ext cx="565785" cy="565785"/>
          </a:xfrm>
          <a:prstGeom prst="rect">
            <a:avLst/>
          </a:prstGeom>
          <a:noFill/>
        </p:spPr>
        <p:txBody>
          <a:bodyPr wrap="square" lIns="0" tIns="0" rIns="0" bIns="0" rtlCol="0" anchor="ct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1600" dirty="0"/>
          </a:p>
        </p:txBody>
      </p:sp>
      <p:sp>
        <p:nvSpPr>
          <p:cNvPr id="17" name="Text 11"/>
          <p:cNvSpPr/>
          <p:nvPr>
            <p:custDataLst>
              <p:tags r:id="rId12"/>
            </p:custDataLst>
          </p:nvPr>
        </p:nvSpPr>
        <p:spPr>
          <a:xfrm>
            <a:off x="2984500" y="628015"/>
            <a:ext cx="3710305" cy="572135"/>
          </a:xfrm>
          <a:prstGeom prst="rect">
            <a:avLst/>
          </a:prstGeom>
          <a:noFill/>
        </p:spPr>
        <p:txBody>
          <a:bodyPr wrap="square" lIns="0" tIns="0" rIns="0" bIns="0" rtlCol="0" anchor="ctr"/>
          <a:lstStyle/>
          <a:p>
            <a:pP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核心表设计</a:t>
            </a:r>
            <a:endParaRPr lang="en-US" sz="1600" dirty="0"/>
          </a:p>
        </p:txBody>
      </p:sp>
      <p:sp>
        <p:nvSpPr>
          <p:cNvPr id="18" name="Text 12"/>
          <p:cNvSpPr/>
          <p:nvPr>
            <p:custDataLst>
              <p:tags r:id="rId13"/>
            </p:custDataLst>
          </p:nvPr>
        </p:nvSpPr>
        <p:spPr>
          <a:xfrm>
            <a:off x="2984500" y="1136650"/>
            <a:ext cx="8688705" cy="1692275"/>
          </a:xfrm>
          <a:prstGeom prst="rect">
            <a:avLst/>
          </a:prstGeom>
          <a:noFill/>
        </p:spPr>
        <p:txBody>
          <a:bodyPr wrap="square" lIns="0" tIns="0" rIns="0" bIns="0" rtlCol="0" anchor="t"/>
          <a:lstStyle/>
          <a:p>
            <a:pP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设计了5张核心表：books（图书信息）、book_copies（副本）、users（用户）、borrow_records（借阅记录）和data_conflict（冲突记录）。每张表都经过精心设计，以满足图书管理系统的业务需求，确保数据的完整性和一致性。</a:t>
            </a:r>
            <a:endParaRPr lang="en-US" sz="1600" dirty="0"/>
          </a:p>
        </p:txBody>
      </p:sp>
      <p:sp>
        <p:nvSpPr>
          <p:cNvPr id="19" name="Shape 13"/>
          <p:cNvSpPr/>
          <p:nvPr>
            <p:custDataLst>
              <p:tags r:id="rId14"/>
            </p:custDataLst>
          </p:nvPr>
        </p:nvSpPr>
        <p:spPr>
          <a:xfrm>
            <a:off x="1663700" y="2267585"/>
            <a:ext cx="565785" cy="565785"/>
          </a:xfrm>
          <a:prstGeom prst="ellipse">
            <a:avLst/>
          </a:prstGeom>
          <a:gradFill flip="none" rotWithShape="1">
            <a:gsLst>
              <a:gs pos="0">
                <a:srgbClr val="678DD3">
                  <a:alpha val="53000"/>
                </a:srgbClr>
              </a:gs>
              <a:gs pos="43000">
                <a:srgbClr val="678DD3">
                  <a:alpha val="84000"/>
                </a:srgbClr>
              </a:gs>
              <a:gs pos="100000">
                <a:srgbClr val="678DD3">
                  <a:alpha val="50000"/>
                </a:srgbClr>
              </a:gs>
            </a:gsLst>
            <a:lin ang="6960000" scaled="1"/>
          </a:gradFill>
          <a:effectLst>
            <a:outerShdw blurRad="190500" dist="89803" dir="2700000" algn="bl" rotWithShape="0">
              <a:srgbClr val="4874CB">
                <a:alpha val="40000"/>
              </a:srgbClr>
            </a:outerShdw>
          </a:effectLst>
        </p:spPr>
      </p:sp>
      <p:sp>
        <p:nvSpPr>
          <p:cNvPr id="20" name="Text 14"/>
          <p:cNvSpPr/>
          <p:nvPr>
            <p:custDataLst>
              <p:tags r:id="rId15"/>
            </p:custDataLst>
          </p:nvPr>
        </p:nvSpPr>
        <p:spPr>
          <a:xfrm>
            <a:off x="1663700" y="2267585"/>
            <a:ext cx="565785" cy="565785"/>
          </a:xfrm>
          <a:prstGeom prst="rect">
            <a:avLst/>
          </a:prstGeom>
          <a:noFill/>
        </p:spPr>
        <p:txBody>
          <a:bodyPr wrap="square" lIns="0" tIns="0" rIns="0" bIns="0" rtlCol="0" anchor="ct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1600" dirty="0"/>
          </a:p>
        </p:txBody>
      </p:sp>
      <p:sp>
        <p:nvSpPr>
          <p:cNvPr id="21" name="Text 15"/>
          <p:cNvSpPr/>
          <p:nvPr>
            <p:custDataLst>
              <p:tags r:id="rId16"/>
            </p:custDataLst>
          </p:nvPr>
        </p:nvSpPr>
        <p:spPr>
          <a:xfrm>
            <a:off x="2512695" y="2052320"/>
            <a:ext cx="3655695" cy="572135"/>
          </a:xfrm>
          <a:prstGeom prst="rect">
            <a:avLst/>
          </a:prstGeom>
          <a:noFill/>
        </p:spPr>
        <p:txBody>
          <a:bodyPr wrap="square" lIns="0" tIns="0" rIns="0" bIns="0" rtlCol="0" anchor="ctr"/>
          <a:lstStyle/>
          <a:p>
            <a:pP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扩展表设计</a:t>
            </a:r>
            <a:endParaRPr lang="en-US" sz="1600" dirty="0"/>
          </a:p>
        </p:txBody>
      </p:sp>
      <p:sp>
        <p:nvSpPr>
          <p:cNvPr id="22" name="Text 16"/>
          <p:cNvSpPr/>
          <p:nvPr>
            <p:custDataLst>
              <p:tags r:id="rId17"/>
            </p:custDataLst>
          </p:nvPr>
        </p:nvSpPr>
        <p:spPr>
          <a:xfrm>
            <a:off x="2512695" y="2560955"/>
            <a:ext cx="8640445" cy="169227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除了核心表，还设计了sync_logs（同步日志）和books_update_log（更新日志）两张扩展表。sync_logs记录同步操作的详细信息，便于追溯和监控；books_update_log则记录图书信息的更新历史，为数据审计提供支持。</a:t>
            </a:r>
            <a:endParaRPr lang="en-US" sz="1600" dirty="0"/>
          </a:p>
        </p:txBody>
      </p:sp>
      <p:sp>
        <p:nvSpPr>
          <p:cNvPr id="23" name="Shape 17"/>
          <p:cNvSpPr/>
          <p:nvPr>
            <p:custDataLst>
              <p:tags r:id="rId18"/>
            </p:custDataLst>
          </p:nvPr>
        </p:nvSpPr>
        <p:spPr>
          <a:xfrm>
            <a:off x="1725930" y="3801745"/>
            <a:ext cx="565785" cy="565785"/>
          </a:xfrm>
          <a:prstGeom prst="ellipse">
            <a:avLst/>
          </a:prstGeom>
          <a:gradFill flip="none" rotWithShape="1">
            <a:gsLst>
              <a:gs pos="0">
                <a:srgbClr val="678DD3">
                  <a:alpha val="53000"/>
                </a:srgbClr>
              </a:gs>
              <a:gs pos="43000">
                <a:srgbClr val="678DD3">
                  <a:alpha val="84000"/>
                </a:srgbClr>
              </a:gs>
              <a:gs pos="100000">
                <a:srgbClr val="678DD3">
                  <a:alpha val="50000"/>
                </a:srgbClr>
              </a:gs>
            </a:gsLst>
            <a:lin ang="6960000" scaled="1"/>
          </a:gradFill>
          <a:effectLst>
            <a:outerShdw blurRad="190500" dist="89803" dir="2700000" algn="bl" rotWithShape="0">
              <a:srgbClr val="4874CB">
                <a:alpha val="40000"/>
              </a:srgbClr>
            </a:outerShdw>
          </a:effectLst>
        </p:spPr>
      </p:sp>
      <p:sp>
        <p:nvSpPr>
          <p:cNvPr id="24" name="Text 18"/>
          <p:cNvSpPr/>
          <p:nvPr>
            <p:custDataLst>
              <p:tags r:id="rId19"/>
            </p:custDataLst>
          </p:nvPr>
        </p:nvSpPr>
        <p:spPr>
          <a:xfrm>
            <a:off x="1725930" y="3801745"/>
            <a:ext cx="565785" cy="565785"/>
          </a:xfrm>
          <a:prstGeom prst="rect">
            <a:avLst/>
          </a:prstGeom>
          <a:noFill/>
        </p:spPr>
        <p:txBody>
          <a:bodyPr wrap="square" lIns="0" tIns="0" rIns="0" bIns="0" rtlCol="0" anchor="ct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1600" dirty="0"/>
          </a:p>
        </p:txBody>
      </p:sp>
      <p:sp>
        <p:nvSpPr>
          <p:cNvPr id="25" name="Text 19"/>
          <p:cNvSpPr/>
          <p:nvPr>
            <p:custDataLst>
              <p:tags r:id="rId20"/>
            </p:custDataLst>
          </p:nvPr>
        </p:nvSpPr>
        <p:spPr>
          <a:xfrm>
            <a:off x="2574925" y="3565525"/>
            <a:ext cx="3593465" cy="572135"/>
          </a:xfrm>
          <a:prstGeom prst="rect">
            <a:avLst/>
          </a:prstGeom>
          <a:noFill/>
        </p:spPr>
        <p:txBody>
          <a:bodyPr wrap="square" lIns="0" tIns="0" rIns="0" bIns="0" rtlCol="0" anchor="ctr"/>
          <a:lstStyle/>
          <a:p>
            <a:pP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规范化设计</a:t>
            </a:r>
            <a:endParaRPr lang="en-US" sz="1600" dirty="0"/>
          </a:p>
        </p:txBody>
      </p:sp>
      <p:sp>
        <p:nvSpPr>
          <p:cNvPr id="26" name="Text 20"/>
          <p:cNvSpPr/>
          <p:nvPr>
            <p:custDataLst>
              <p:tags r:id="rId21"/>
            </p:custDataLst>
          </p:nvPr>
        </p:nvSpPr>
        <p:spPr>
          <a:xfrm>
            <a:off x="2574925" y="4074160"/>
            <a:ext cx="8652510" cy="169227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数据库设计遵循第三范式（3NF），消除传递依赖，确保数据的独立性和一致性。同时，通过主外键约束保证数据完整性，避免数据冗余和异常。此外，还对关键字段进行了索引优化，提升查询性能，提高系统的响应速度。</a:t>
            </a:r>
            <a:endParaRPr lang="en-US" sz="1600" dirty="0"/>
          </a:p>
        </p:txBody>
      </p:sp>
      <p:sp>
        <p:nvSpPr>
          <p:cNvPr id="27" name="Shape 21"/>
          <p:cNvSpPr/>
          <p:nvPr>
            <p:custDataLst>
              <p:tags r:id="rId22"/>
            </p:custDataLst>
          </p:nvPr>
        </p:nvSpPr>
        <p:spPr>
          <a:xfrm>
            <a:off x="2291715" y="5300345"/>
            <a:ext cx="565785" cy="565785"/>
          </a:xfrm>
          <a:prstGeom prst="ellipse">
            <a:avLst/>
          </a:prstGeom>
          <a:gradFill flip="none" rotWithShape="1">
            <a:gsLst>
              <a:gs pos="0">
                <a:srgbClr val="678DD3">
                  <a:alpha val="53000"/>
                </a:srgbClr>
              </a:gs>
              <a:gs pos="43000">
                <a:srgbClr val="678DD3">
                  <a:alpha val="84000"/>
                </a:srgbClr>
              </a:gs>
              <a:gs pos="100000">
                <a:srgbClr val="678DD3">
                  <a:alpha val="50000"/>
                </a:srgbClr>
              </a:gs>
            </a:gsLst>
            <a:lin ang="6960000" scaled="1"/>
          </a:gradFill>
          <a:effectLst>
            <a:outerShdw blurRad="190500" dist="89803" dir="2700000" algn="bl" rotWithShape="0">
              <a:srgbClr val="4874CB">
                <a:alpha val="40000"/>
              </a:srgbClr>
            </a:outerShdw>
          </a:effectLst>
        </p:spPr>
      </p:sp>
      <p:sp>
        <p:nvSpPr>
          <p:cNvPr id="28" name="Text 22"/>
          <p:cNvSpPr/>
          <p:nvPr>
            <p:custDataLst>
              <p:tags r:id="rId23"/>
            </p:custDataLst>
          </p:nvPr>
        </p:nvSpPr>
        <p:spPr>
          <a:xfrm>
            <a:off x="2291715" y="5300345"/>
            <a:ext cx="565785" cy="565785"/>
          </a:xfrm>
          <a:prstGeom prst="rect">
            <a:avLst/>
          </a:prstGeom>
          <a:noFill/>
        </p:spPr>
        <p:txBody>
          <a:bodyPr wrap="square" lIns="0" tIns="0" rIns="0" bIns="0" rtlCol="0" anchor="ct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04</a:t>
            </a:r>
            <a:endParaRPr lang="en-US" sz="1600" dirty="0"/>
          </a:p>
        </p:txBody>
      </p:sp>
      <p:sp>
        <p:nvSpPr>
          <p:cNvPr id="29" name="Text 23"/>
          <p:cNvSpPr/>
          <p:nvPr>
            <p:custDataLst>
              <p:tags r:id="rId24"/>
            </p:custDataLst>
          </p:nvPr>
        </p:nvSpPr>
        <p:spPr>
          <a:xfrm>
            <a:off x="3019425" y="5042535"/>
            <a:ext cx="3619500" cy="572135"/>
          </a:xfrm>
          <a:prstGeom prst="rect">
            <a:avLst/>
          </a:prstGeom>
          <a:noFill/>
        </p:spPr>
        <p:txBody>
          <a:bodyPr wrap="square" lIns="0" tIns="0" rIns="0" bIns="0" rtlCol="0" anchor="ctr"/>
          <a:lstStyle/>
          <a:p>
            <a:pP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实体关系</a:t>
            </a:r>
            <a:endParaRPr lang="en-US" sz="1600" dirty="0"/>
          </a:p>
        </p:txBody>
      </p:sp>
      <p:sp>
        <p:nvSpPr>
          <p:cNvPr id="30" name="Text 24"/>
          <p:cNvSpPr/>
          <p:nvPr>
            <p:custDataLst>
              <p:tags r:id="rId25"/>
            </p:custDataLst>
          </p:nvPr>
        </p:nvSpPr>
        <p:spPr>
          <a:xfrm>
            <a:off x="3019425" y="5551170"/>
            <a:ext cx="8606790" cy="169227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在实体关系方面，books表与book_copies表通过外键关联，表示图书与副本的关系；borrow_records表关联books表和users表，记录借阅信息。这种关系设计清晰地反映了图书管理系统中的业务逻辑，为数据操作提供了便利。</a:t>
            </a:r>
            <a:endParaRPr lang="en-US" sz="1600" dirty="0"/>
          </a:p>
        </p:txBody>
      </p:sp>
      <p:grpSp>
        <p:nvGrpSpPr>
          <p:cNvPr id="31" name="组合 30"/>
          <p:cNvGrpSpPr/>
          <p:nvPr/>
        </p:nvGrpSpPr>
        <p:grpSpPr>
          <a:xfrm>
            <a:off x="55880" y="26670"/>
            <a:ext cx="5588635" cy="907415"/>
            <a:chOff x="0" y="522"/>
            <a:chExt cx="8801" cy="1429"/>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32" name="矩形 31"/>
            <p:cNvSpPr/>
            <p:nvPr/>
          </p:nvSpPr>
          <p:spPr>
            <a:xfrm>
              <a:off x="2898" y="547"/>
              <a:ext cx="5903" cy="1404"/>
            </a:xfrm>
            <a:prstGeom prst="rect">
              <a:avLst/>
            </a:prstGeom>
          </p:spPr>
          <p:txBody>
            <a:bodyPr wrap="squar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数</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据</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库</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设</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计</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a:p>
              <a:pPr algn="r" defTabSz="685800">
                <a:defRPr/>
              </a:pPr>
              <a:endParaRPr lang="zh-CN" altLang="en-US" sz="24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33" name="矩形 32"/>
            <p:cNvSpPr/>
            <p:nvPr/>
          </p:nvSpPr>
          <p:spPr>
            <a:xfrm>
              <a:off x="0" y="522"/>
              <a:ext cx="869"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a:t>
              </a:r>
              <a:r>
                <a:rPr lang="en-US" sz="2800" dirty="0">
                  <a:solidFill>
                    <a:schemeClr val="bg1"/>
                  </a:solidFill>
                  <a:latin typeface="Impact" panose="020B0806030902050204" pitchFamily="34" charset="0"/>
                  <a:ea typeface="微软雅黑" panose="020B0503020204020204" charset="-122"/>
                  <a:cs typeface="Gisha" panose="020B0502040204020203" pitchFamily="34" charset="-79"/>
                </a:rPr>
                <a:t>2</a:t>
              </a:r>
              <a:endParaRPr lang="en-US" sz="2800" dirty="0">
                <a:solidFill>
                  <a:schemeClr val="bg1"/>
                </a:solidFill>
              </a:endParaRPr>
            </a:p>
          </p:txBody>
        </p:sp>
        <p:pic>
          <p:nvPicPr>
            <p:cNvPr id="34" name="图片 33" descr="微信图片_20200425233959"/>
            <p:cNvPicPr>
              <a:picLocks noChangeAspect="1"/>
            </p:cNvPicPr>
            <p:nvPr/>
          </p:nvPicPr>
          <p:blipFill>
            <a:blip r:embed="rId26">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56285" y="2764790"/>
            <a:ext cx="2555875"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grpSp>
        <p:nvGrpSpPr>
          <p:cNvPr id="9" name="组合 8"/>
          <p:cNvGrpSpPr/>
          <p:nvPr/>
        </p:nvGrpSpPr>
        <p:grpSpPr>
          <a:xfrm>
            <a:off x="0" y="331470"/>
            <a:ext cx="5588635" cy="907415"/>
            <a:chOff x="0" y="522"/>
            <a:chExt cx="8801" cy="1429"/>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2" name="矩形 1"/>
            <p:cNvSpPr/>
            <p:nvPr/>
          </p:nvSpPr>
          <p:spPr>
            <a:xfrm>
              <a:off x="2898" y="547"/>
              <a:ext cx="5903" cy="1404"/>
            </a:xfrm>
            <a:prstGeom prst="rect">
              <a:avLst/>
            </a:prstGeom>
          </p:spPr>
          <p:txBody>
            <a:bodyPr wrap="squar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数</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据</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库</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设</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计</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a:p>
              <a:pPr algn="r" defTabSz="685800">
                <a:defRPr/>
              </a:pPr>
              <a:r>
                <a:rPr lang="en-US" altLang="zh-CN" sz="2400" b="1" dirty="0">
                  <a:solidFill>
                    <a:srgbClr val="293C54"/>
                  </a:solidFill>
                  <a:latin typeface="Arial" panose="020B0604020202020204"/>
                  <a:ea typeface="微软雅黑" panose="020B0503020204020204" charset="-122"/>
                  <a:cs typeface="Gisha" panose="020B0502040204020203" pitchFamily="34" charset="-79"/>
                  <a:sym typeface="+mn-ea"/>
                </a:rPr>
                <a:t>——</a:t>
              </a:r>
              <a:r>
                <a:rPr lang="zh-CN" altLang="en-US" sz="2400" b="1" dirty="0">
                  <a:solidFill>
                    <a:srgbClr val="293C54"/>
                  </a:solidFill>
                  <a:latin typeface="Arial" panose="020B0604020202020204"/>
                  <a:ea typeface="微软雅黑" panose="020B0503020204020204" charset="-122"/>
                  <a:cs typeface="Gisha" panose="020B0502040204020203" pitchFamily="34" charset="-79"/>
                  <a:sym typeface="+mn-ea"/>
                </a:rPr>
                <a:t>数据库设计与表结构</a:t>
              </a:r>
              <a:endParaRPr lang="zh-CN" altLang="en-US" sz="24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13" name="矩形 12"/>
            <p:cNvSpPr/>
            <p:nvPr/>
          </p:nvSpPr>
          <p:spPr>
            <a:xfrm>
              <a:off x="0" y="522"/>
              <a:ext cx="869"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a:t>
              </a:r>
              <a:r>
                <a:rPr lang="en-US" sz="2800" dirty="0">
                  <a:solidFill>
                    <a:schemeClr val="bg1"/>
                  </a:solidFill>
                  <a:latin typeface="Impact" panose="020B0806030902050204" pitchFamily="34" charset="0"/>
                  <a:ea typeface="微软雅黑" panose="020B0503020204020204" charset="-122"/>
                  <a:cs typeface="Gisha" panose="020B0502040204020203" pitchFamily="34" charset="-79"/>
                </a:rPr>
                <a:t>2</a:t>
              </a:r>
              <a:endParaRPr lang="en-US" sz="2800" dirty="0">
                <a:solidFill>
                  <a:schemeClr val="bg1"/>
                </a:solidFill>
              </a:endParaRPr>
            </a:p>
          </p:txBody>
        </p:sp>
        <p:pic>
          <p:nvPicPr>
            <p:cNvPr id="21" name="图片 20" descr="微信图片_20200425233959"/>
            <p:cNvPicPr>
              <a:picLocks noChangeAspect="1"/>
            </p:cNvPicPr>
            <p:nvPr/>
          </p:nvPicPr>
          <p:blipFill>
            <a:blip r:embed="rId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pic>
        <p:nvPicPr>
          <p:cNvPr id="3" name="图片 2" descr="deepseek_mermaid_20251210_cfc3cf"/>
          <p:cNvPicPr>
            <a:picLocks noChangeAspect="1"/>
          </p:cNvPicPr>
          <p:nvPr/>
        </p:nvPicPr>
        <p:blipFill>
          <a:blip r:embed="rId2"/>
          <a:srcRect l="4616" t="3250" r="4339" b="3296"/>
          <a:stretch>
            <a:fillRect/>
          </a:stretch>
        </p:blipFill>
        <p:spPr>
          <a:xfrm>
            <a:off x="5588635" y="0"/>
            <a:ext cx="6602730" cy="6889750"/>
          </a:xfrm>
          <a:prstGeom prst="rect">
            <a:avLst/>
          </a:prstGeom>
        </p:spPr>
      </p:pic>
      <p:pic>
        <p:nvPicPr>
          <p:cNvPr id="5" name="图片 4" descr="deepseek_mermaid_20251210_5b4657"/>
          <p:cNvPicPr>
            <a:picLocks noChangeAspect="1"/>
          </p:cNvPicPr>
          <p:nvPr/>
        </p:nvPicPr>
        <p:blipFill>
          <a:blip r:embed="rId3"/>
          <a:srcRect l="3293" r="3142"/>
          <a:stretch>
            <a:fillRect/>
          </a:stretch>
        </p:blipFill>
        <p:spPr>
          <a:xfrm>
            <a:off x="52705" y="1539240"/>
            <a:ext cx="5485130" cy="4344035"/>
          </a:xfrm>
          <a:prstGeom prst="rect">
            <a:avLst/>
          </a:prstGeom>
        </p:spPr>
      </p:pic>
    </p:spTree>
    <p:custDataLst>
      <p:tags r:id="rId4"/>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C:\Users\dell\Desktop\余若冰\校庆ppt\20200130CSU标志建筑风景\20200130CSU标志建筑风景\湘雅\2019-10-08 220528.jpg2019-10-08 220528"/>
          <p:cNvPicPr>
            <a:picLocks noChangeAspect="1"/>
          </p:cNvPicPr>
          <p:nvPr/>
        </p:nvPicPr>
        <p:blipFill>
          <a:blip r:embed="rId1"/>
          <a:srcRect/>
          <a:stretch>
            <a:fillRect/>
          </a:stretch>
        </p:blipFill>
        <p:spPr>
          <a:xfrm>
            <a:off x="36" y="1948502"/>
            <a:ext cx="5407660" cy="3041650"/>
          </a:xfrm>
          <a:prstGeom prst="rect">
            <a:avLst/>
          </a:prstGeom>
        </p:spPr>
      </p:pic>
      <p:sp>
        <p:nvSpPr>
          <p:cNvPr id="19" name="矩形 18"/>
          <p:cNvSpPr/>
          <p:nvPr/>
        </p:nvSpPr>
        <p:spPr>
          <a:xfrm rot="5400000">
            <a:off x="6116955" y="-436880"/>
            <a:ext cx="2588895" cy="7813040"/>
          </a:xfrm>
          <a:prstGeom prst="rect">
            <a:avLst/>
          </a:prstGeom>
          <a:solidFill>
            <a:srgbClr val="76BCD2">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3819868" y="2733598"/>
            <a:ext cx="1482725" cy="1568450"/>
          </a:xfrm>
          <a:prstGeom prst="rect">
            <a:avLst/>
          </a:prstGeom>
        </p:spPr>
        <p:txBody>
          <a:bodyPr wrap="none">
            <a:spAutoFit/>
          </a:bodyPr>
          <a:lstStyle/>
          <a:p>
            <a:r>
              <a:rPr lang="en-US" altLang="zh-CN" sz="9600" dirty="0">
                <a:solidFill>
                  <a:prstClr val="white"/>
                </a:solidFill>
                <a:latin typeface="Impact" panose="020B0806030902050204" pitchFamily="34" charset="0"/>
                <a:ea typeface="微软雅黑" panose="020B0503020204020204" charset="-122"/>
                <a:cs typeface="Gisha" panose="020B0502040204020203" pitchFamily="34" charset="-79"/>
              </a:rPr>
              <a:t>03</a:t>
            </a:r>
            <a:endParaRPr lang="zh-CN" altLang="en-US" sz="9600" dirty="0">
              <a:solidFill>
                <a:prstClr val="white"/>
              </a:solidFill>
            </a:endParaRPr>
          </a:p>
        </p:txBody>
      </p:sp>
      <p:sp>
        <p:nvSpPr>
          <p:cNvPr id="21" name="TextBox 62"/>
          <p:cNvSpPr txBox="1"/>
          <p:nvPr/>
        </p:nvSpPr>
        <p:spPr>
          <a:xfrm>
            <a:off x="6758940" y="3592195"/>
            <a:ext cx="2178685" cy="1060450"/>
          </a:xfrm>
          <a:prstGeom prst="rect">
            <a:avLst/>
          </a:prstGeom>
          <a:noFill/>
          <a:effectLst/>
        </p:spPr>
        <p:txBody>
          <a:bodyPr wrap="square" rtlCol="0">
            <a:spAutoFit/>
          </a:bodyPr>
          <a:lstStyle/>
          <a:p>
            <a:pPr indent="0" algn="l" fontAlgn="auto">
              <a:lnSpc>
                <a:spcPct val="150000"/>
              </a:lnSpc>
            </a:pPr>
            <a:r>
              <a:rPr lang="zh-CN" altLang="en-US" sz="1400" dirty="0">
                <a:solidFill>
                  <a:prstClr val="white"/>
                </a:solidFill>
                <a:latin typeface="微软雅黑" panose="020B0503020204020204" charset="-122"/>
                <a:ea typeface="微软雅黑" panose="020B0503020204020204" charset="-122"/>
                <a:cs typeface="+mn-ea"/>
                <a:sym typeface="+mn-ea"/>
              </a:rPr>
              <a:t>多数据库同步机制</a:t>
            </a:r>
            <a:endParaRPr lang="zh-CN" altLang="en-US" sz="1400" dirty="0">
              <a:solidFill>
                <a:prstClr val="white"/>
              </a:solidFill>
              <a:latin typeface="微软雅黑" panose="020B0503020204020204" charset="-122"/>
              <a:ea typeface="微软雅黑" panose="020B0503020204020204" charset="-122"/>
              <a:cs typeface="+mn-ea"/>
              <a:sym typeface="+mn-ea"/>
            </a:endParaRPr>
          </a:p>
          <a:p>
            <a:pPr indent="0" algn="l" fontAlgn="auto">
              <a:lnSpc>
                <a:spcPct val="150000"/>
              </a:lnSpc>
            </a:pPr>
            <a:r>
              <a:rPr lang="zh-CN" altLang="en-US" sz="1400" dirty="0">
                <a:solidFill>
                  <a:prstClr val="white"/>
                </a:solidFill>
                <a:latin typeface="微软雅黑" panose="020B0503020204020204" charset="-122"/>
                <a:ea typeface="微软雅黑" panose="020B0503020204020204" charset="-122"/>
              </a:rPr>
              <a:t>冲突处理机制</a:t>
            </a:r>
            <a:endParaRPr lang="zh-CN" altLang="en-US" sz="1400" dirty="0">
              <a:solidFill>
                <a:prstClr val="white"/>
              </a:solidFill>
              <a:latin typeface="微软雅黑" panose="020B0503020204020204" charset="-122"/>
              <a:ea typeface="微软雅黑" panose="020B0503020204020204" charset="-122"/>
            </a:endParaRPr>
          </a:p>
          <a:p>
            <a:pPr indent="0" algn="l" fontAlgn="auto">
              <a:lnSpc>
                <a:spcPct val="150000"/>
              </a:lnSpc>
            </a:pPr>
            <a:r>
              <a:rPr lang="zh-CN" altLang="en-US" sz="1400" dirty="0">
                <a:solidFill>
                  <a:prstClr val="white"/>
                </a:solidFill>
                <a:latin typeface="微软雅黑" panose="020B0503020204020204" charset="-122"/>
                <a:ea typeface="微软雅黑" panose="020B0503020204020204" charset="-122"/>
              </a:rPr>
              <a:t>邮件提醒机制</a:t>
            </a:r>
            <a:endParaRPr lang="zh-CN" altLang="en-US" sz="1400" dirty="0">
              <a:solidFill>
                <a:prstClr val="white"/>
              </a:solidFill>
              <a:latin typeface="微软雅黑" panose="020B0503020204020204" charset="-122"/>
              <a:ea typeface="微软雅黑" panose="020B0503020204020204" charset="-122"/>
            </a:endParaRPr>
          </a:p>
        </p:txBody>
      </p:sp>
      <p:sp>
        <p:nvSpPr>
          <p:cNvPr id="22" name="矩形 21"/>
          <p:cNvSpPr/>
          <p:nvPr/>
        </p:nvSpPr>
        <p:spPr>
          <a:xfrm>
            <a:off x="6403261" y="2733712"/>
            <a:ext cx="4274439" cy="706755"/>
          </a:xfrm>
          <a:prstGeom prst="rect">
            <a:avLst/>
          </a:prstGeom>
        </p:spPr>
        <p:txBody>
          <a:bodyPr wrap="square">
            <a:spAutoFit/>
          </a:bodyPr>
          <a:lstStyle/>
          <a:p>
            <a:pPr defTabSz="685800">
              <a:defRPr/>
            </a:pPr>
            <a:r>
              <a:rPr lang="zh-CN" altLang="en-US" sz="4000" b="1" dirty="0">
                <a:solidFill>
                  <a:schemeClr val="bg1"/>
                </a:solidFill>
                <a:latin typeface="Arial" panose="020B0604020202020204"/>
                <a:ea typeface="微软雅黑" panose="020B0503020204020204" charset="-122"/>
                <a:sym typeface="+mn-ea"/>
              </a:rPr>
              <a:t>核</a:t>
            </a:r>
            <a:r>
              <a:rPr lang="en-US" altLang="zh-CN" sz="4000" b="1" dirty="0">
                <a:solidFill>
                  <a:schemeClr val="bg1"/>
                </a:solidFill>
                <a:latin typeface="Arial" panose="020B0604020202020204"/>
                <a:ea typeface="微软雅黑" panose="020B0503020204020204" charset="-122"/>
                <a:sym typeface="+mn-ea"/>
              </a:rPr>
              <a:t> </a:t>
            </a:r>
            <a:r>
              <a:rPr lang="zh-CN" altLang="en-US" sz="4000" b="1" dirty="0">
                <a:solidFill>
                  <a:schemeClr val="bg1"/>
                </a:solidFill>
                <a:latin typeface="Arial" panose="020B0604020202020204"/>
                <a:ea typeface="微软雅黑" panose="020B0503020204020204" charset="-122"/>
                <a:sym typeface="+mn-ea"/>
              </a:rPr>
              <a:t>心</a:t>
            </a:r>
            <a:r>
              <a:rPr lang="en-US" altLang="zh-CN" sz="4000" b="1" dirty="0">
                <a:solidFill>
                  <a:schemeClr val="bg1"/>
                </a:solidFill>
                <a:latin typeface="Arial" panose="020B0604020202020204"/>
                <a:ea typeface="微软雅黑" panose="020B0503020204020204" charset="-122"/>
                <a:sym typeface="+mn-ea"/>
              </a:rPr>
              <a:t> </a:t>
            </a:r>
            <a:r>
              <a:rPr lang="zh-CN" altLang="en-US" sz="4000" b="1" dirty="0">
                <a:solidFill>
                  <a:schemeClr val="bg1"/>
                </a:solidFill>
                <a:latin typeface="Arial" panose="020B0604020202020204"/>
                <a:ea typeface="微软雅黑" panose="020B0503020204020204" charset="-122"/>
                <a:sym typeface="+mn-ea"/>
              </a:rPr>
              <a:t>技</a:t>
            </a:r>
            <a:r>
              <a:rPr lang="en-US" altLang="zh-CN" sz="4000" b="1" dirty="0">
                <a:solidFill>
                  <a:schemeClr val="bg1"/>
                </a:solidFill>
                <a:latin typeface="Arial" panose="020B0604020202020204"/>
                <a:ea typeface="微软雅黑" panose="020B0503020204020204" charset="-122"/>
                <a:sym typeface="+mn-ea"/>
              </a:rPr>
              <a:t> </a:t>
            </a:r>
            <a:r>
              <a:rPr lang="zh-CN" altLang="en-US" sz="4000" b="1" dirty="0">
                <a:solidFill>
                  <a:schemeClr val="bg1"/>
                </a:solidFill>
                <a:latin typeface="Arial" panose="020B0604020202020204"/>
                <a:ea typeface="微软雅黑" panose="020B0503020204020204" charset="-122"/>
                <a:sym typeface="+mn-ea"/>
              </a:rPr>
              <a:t>术</a:t>
            </a:r>
            <a:r>
              <a:rPr lang="en-US" altLang="zh-CN" sz="4000" b="1" dirty="0">
                <a:solidFill>
                  <a:schemeClr val="bg1"/>
                </a:solidFill>
                <a:latin typeface="Arial" panose="020B0604020202020204"/>
                <a:ea typeface="微软雅黑" panose="020B0503020204020204" charset="-122"/>
                <a:sym typeface="+mn-ea"/>
              </a:rPr>
              <a:t> </a:t>
            </a:r>
            <a:r>
              <a:rPr lang="zh-CN" altLang="en-US" sz="4000" b="1" dirty="0">
                <a:solidFill>
                  <a:schemeClr val="bg1"/>
                </a:solidFill>
                <a:latin typeface="Arial" panose="020B0604020202020204"/>
                <a:ea typeface="微软雅黑" panose="020B0503020204020204" charset="-122"/>
                <a:sym typeface="+mn-ea"/>
              </a:rPr>
              <a:t>实</a:t>
            </a:r>
            <a:r>
              <a:rPr lang="en-US" altLang="zh-CN" sz="4000" b="1" dirty="0">
                <a:solidFill>
                  <a:schemeClr val="bg1"/>
                </a:solidFill>
                <a:latin typeface="Arial" panose="020B0604020202020204"/>
                <a:ea typeface="微软雅黑" panose="020B0503020204020204" charset="-122"/>
                <a:sym typeface="+mn-ea"/>
              </a:rPr>
              <a:t> </a:t>
            </a:r>
            <a:r>
              <a:rPr lang="zh-CN" altLang="en-US" sz="4000" b="1" dirty="0">
                <a:solidFill>
                  <a:schemeClr val="bg1"/>
                </a:solidFill>
                <a:latin typeface="Arial" panose="020B0604020202020204"/>
                <a:ea typeface="微软雅黑" panose="020B0503020204020204" charset="-122"/>
                <a:sym typeface="+mn-ea"/>
              </a:rPr>
              <a:t>现</a:t>
            </a:r>
            <a:endParaRPr lang="zh-CN" altLang="en-US" sz="4000" b="1" dirty="0">
              <a:solidFill>
                <a:schemeClr val="bg1"/>
              </a:solidFill>
              <a:latin typeface="Arial" panose="020B0604020202020204"/>
              <a:ea typeface="微软雅黑" panose="020B0503020204020204" charset="-122"/>
              <a:sym typeface="+mn-ea"/>
            </a:endParaRPr>
          </a:p>
        </p:txBody>
      </p:sp>
      <p:grpSp>
        <p:nvGrpSpPr>
          <p:cNvPr id="8" name="组合 7"/>
          <p:cNvGrpSpPr/>
          <p:nvPr/>
        </p:nvGrpSpPr>
        <p:grpSpPr>
          <a:xfrm>
            <a:off x="5691146" y="3339029"/>
            <a:ext cx="4887760" cy="262538"/>
            <a:chOff x="5444484" y="3347558"/>
            <a:chExt cx="4887760" cy="262538"/>
          </a:xfrm>
        </p:grpSpPr>
        <p:sp>
          <p:nvSpPr>
            <p:cNvPr id="9" name="任意多边形 8"/>
            <p:cNvSpPr/>
            <p:nvPr/>
          </p:nvSpPr>
          <p:spPr>
            <a:xfrm flipV="1">
              <a:off x="5545778" y="3347558"/>
              <a:ext cx="4786466" cy="178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5444484" y="3443844"/>
              <a:ext cx="166252" cy="1662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5" name="图片 24"/>
          <p:cNvPicPr>
            <a:picLocks noChangeAspect="1"/>
          </p:cNvPicPr>
          <p:nvPr/>
        </p:nvPicPr>
        <p:blipFill>
          <a:blip r:embed="rId2"/>
          <a:stretch>
            <a:fillRect/>
          </a:stretch>
        </p:blipFill>
        <p:spPr>
          <a:xfrm>
            <a:off x="3048000" y="4131310"/>
            <a:ext cx="9144000" cy="1295400"/>
          </a:xfrm>
          <a:prstGeom prst="rect">
            <a:avLst/>
          </a:prstGeom>
        </p:spPr>
      </p:pic>
    </p:spTree>
    <p:custDataLst>
      <p:tags r:id="rId3"/>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ipe(down)">
                                      <p:cBhvr>
                                        <p:cTn id="7" dur="1000"/>
                                        <p:tgtEl>
                                          <p:spTgt spid="7"/>
                                        </p:tgtEl>
                                      </p:cBhvr>
                                    </p:animEffect>
                                  </p:childTnLst>
                                </p:cTn>
                              </p:par>
                              <p:par>
                                <p:cTn id="8" presetID="22" presetClass="entr" presetSubtype="4" fill="hold" grpId="0" nodeType="withEffect">
                                  <p:stCondLst>
                                    <p:cond delay="0"/>
                                  </p:stCondLst>
                                  <p:childTnLst>
                                    <p:set>
                                      <p:cBhvr>
                                        <p:cTn id="9" dur="1000" fill="hold">
                                          <p:stCondLst>
                                            <p:cond delay="0"/>
                                          </p:stCondLst>
                                        </p:cTn>
                                        <p:tgtEl>
                                          <p:spTgt spid="19"/>
                                        </p:tgtEl>
                                        <p:attrNameLst>
                                          <p:attrName>style.visibility</p:attrName>
                                        </p:attrNameLst>
                                      </p:cBhvr>
                                      <p:to>
                                        <p:strVal val="visible"/>
                                      </p:to>
                                    </p:set>
                                    <p:animEffect transition="in" filter="wipe(down)">
                                      <p:cBhvr>
                                        <p:cTn id="10" dur="1000"/>
                                        <p:tgtEl>
                                          <p:spTgt spid="19"/>
                                        </p:tgtEl>
                                      </p:cBhvr>
                                    </p:animEffect>
                                  </p:childTnLst>
                                </p:cTn>
                              </p:par>
                              <p:par>
                                <p:cTn id="11" presetID="22" presetClass="entr" presetSubtype="4" fill="hold" grpId="0" nodeType="withEffect">
                                  <p:stCondLst>
                                    <p:cond delay="0"/>
                                  </p:stCondLst>
                                  <p:childTnLst>
                                    <p:set>
                                      <p:cBhvr>
                                        <p:cTn id="12" dur="1000" fill="hold">
                                          <p:stCondLst>
                                            <p:cond delay="0"/>
                                          </p:stCondLst>
                                        </p:cTn>
                                        <p:tgtEl>
                                          <p:spTgt spid="20"/>
                                        </p:tgtEl>
                                        <p:attrNameLst>
                                          <p:attrName>style.visibility</p:attrName>
                                        </p:attrNameLst>
                                      </p:cBhvr>
                                      <p:to>
                                        <p:strVal val="visible"/>
                                      </p:to>
                                    </p:set>
                                    <p:animEffect transition="in" filter="wipe(down)">
                                      <p:cBhvr>
                                        <p:cTn id="13" dur="1000"/>
                                        <p:tgtEl>
                                          <p:spTgt spid="20"/>
                                        </p:tgtEl>
                                      </p:cBhvr>
                                    </p:animEffect>
                                  </p:childTnLst>
                                </p:cTn>
                              </p:par>
                              <p:par>
                                <p:cTn id="14" presetID="22" presetClass="entr" presetSubtype="4" fill="hold" grpId="0" nodeType="withEffect">
                                  <p:stCondLst>
                                    <p:cond delay="0"/>
                                  </p:stCondLst>
                                  <p:childTnLst>
                                    <p:set>
                                      <p:cBhvr>
                                        <p:cTn id="15" dur="1000" fill="hold">
                                          <p:stCondLst>
                                            <p:cond delay="0"/>
                                          </p:stCondLst>
                                        </p:cTn>
                                        <p:tgtEl>
                                          <p:spTgt spid="22"/>
                                        </p:tgtEl>
                                        <p:attrNameLst>
                                          <p:attrName>style.visibility</p:attrName>
                                        </p:attrNameLst>
                                      </p:cBhvr>
                                      <p:to>
                                        <p:strVal val="visible"/>
                                      </p:to>
                                    </p:set>
                                    <p:animEffect transition="in" filter="wipe(down)">
                                      <p:cBhvr>
                                        <p:cTn id="16" dur="1000"/>
                                        <p:tgtEl>
                                          <p:spTgt spid="22"/>
                                        </p:tgtEl>
                                      </p:cBhvr>
                                    </p:animEffect>
                                  </p:childTnLst>
                                </p:cTn>
                              </p:par>
                              <p:par>
                                <p:cTn id="17" presetID="22" presetClass="entr" presetSubtype="4" fill="hold" grpId="0" nodeType="withEffect">
                                  <p:stCondLst>
                                    <p:cond delay="0"/>
                                  </p:stCondLst>
                                  <p:childTnLst>
                                    <p:set>
                                      <p:cBhvr>
                                        <p:cTn id="18" dur="1000" fill="hold">
                                          <p:stCondLst>
                                            <p:cond delay="0"/>
                                          </p:stCondLst>
                                        </p:cTn>
                                        <p:tgtEl>
                                          <p:spTgt spid="21"/>
                                        </p:tgtEl>
                                        <p:attrNameLst>
                                          <p:attrName>style.visibility</p:attrName>
                                        </p:attrNameLst>
                                      </p:cBhvr>
                                      <p:to>
                                        <p:strVal val="visible"/>
                                      </p:to>
                                    </p:set>
                                    <p:animEffect transition="in" filter="wipe(down)">
                                      <p:cBhvr>
                                        <p:cTn id="19" dur="1000"/>
                                        <p:tgtEl>
                                          <p:spTgt spid="21"/>
                                        </p:tgtEl>
                                      </p:cBhvr>
                                    </p:animEffect>
                                  </p:childTnLst>
                                </p:cTn>
                              </p:par>
                              <p:par>
                                <p:cTn id="20" presetID="22" presetClass="entr" presetSubtype="4" fill="hold" nodeType="withEffect">
                                  <p:stCondLst>
                                    <p:cond delay="0"/>
                                  </p:stCondLst>
                                  <p:childTnLst>
                                    <p:set>
                                      <p:cBhvr>
                                        <p:cTn id="21" dur="1000" fill="hold">
                                          <p:stCondLst>
                                            <p:cond delay="0"/>
                                          </p:stCondLst>
                                        </p:cTn>
                                        <p:tgtEl>
                                          <p:spTgt spid="8"/>
                                        </p:tgtEl>
                                        <p:attrNameLst>
                                          <p:attrName>style.visibility</p:attrName>
                                        </p:attrNameLst>
                                      </p:cBhvr>
                                      <p:to>
                                        <p:strVal val="visible"/>
                                      </p:to>
                                    </p:set>
                                    <p:animEffect transition="in" filter="wipe(down)">
                                      <p:cBhvr>
                                        <p:cTn id="22" dur="1000"/>
                                        <p:tgtEl>
                                          <p:spTgt spid="8"/>
                                        </p:tgtEl>
                                      </p:cBhvr>
                                    </p:animEffect>
                                  </p:childTnLst>
                                </p:cTn>
                              </p:par>
                              <p:par>
                                <p:cTn id="23" presetID="22" presetClass="entr" presetSubtype="4" fill="hold" nodeType="withEffect">
                                  <p:stCondLst>
                                    <p:cond delay="0"/>
                                  </p:stCondLst>
                                  <p:childTnLst>
                                    <p:set>
                                      <p:cBhvr>
                                        <p:cTn id="24" dur="1000" fill="hold">
                                          <p:stCondLst>
                                            <p:cond delay="0"/>
                                          </p:stCondLst>
                                        </p:cTn>
                                        <p:tgtEl>
                                          <p:spTgt spid="25"/>
                                        </p:tgtEl>
                                        <p:attrNameLst>
                                          <p:attrName>style.visibility</p:attrName>
                                        </p:attrNameLst>
                                      </p:cBhvr>
                                      <p:to>
                                        <p:strVal val="visible"/>
                                      </p:to>
                                    </p:set>
                                    <p:animEffect transition="in" filter="wipe(down)">
                                      <p:cBhvr>
                                        <p:cTn id="2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p:bldP spid="21" grpId="0" bldLvl="0" animBg="1"/>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4867910" cy="537845"/>
            <a:chOff x="0" y="522"/>
            <a:chExt cx="766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476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多数据库同步机制</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85"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
        <p:nvSpPr>
          <p:cNvPr id="3" name="文本框 2"/>
          <p:cNvSpPr txBox="1"/>
          <p:nvPr/>
        </p:nvSpPr>
        <p:spPr>
          <a:xfrm>
            <a:off x="561975" y="1264285"/>
            <a:ext cx="5791200" cy="3843655"/>
          </a:xfrm>
          <a:prstGeom prst="rect">
            <a:avLst/>
          </a:prstGeom>
        </p:spPr>
        <p:txBody>
          <a:bodyPr wrap="square">
            <a:spAutoFit/>
          </a:bodyPr>
          <a:p>
            <a:pPr marL="0" indent="0">
              <a:lnSpc>
                <a:spcPts val="1500"/>
              </a:lnSpc>
              <a:spcBef>
                <a:spcPts val="1600"/>
              </a:spcBef>
              <a:spcAft>
                <a:spcPts val="800"/>
              </a:spcAft>
            </a:pPr>
            <a:r>
              <a:rPr lang="zh-CN" altLang="en-US" sz="2400" b="1">
                <a:solidFill>
                  <a:srgbClr val="00B0F0"/>
                </a:solidFill>
                <a:latin typeface="Calibri" panose="020F0502020204030204" charset="0"/>
                <a:ea typeface="quote-cjk-patch"/>
                <a:cs typeface="Calibri" panose="020F0502020204030204" charset="0"/>
              </a:rPr>
              <a:t>三库同步核心实现</a:t>
            </a:r>
            <a:endParaRPr lang="zh-CN" altLang="en-US" sz="2400" b="1">
              <a:solidFill>
                <a:srgbClr val="00B0F0"/>
              </a:solidFill>
              <a:latin typeface="Calibri" panose="020F0502020204030204" charset="0"/>
              <a:ea typeface="quote-cjk-patch"/>
              <a:cs typeface="Calibri" panose="020F0502020204030204" charset="0"/>
            </a:endParaRPr>
          </a:p>
          <a:p>
            <a:pPr marL="0" indent="0">
              <a:spcBef>
                <a:spcPts val="800"/>
              </a:spcBef>
              <a:spcAft>
                <a:spcPts val="800"/>
              </a:spcAft>
            </a:pPr>
            <a:r>
              <a:rPr lang="zh-CN" altLang="en-US" b="0" i="0">
                <a:solidFill>
                  <a:srgbClr val="0F1115"/>
                </a:solidFill>
                <a:latin typeface="Calibri" panose="020F0502020204030204" charset="0"/>
                <a:ea typeface="quote-cjk-patch"/>
                <a:cs typeface="Calibri" panose="020F0502020204030204" charset="0"/>
              </a:rPr>
              <a:t>方法位置：</a:t>
            </a:r>
            <a:r>
              <a:rPr lang="en-US" altLang="zh-CN" b="0" i="0">
                <a:solidFill>
                  <a:srgbClr val="0F1115"/>
                </a:solidFill>
                <a:latin typeface="Calibri" panose="020F0502020204030204" charset="0"/>
                <a:ea typeface="Menlo"/>
                <a:cs typeface="Calibri" panose="020F0502020204030204" charset="0"/>
              </a:rPr>
              <a:t>MultiDatabaseService.insertOrUpdateBookToAllDatabases()</a:t>
            </a:r>
            <a:endParaRPr lang="en-US" altLang="zh-CN" b="0" i="0">
              <a:solidFill>
                <a:srgbClr val="0F1115"/>
              </a:solidFill>
              <a:latin typeface="Calibri" panose="020F0502020204030204" charset="0"/>
              <a:ea typeface="Menlo"/>
              <a:cs typeface="Calibri" panose="020F0502020204030204" charset="0"/>
            </a:endParaRPr>
          </a:p>
          <a:p>
            <a:pPr indent="0" fontAlgn="auto">
              <a:lnSpc>
                <a:spcPct val="150000"/>
              </a:lnSpc>
              <a:spcBef>
                <a:spcPts val="800"/>
              </a:spcBef>
              <a:spcAft>
                <a:spcPts val="800"/>
              </a:spcAft>
            </a:pPr>
            <a:r>
              <a:rPr lang="zh-CN" altLang="en-US" b="0" i="0">
                <a:solidFill>
                  <a:srgbClr val="0F1115"/>
                </a:solidFill>
                <a:latin typeface="Calibri" panose="020F0502020204030204" charset="0"/>
                <a:ea typeface="quote-cjk-patch"/>
                <a:cs typeface="Calibri" panose="020F0502020204030204" charset="0"/>
              </a:rPr>
              <a:t>核心逻辑：</a:t>
            </a:r>
            <a:endParaRPr lang="zh-CN" altLang="en-US" b="0" i="0">
              <a:solidFill>
                <a:srgbClr val="0F1115"/>
              </a:solidFill>
              <a:latin typeface="Calibri" panose="020F0502020204030204" charset="0"/>
              <a:ea typeface="quote-cjk-patch"/>
              <a:cs typeface="Calibri" panose="020F0502020204030204" charset="0"/>
            </a:endParaRPr>
          </a:p>
          <a:p>
            <a:pPr indent="0" fontAlgn="auto">
              <a:lnSpc>
                <a:spcPct val="150000"/>
              </a:lnSpc>
              <a:spcBef>
                <a:spcPct val="0"/>
              </a:spcBef>
              <a:spcAft>
                <a:spcPct val="0"/>
              </a:spcAft>
              <a:buAutoNum type="arabicPeriod"/>
            </a:pPr>
            <a:r>
              <a:rPr lang="zh-CN" altLang="en-US" b="0" i="0">
                <a:solidFill>
                  <a:srgbClr val="0F1115"/>
                </a:solidFill>
                <a:latin typeface="Calibri" panose="020F0502020204030204" charset="0"/>
                <a:ea typeface="quote-cjk-patch"/>
                <a:cs typeface="Calibri" panose="020F0502020204030204" charset="0"/>
              </a:rPr>
              <a:t>数据准备：获取图书信息（</a:t>
            </a:r>
            <a:r>
              <a:rPr lang="en-US" altLang="zh-CN" b="0" i="0">
                <a:solidFill>
                  <a:srgbClr val="0F1115"/>
                </a:solidFill>
                <a:latin typeface="Calibri" panose="020F0502020204030204" charset="0"/>
                <a:ea typeface="quote-cjk-patch"/>
                <a:cs typeface="Calibri" panose="020F0502020204030204" charset="0"/>
              </a:rPr>
              <a:t>title</a:t>
            </a:r>
            <a:r>
              <a:rPr lang="zh-CN" altLang="en-US" b="0" i="0">
                <a:solidFill>
                  <a:srgbClr val="0F1115"/>
                </a:solidFill>
                <a:latin typeface="Calibri" panose="020F0502020204030204" charset="0"/>
                <a:ea typeface="quote-cjk-patch"/>
                <a:cs typeface="Calibri" panose="020F0502020204030204" charset="0"/>
              </a:rPr>
              <a:t>、</a:t>
            </a:r>
            <a:r>
              <a:rPr lang="en-US" altLang="zh-CN" b="0" i="0">
                <a:solidFill>
                  <a:srgbClr val="0F1115"/>
                </a:solidFill>
                <a:latin typeface="Calibri" panose="020F0502020204030204" charset="0"/>
                <a:ea typeface="quote-cjk-patch"/>
                <a:cs typeface="Calibri" panose="020F0502020204030204" charset="0"/>
              </a:rPr>
              <a:t>author</a:t>
            </a:r>
            <a:r>
              <a:rPr lang="zh-CN" altLang="en-US" b="0" i="0">
                <a:solidFill>
                  <a:srgbClr val="0F1115"/>
                </a:solidFill>
                <a:latin typeface="Calibri" panose="020F0502020204030204" charset="0"/>
                <a:ea typeface="quote-cjk-patch"/>
                <a:cs typeface="Calibri" panose="020F0502020204030204" charset="0"/>
              </a:rPr>
              <a:t>、</a:t>
            </a:r>
            <a:r>
              <a:rPr lang="en-US" altLang="zh-CN" b="0" i="0">
                <a:solidFill>
                  <a:srgbClr val="0F1115"/>
                </a:solidFill>
                <a:latin typeface="Calibri" panose="020F0502020204030204" charset="0"/>
                <a:ea typeface="quote-cjk-patch"/>
                <a:cs typeface="Calibri" panose="020F0502020204030204" charset="0"/>
              </a:rPr>
              <a:t>isbn</a:t>
            </a:r>
            <a:r>
              <a:rPr lang="zh-CN" altLang="en-US" b="0" i="0">
                <a:solidFill>
                  <a:srgbClr val="0F1115"/>
                </a:solidFill>
                <a:latin typeface="Calibri" panose="020F0502020204030204" charset="0"/>
                <a:ea typeface="quote-cjk-patch"/>
                <a:cs typeface="Calibri" panose="020F0502020204030204" charset="0"/>
              </a:rPr>
              <a:t>等）</a:t>
            </a:r>
            <a:endParaRPr lang="zh-CN" altLang="en-US" b="0" i="0">
              <a:solidFill>
                <a:srgbClr val="0F1115"/>
              </a:solidFill>
              <a:latin typeface="Calibri" panose="020F0502020204030204" charset="0"/>
              <a:ea typeface="quote-cjk-patch"/>
              <a:cs typeface="Calibri" panose="020F0502020204030204" charset="0"/>
            </a:endParaRPr>
          </a:p>
          <a:p>
            <a:pPr indent="0" fontAlgn="auto">
              <a:lnSpc>
                <a:spcPct val="150000"/>
              </a:lnSpc>
              <a:spcBef>
                <a:spcPct val="0"/>
              </a:spcBef>
              <a:spcAft>
                <a:spcPct val="0"/>
              </a:spcAft>
              <a:buAutoNum type="arabicPeriod"/>
            </a:pPr>
            <a:r>
              <a:rPr lang="zh-CN" altLang="en-US" b="0" i="0">
                <a:solidFill>
                  <a:srgbClr val="0F1115"/>
                </a:solidFill>
                <a:latin typeface="Calibri" panose="020F0502020204030204" charset="0"/>
                <a:ea typeface="quote-cjk-patch"/>
                <a:cs typeface="Calibri" panose="020F0502020204030204" charset="0"/>
              </a:rPr>
              <a:t>三库遍历：循环处理</a:t>
            </a:r>
            <a:r>
              <a:rPr lang="en-US" altLang="zh-CN" b="0" i="0">
                <a:solidFill>
                  <a:srgbClr val="0F1115"/>
                </a:solidFill>
                <a:latin typeface="Calibri" panose="020F0502020204030204" charset="0"/>
                <a:ea typeface="quote-cjk-patch"/>
                <a:cs typeface="Calibri" panose="020F0502020204030204" charset="0"/>
              </a:rPr>
              <a:t>mysql</a:t>
            </a:r>
            <a:r>
              <a:rPr lang="zh-CN" altLang="en-US" b="0" i="0">
                <a:solidFill>
                  <a:srgbClr val="0F1115"/>
                </a:solidFill>
                <a:latin typeface="Calibri" panose="020F0502020204030204" charset="0"/>
                <a:ea typeface="quote-cjk-patch"/>
                <a:cs typeface="Calibri" panose="020F0502020204030204" charset="0"/>
              </a:rPr>
              <a:t>、</a:t>
            </a:r>
            <a:r>
              <a:rPr lang="en-US" altLang="zh-CN" b="0" i="0">
                <a:solidFill>
                  <a:srgbClr val="0F1115"/>
                </a:solidFill>
                <a:latin typeface="Calibri" panose="020F0502020204030204" charset="0"/>
                <a:ea typeface="quote-cjk-patch"/>
                <a:cs typeface="Calibri" panose="020F0502020204030204" charset="0"/>
              </a:rPr>
              <a:t>postgresql</a:t>
            </a:r>
            <a:r>
              <a:rPr lang="zh-CN" altLang="en-US" b="0" i="0">
                <a:solidFill>
                  <a:srgbClr val="0F1115"/>
                </a:solidFill>
                <a:latin typeface="Calibri" panose="020F0502020204030204" charset="0"/>
                <a:ea typeface="quote-cjk-patch"/>
                <a:cs typeface="Calibri" panose="020F0502020204030204" charset="0"/>
              </a:rPr>
              <a:t>、</a:t>
            </a:r>
            <a:r>
              <a:rPr lang="en-US" altLang="zh-CN" b="0" i="0">
                <a:solidFill>
                  <a:srgbClr val="0F1115"/>
                </a:solidFill>
                <a:latin typeface="Calibri" panose="020F0502020204030204" charset="0"/>
                <a:ea typeface="quote-cjk-patch"/>
                <a:cs typeface="Calibri" panose="020F0502020204030204" charset="0"/>
              </a:rPr>
              <a:t>sqlserver</a:t>
            </a:r>
            <a:endParaRPr lang="en-US" altLang="zh-CN" b="0" i="0">
              <a:solidFill>
                <a:srgbClr val="0F1115"/>
              </a:solidFill>
              <a:latin typeface="Calibri" panose="020F0502020204030204" charset="0"/>
              <a:ea typeface="quote-cjk-patch"/>
              <a:cs typeface="Calibri" panose="020F0502020204030204" charset="0"/>
            </a:endParaRPr>
          </a:p>
          <a:p>
            <a:pPr indent="0" fontAlgn="auto">
              <a:lnSpc>
                <a:spcPct val="150000"/>
              </a:lnSpc>
              <a:spcBef>
                <a:spcPct val="0"/>
              </a:spcBef>
              <a:spcAft>
                <a:spcPct val="0"/>
              </a:spcAft>
              <a:buAutoNum type="arabicPeriod"/>
            </a:pPr>
            <a:r>
              <a:rPr lang="zh-CN" altLang="en-US" b="0" i="0">
                <a:solidFill>
                  <a:srgbClr val="0F1115"/>
                </a:solidFill>
                <a:latin typeface="Calibri" panose="020F0502020204030204" charset="0"/>
                <a:ea typeface="quote-cjk-patch"/>
                <a:cs typeface="Calibri" panose="020F0502020204030204" charset="0"/>
              </a:rPr>
              <a:t>存在性检查：使用</a:t>
            </a:r>
            <a:r>
              <a:rPr lang="en-US" altLang="zh-CN" b="0" i="0">
                <a:solidFill>
                  <a:srgbClr val="0F1115"/>
                </a:solidFill>
                <a:latin typeface="Calibri" panose="020F0502020204030204" charset="0"/>
                <a:ea typeface="Menlo"/>
                <a:cs typeface="Calibri" panose="020F0502020204030204" charset="0"/>
              </a:rPr>
              <a:t>SELECT COUNT(*)</a:t>
            </a:r>
            <a:r>
              <a:rPr lang="zh-CN" altLang="en-US" b="0" i="0">
                <a:solidFill>
                  <a:srgbClr val="0F1115"/>
                </a:solidFill>
                <a:latin typeface="Calibri" panose="020F0502020204030204" charset="0"/>
                <a:ea typeface="quote-cjk-patch"/>
                <a:cs typeface="Calibri" panose="020F0502020204030204" charset="0"/>
              </a:rPr>
              <a:t>判断记录是否存在</a:t>
            </a:r>
            <a:endParaRPr lang="zh-CN" altLang="en-US" b="0" i="0">
              <a:solidFill>
                <a:srgbClr val="0F1115"/>
              </a:solidFill>
              <a:latin typeface="Calibri" panose="020F0502020204030204" charset="0"/>
              <a:ea typeface="quote-cjk-patch"/>
              <a:cs typeface="Calibri" panose="020F0502020204030204" charset="0"/>
            </a:endParaRPr>
          </a:p>
          <a:p>
            <a:pPr indent="0" fontAlgn="auto">
              <a:lnSpc>
                <a:spcPct val="150000"/>
              </a:lnSpc>
              <a:spcBef>
                <a:spcPct val="0"/>
              </a:spcBef>
              <a:spcAft>
                <a:spcPct val="0"/>
              </a:spcAft>
              <a:buAutoNum type="arabicPeriod"/>
            </a:pPr>
            <a:r>
              <a:rPr lang="zh-CN" altLang="en-US" b="0" i="0">
                <a:solidFill>
                  <a:srgbClr val="0F1115"/>
                </a:solidFill>
                <a:latin typeface="Calibri" panose="020F0502020204030204" charset="0"/>
                <a:ea typeface="quote-cjk-patch"/>
                <a:cs typeface="Calibri" panose="020F0502020204030204" charset="0"/>
              </a:rPr>
              <a:t>条件操作：存在则</a:t>
            </a:r>
            <a:r>
              <a:rPr lang="en-US" altLang="zh-CN" b="0" i="0">
                <a:solidFill>
                  <a:srgbClr val="0F1115"/>
                </a:solidFill>
                <a:latin typeface="Calibri" panose="020F0502020204030204" charset="0"/>
                <a:ea typeface="quote-cjk-patch"/>
                <a:cs typeface="Calibri" panose="020F0502020204030204" charset="0"/>
              </a:rPr>
              <a:t>UPDATE</a:t>
            </a:r>
            <a:r>
              <a:rPr lang="zh-CN" altLang="en-US" b="0" i="0">
                <a:solidFill>
                  <a:srgbClr val="0F1115"/>
                </a:solidFill>
                <a:latin typeface="Calibri" panose="020F0502020204030204" charset="0"/>
                <a:ea typeface="quote-cjk-patch"/>
                <a:cs typeface="Calibri" panose="020F0502020204030204" charset="0"/>
              </a:rPr>
              <a:t>，不存在则</a:t>
            </a:r>
            <a:r>
              <a:rPr lang="en-US" altLang="zh-CN" b="0" i="0">
                <a:solidFill>
                  <a:srgbClr val="0F1115"/>
                </a:solidFill>
                <a:latin typeface="Calibri" panose="020F0502020204030204" charset="0"/>
                <a:ea typeface="quote-cjk-patch"/>
                <a:cs typeface="Calibri" panose="020F0502020204030204" charset="0"/>
              </a:rPr>
              <a:t>INSERT</a:t>
            </a:r>
            <a:endParaRPr lang="en-US" altLang="zh-CN" b="0" i="0">
              <a:solidFill>
                <a:srgbClr val="0F1115"/>
              </a:solidFill>
              <a:latin typeface="Calibri" panose="020F0502020204030204" charset="0"/>
              <a:ea typeface="quote-cjk-patch"/>
              <a:cs typeface="Calibri" panose="020F0502020204030204" charset="0"/>
            </a:endParaRPr>
          </a:p>
          <a:p>
            <a:pPr indent="0" fontAlgn="auto">
              <a:lnSpc>
                <a:spcPct val="150000"/>
              </a:lnSpc>
              <a:spcBef>
                <a:spcPct val="0"/>
              </a:spcBef>
              <a:spcAft>
                <a:spcPct val="0"/>
              </a:spcAft>
              <a:buAutoNum type="arabicPeriod"/>
            </a:pPr>
            <a:r>
              <a:rPr lang="zh-CN" altLang="en-US" b="0" i="0">
                <a:solidFill>
                  <a:srgbClr val="0F1115"/>
                </a:solidFill>
                <a:latin typeface="Calibri" panose="020F0502020204030204" charset="0"/>
                <a:ea typeface="quote-cjk-patch"/>
                <a:cs typeface="Calibri" panose="020F0502020204030204" charset="0"/>
              </a:rPr>
              <a:t>结果汇总：记录每个库的操作状态，统一返回</a:t>
            </a:r>
            <a:endParaRPr lang="en-US" altLang="zh-CN" b="0" i="0">
              <a:solidFill>
                <a:srgbClr val="383A42"/>
              </a:solidFill>
              <a:latin typeface="Calibri" panose="020F0502020204030204" charset="0"/>
              <a:ea typeface="Menlo"/>
              <a:cs typeface="Calibri" panose="020F0502020204030204" charset="0"/>
            </a:endParaRPr>
          </a:p>
        </p:txBody>
      </p:sp>
      <p:sp>
        <p:nvSpPr>
          <p:cNvPr id="4" name="文本框 3"/>
          <p:cNvSpPr txBox="1"/>
          <p:nvPr/>
        </p:nvSpPr>
        <p:spPr>
          <a:xfrm>
            <a:off x="7213600" y="1600835"/>
            <a:ext cx="2584450" cy="337185"/>
          </a:xfrm>
          <a:prstGeom prst="rect">
            <a:avLst/>
          </a:prstGeom>
        </p:spPr>
        <p:txBody>
          <a:bodyPr wrap="square">
            <a:spAutoFit/>
          </a:bodyPr>
          <a:p>
            <a:pPr marL="0" indent="0"/>
            <a:r>
              <a:rPr lang="zh-CN" altLang="en-US" sz="1600" b="0" i="0">
                <a:solidFill>
                  <a:srgbClr val="0F1115"/>
                </a:solidFill>
                <a:latin typeface="quote-cjk-patch"/>
                <a:ea typeface="quote-cjk-patch"/>
              </a:rPr>
              <a:t>代码关键行：</a:t>
            </a:r>
            <a:endParaRPr lang="zh-CN" altLang="en-US" sz="1600" b="0" i="0">
              <a:solidFill>
                <a:srgbClr val="0F1115"/>
              </a:solidFill>
              <a:latin typeface="quote-cjk-patch"/>
              <a:ea typeface="quote-cjk-patch"/>
            </a:endParaRPr>
          </a:p>
        </p:txBody>
      </p:sp>
      <p:pic>
        <p:nvPicPr>
          <p:cNvPr id="5" name="图片 4"/>
          <p:cNvPicPr>
            <a:picLocks noChangeAspect="1"/>
          </p:cNvPicPr>
          <p:nvPr/>
        </p:nvPicPr>
        <p:blipFill>
          <a:blip r:embed="rId4"/>
          <a:stretch>
            <a:fillRect/>
          </a:stretch>
        </p:blipFill>
        <p:spPr>
          <a:xfrm>
            <a:off x="6353175" y="2085975"/>
            <a:ext cx="5566410" cy="2200275"/>
          </a:xfrm>
          <a:prstGeom prst="rect">
            <a:avLst/>
          </a:prstGeom>
        </p:spPr>
      </p:pic>
      <p:pic>
        <p:nvPicPr>
          <p:cNvPr id="12" name="图片 11"/>
          <p:cNvPicPr>
            <a:picLocks noChangeAspect="1"/>
          </p:cNvPicPr>
          <p:nvPr>
            <p:custDataLst>
              <p:tags r:id="rId5"/>
            </p:custDataLst>
          </p:nvPr>
        </p:nvPicPr>
        <p:blipFill>
          <a:blip r:embed="rId2"/>
          <a:srcRect r="48620" b="-868"/>
          <a:stretch>
            <a:fillRect/>
          </a:stretch>
        </p:blipFill>
        <p:spPr>
          <a:xfrm>
            <a:off x="9662795" y="1339215"/>
            <a:ext cx="2529205" cy="4572635"/>
          </a:xfrm>
          <a:prstGeom prst="rect">
            <a:avLst/>
          </a:prstGeom>
        </p:spPr>
      </p:pic>
    </p:spTree>
    <p:custDataLst>
      <p:tags r:id="rId6"/>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6645910" cy="537845"/>
            <a:chOff x="0" y="522"/>
            <a:chExt cx="1046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756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多数据库冲突检测和</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解决机制</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85"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
        <p:nvSpPr>
          <p:cNvPr id="3" name="文本框 2"/>
          <p:cNvSpPr txBox="1"/>
          <p:nvPr/>
        </p:nvSpPr>
        <p:spPr>
          <a:xfrm>
            <a:off x="612775" y="1054735"/>
            <a:ext cx="5904865" cy="3443605"/>
          </a:xfrm>
          <a:prstGeom prst="rect">
            <a:avLst/>
          </a:prstGeom>
        </p:spPr>
        <p:txBody>
          <a:bodyPr wrap="square">
            <a:spAutoFit/>
          </a:bodyPr>
          <a:p>
            <a:pPr marL="0" indent="0">
              <a:lnSpc>
                <a:spcPts val="1500"/>
              </a:lnSpc>
              <a:spcBef>
                <a:spcPts val="1600"/>
              </a:spcBef>
              <a:spcAft>
                <a:spcPts val="800"/>
              </a:spcAft>
            </a:pPr>
            <a:r>
              <a:rPr lang="zh-CN" altLang="en-US" sz="2400" b="1">
                <a:solidFill>
                  <a:srgbClr val="00B0F0"/>
                </a:solidFill>
                <a:latin typeface="Calibri" panose="020F0502020204030204" charset="0"/>
                <a:ea typeface="quote-cjk-patch"/>
                <a:cs typeface="Calibri" panose="020F0502020204030204" charset="0"/>
              </a:rPr>
              <a:t>冲突检测</a:t>
            </a:r>
            <a:r>
              <a:rPr lang="zh-CN" altLang="en-US" sz="2400" b="1">
                <a:solidFill>
                  <a:srgbClr val="00B0F0"/>
                </a:solidFill>
                <a:latin typeface="Calibri" panose="020F0502020204030204" charset="0"/>
                <a:ea typeface="quote-cjk-patch"/>
                <a:cs typeface="Calibri" panose="020F0502020204030204" charset="0"/>
              </a:rPr>
              <a:t>机制</a:t>
            </a:r>
            <a:endParaRPr lang="zh-CN" altLang="en-US" sz="2400" b="1">
              <a:solidFill>
                <a:srgbClr val="00B0F0"/>
              </a:solidFill>
              <a:latin typeface="Calibri" panose="020F0502020204030204" charset="0"/>
              <a:ea typeface="quote-cjk-patch"/>
              <a:cs typeface="Calibri" panose="020F0502020204030204" charset="0"/>
            </a:endParaRPr>
          </a:p>
          <a:p>
            <a:pPr indent="0" fontAlgn="auto">
              <a:lnSpc>
                <a:spcPct val="100000"/>
              </a:lnSpc>
              <a:spcBef>
                <a:spcPts val="800"/>
              </a:spcBef>
              <a:spcAft>
                <a:spcPts val="800"/>
              </a:spcAft>
            </a:pPr>
            <a:r>
              <a:rPr lang="zh-CN" altLang="en-US" sz="1600" b="0" i="0">
                <a:solidFill>
                  <a:srgbClr val="383A42"/>
                </a:solidFill>
                <a:latin typeface="Calibri" panose="020F0502020204030204" charset="0"/>
                <a:ea typeface="Menlo"/>
                <a:cs typeface="Calibri" panose="020F0502020204030204" charset="0"/>
              </a:rPr>
              <a:t>方法位置：</a:t>
            </a:r>
            <a:r>
              <a:rPr lang="en-US" altLang="zh-CN" sz="1600" b="0" i="0">
                <a:solidFill>
                  <a:srgbClr val="383A42"/>
                </a:solidFill>
                <a:latin typeface="Calibri" panose="020F0502020204030204" charset="0"/>
                <a:ea typeface="Menlo"/>
                <a:cs typeface="Calibri" panose="020F0502020204030204" charset="0"/>
              </a:rPr>
              <a:t>MultiDatabaseService.detectAllConflicts()</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zh-CN" altLang="en-US" sz="1600" b="0" i="0">
                <a:solidFill>
                  <a:srgbClr val="383A42"/>
                </a:solidFill>
                <a:latin typeface="Calibri" panose="020F0502020204030204" charset="0"/>
                <a:ea typeface="Menlo"/>
                <a:cs typeface="Calibri" panose="020F0502020204030204" charset="0"/>
              </a:rPr>
              <a:t>核心逻辑：</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zh-CN" altLang="en-US" sz="1600" b="0" i="0">
                <a:solidFill>
                  <a:srgbClr val="383A42"/>
                </a:solidFill>
                <a:latin typeface="Calibri" panose="020F0502020204030204" charset="0"/>
                <a:ea typeface="Menlo"/>
                <a:cs typeface="Calibri" panose="020F0502020204030204" charset="0"/>
              </a:rPr>
              <a:t>数据收集：调用</a:t>
            </a:r>
            <a:r>
              <a:rPr lang="en-US" altLang="zh-CN" sz="1600" b="0" i="0">
                <a:solidFill>
                  <a:srgbClr val="383A42"/>
                </a:solidFill>
                <a:latin typeface="Calibri" panose="020F0502020204030204" charset="0"/>
                <a:ea typeface="Menlo"/>
                <a:cs typeface="Calibri" panose="020F0502020204030204" charset="0"/>
              </a:rPr>
              <a:t>getAllBooksFromAllDatabases()</a:t>
            </a:r>
            <a:r>
              <a:rPr lang="zh-CN" altLang="en-US" sz="1600" b="0" i="0">
                <a:solidFill>
                  <a:srgbClr val="383A42"/>
                </a:solidFill>
                <a:latin typeface="Calibri" panose="020F0502020204030204" charset="0"/>
                <a:ea typeface="Menlo"/>
                <a:cs typeface="Calibri" panose="020F0502020204030204" charset="0"/>
              </a:rPr>
              <a:t>获取三库所有图书</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b="0" i="0">
                <a:solidFill>
                  <a:srgbClr val="383A42"/>
                </a:solidFill>
                <a:latin typeface="Calibri" panose="020F0502020204030204" charset="0"/>
                <a:ea typeface="Menlo"/>
                <a:cs typeface="Calibri" panose="020F0502020204030204" charset="0"/>
              </a:rPr>
              <a:t>ID</a:t>
            </a:r>
            <a:r>
              <a:rPr lang="zh-CN" altLang="en-US" sz="1600" b="0" i="0">
                <a:solidFill>
                  <a:srgbClr val="383A42"/>
                </a:solidFill>
                <a:latin typeface="Calibri" panose="020F0502020204030204" charset="0"/>
                <a:ea typeface="Menlo"/>
                <a:cs typeface="Calibri" panose="020F0502020204030204" charset="0"/>
              </a:rPr>
              <a:t>遍历：对每个图书</a:t>
            </a:r>
            <a:r>
              <a:rPr lang="en-US" altLang="zh-CN" sz="1600" b="0" i="0">
                <a:solidFill>
                  <a:srgbClr val="383A42"/>
                </a:solidFill>
                <a:latin typeface="Calibri" panose="020F0502020204030204" charset="0"/>
                <a:ea typeface="Menlo"/>
                <a:cs typeface="Calibri" panose="020F0502020204030204" charset="0"/>
              </a:rPr>
              <a:t>ID</a:t>
            </a:r>
            <a:r>
              <a:rPr lang="zh-CN" altLang="en-US" sz="1600" b="0" i="0">
                <a:solidFill>
                  <a:srgbClr val="383A42"/>
                </a:solidFill>
                <a:latin typeface="Calibri" panose="020F0502020204030204" charset="0"/>
                <a:ea typeface="Menlo"/>
                <a:cs typeface="Calibri" panose="020F0502020204030204" charset="0"/>
              </a:rPr>
              <a:t>进行三库数据对比</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zh-CN" altLang="en-US" sz="1600" b="0" i="0">
                <a:solidFill>
                  <a:srgbClr val="383A42"/>
                </a:solidFill>
                <a:latin typeface="Calibri" panose="020F0502020204030204" charset="0"/>
                <a:ea typeface="Menlo"/>
                <a:cs typeface="Calibri" panose="020F0502020204030204" charset="0"/>
              </a:rPr>
              <a:t>一致性检查：使用</a:t>
            </a:r>
            <a:r>
              <a:rPr lang="en-US" altLang="zh-CN" sz="1600" b="0" i="0">
                <a:solidFill>
                  <a:srgbClr val="383A42"/>
                </a:solidFill>
                <a:latin typeface="Calibri" panose="020F0502020204030204" charset="0"/>
                <a:ea typeface="Menlo"/>
                <a:cs typeface="Calibri" panose="020F0502020204030204" charset="0"/>
              </a:rPr>
              <a:t>isBooksEqual()</a:t>
            </a:r>
            <a:r>
              <a:rPr lang="zh-CN" altLang="en-US" sz="1600" b="0" i="0">
                <a:solidFill>
                  <a:srgbClr val="383A42"/>
                </a:solidFill>
                <a:latin typeface="Calibri" panose="020F0502020204030204" charset="0"/>
                <a:ea typeface="Menlo"/>
                <a:cs typeface="Calibri" panose="020F0502020204030204" charset="0"/>
              </a:rPr>
              <a:t>方法两两比较</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zh-CN" altLang="en-US" sz="1600" b="0" i="0">
                <a:solidFill>
                  <a:srgbClr val="383A42"/>
                </a:solidFill>
                <a:latin typeface="Calibri" panose="020F0502020204030204" charset="0"/>
                <a:ea typeface="Menlo"/>
                <a:cs typeface="Calibri" panose="020F0502020204030204" charset="0"/>
              </a:rPr>
              <a:t>冲突记录：发现不一致时调用</a:t>
            </a:r>
            <a:r>
              <a:rPr lang="en-US" altLang="zh-CN" sz="1600" b="0" i="0">
                <a:solidFill>
                  <a:srgbClr val="383A42"/>
                </a:solidFill>
                <a:latin typeface="Calibri" panose="020F0502020204030204" charset="0"/>
                <a:ea typeface="Menlo"/>
                <a:cs typeface="Calibri" panose="020F0502020204030204" charset="0"/>
              </a:rPr>
              <a:t>saveThreeDbConflicts()</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zh-CN" altLang="en-US" sz="1600" b="0" i="0">
                <a:solidFill>
                  <a:srgbClr val="383A42"/>
                </a:solidFill>
                <a:latin typeface="Calibri" panose="020F0502020204030204" charset="0"/>
                <a:ea typeface="Menlo"/>
                <a:cs typeface="Calibri" panose="020F0502020204030204" charset="0"/>
              </a:rPr>
              <a:t>邮件通知：触发</a:t>
            </a:r>
            <a:r>
              <a:rPr lang="en-US" altLang="zh-CN" sz="1600" b="0" i="0">
                <a:solidFill>
                  <a:srgbClr val="383A42"/>
                </a:solidFill>
                <a:latin typeface="Calibri" panose="020F0502020204030204" charset="0"/>
                <a:ea typeface="Menlo"/>
                <a:cs typeface="Calibri" panose="020F0502020204030204" charset="0"/>
              </a:rPr>
              <a:t>emailService.sendConflictNotification()</a:t>
            </a:r>
            <a:endParaRPr lang="en-US" altLang="zh-CN" sz="1600" b="0" i="0">
              <a:solidFill>
                <a:srgbClr val="383A42"/>
              </a:solidFill>
              <a:latin typeface="Calibri" panose="020F0502020204030204" charset="0"/>
              <a:ea typeface="Menlo"/>
              <a:cs typeface="Calibri" panose="020F0502020204030204" charset="0"/>
            </a:endParaRPr>
          </a:p>
        </p:txBody>
      </p:sp>
      <p:pic>
        <p:nvPicPr>
          <p:cNvPr id="12" name="图片 11"/>
          <p:cNvPicPr>
            <a:picLocks noChangeAspect="1"/>
          </p:cNvPicPr>
          <p:nvPr>
            <p:custDataLst>
              <p:tags r:id="rId4"/>
            </p:custDataLst>
          </p:nvPr>
        </p:nvPicPr>
        <p:blipFill>
          <a:blip r:embed="rId2"/>
          <a:srcRect r="48620" b="-868"/>
          <a:stretch>
            <a:fillRect/>
          </a:stretch>
        </p:blipFill>
        <p:spPr>
          <a:xfrm>
            <a:off x="9662795" y="1339215"/>
            <a:ext cx="2529205" cy="4572635"/>
          </a:xfrm>
          <a:prstGeom prst="rect">
            <a:avLst/>
          </a:prstGeom>
        </p:spPr>
      </p:pic>
      <p:sp>
        <p:nvSpPr>
          <p:cNvPr id="6" name="文本框 5"/>
          <p:cNvSpPr txBox="1"/>
          <p:nvPr/>
        </p:nvSpPr>
        <p:spPr>
          <a:xfrm>
            <a:off x="5327015" y="3556000"/>
            <a:ext cx="4248785" cy="3046095"/>
          </a:xfrm>
          <a:prstGeom prst="rect">
            <a:avLst/>
          </a:prstGeom>
          <a:noFill/>
        </p:spPr>
        <p:txBody>
          <a:bodyPr wrap="square" rtlCol="0" anchor="t">
            <a:spAutoFit/>
          </a:bodyPr>
          <a:p>
            <a:pPr indent="0" fontAlgn="auto">
              <a:lnSpc>
                <a:spcPct val="100000"/>
              </a:lnSpc>
              <a:spcBef>
                <a:spcPts val="800"/>
              </a:spcBef>
              <a:spcAft>
                <a:spcPts val="800"/>
              </a:spcAft>
            </a:pPr>
            <a:r>
              <a:rPr lang="zh-CN" altLang="en-US" sz="1600">
                <a:solidFill>
                  <a:srgbClr val="383A42"/>
                </a:solidFill>
                <a:latin typeface="Calibri" panose="020F0502020204030204" charset="0"/>
                <a:ea typeface="Menlo"/>
                <a:cs typeface="Calibri" panose="020F0502020204030204" charset="0"/>
                <a:sym typeface="+mn-ea"/>
              </a:rPr>
              <a:t>调用关系：</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a:solidFill>
                  <a:srgbClr val="383A42"/>
                </a:solidFill>
                <a:latin typeface="Calibri" panose="020F0502020204030204" charset="0"/>
                <a:ea typeface="Menlo"/>
                <a:cs typeface="Calibri" panose="020F0502020204030204" charset="0"/>
                <a:sym typeface="+mn-ea"/>
              </a:rPr>
              <a:t>detectAllConflicts()</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a:solidFill>
                  <a:srgbClr val="383A42"/>
                </a:solidFill>
                <a:latin typeface="Calibri" panose="020F0502020204030204" charset="0"/>
                <a:ea typeface="Menlo"/>
                <a:cs typeface="Calibri" panose="020F0502020204030204" charset="0"/>
                <a:sym typeface="+mn-ea"/>
              </a:rPr>
              <a:t>    </a:t>
            </a:r>
            <a:r>
              <a:rPr lang="en-US" altLang="en-US" sz="1600">
                <a:solidFill>
                  <a:srgbClr val="383A42"/>
                </a:solidFill>
                <a:latin typeface="Calibri" panose="020F0502020204030204" charset="0"/>
                <a:ea typeface="Menlo"/>
                <a:cs typeface="Calibri" panose="020F0502020204030204" charset="0"/>
                <a:sym typeface="+mn-ea"/>
              </a:rPr>
              <a:t>├──</a:t>
            </a:r>
            <a:r>
              <a:rPr lang="en-US" altLang="zh-CN" sz="1600">
                <a:solidFill>
                  <a:srgbClr val="383A42"/>
                </a:solidFill>
                <a:latin typeface="Calibri" panose="020F0502020204030204" charset="0"/>
                <a:ea typeface="Menlo"/>
                <a:cs typeface="Calibri" panose="020F0502020204030204" charset="0"/>
                <a:sym typeface="+mn-ea"/>
              </a:rPr>
              <a:t> getAllBooksFromAllDatabases()</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a:solidFill>
                  <a:srgbClr val="383A42"/>
                </a:solidFill>
                <a:latin typeface="Calibri" panose="020F0502020204030204" charset="0"/>
                <a:ea typeface="Menlo"/>
                <a:cs typeface="Calibri" panose="020F0502020204030204" charset="0"/>
                <a:sym typeface="+mn-ea"/>
              </a:rPr>
              <a:t>    </a:t>
            </a:r>
            <a:r>
              <a:rPr lang="en-US" altLang="en-US" sz="1600">
                <a:solidFill>
                  <a:srgbClr val="383A42"/>
                </a:solidFill>
                <a:latin typeface="Calibri" panose="020F0502020204030204" charset="0"/>
                <a:ea typeface="Menlo"/>
                <a:cs typeface="Calibri" panose="020F0502020204030204" charset="0"/>
                <a:sym typeface="+mn-ea"/>
              </a:rPr>
              <a:t>├──</a:t>
            </a:r>
            <a:r>
              <a:rPr lang="en-US" altLang="zh-CN" sz="1600">
                <a:solidFill>
                  <a:srgbClr val="383A42"/>
                </a:solidFill>
                <a:latin typeface="Calibri" panose="020F0502020204030204" charset="0"/>
                <a:ea typeface="Menlo"/>
                <a:cs typeface="Calibri" panose="020F0502020204030204" charset="0"/>
                <a:sym typeface="+mn-ea"/>
              </a:rPr>
              <a:t> findBookInList() [</a:t>
            </a:r>
            <a:r>
              <a:rPr lang="zh-CN" altLang="en-US" sz="1600">
                <a:solidFill>
                  <a:srgbClr val="383A42"/>
                </a:solidFill>
                <a:latin typeface="Calibri" panose="020F0502020204030204" charset="0"/>
                <a:ea typeface="Menlo"/>
                <a:cs typeface="Calibri" panose="020F0502020204030204" charset="0"/>
                <a:sym typeface="+mn-ea"/>
              </a:rPr>
              <a:t>辅助方法</a:t>
            </a:r>
            <a:r>
              <a:rPr lang="en-US" altLang="zh-CN" sz="1600">
                <a:solidFill>
                  <a:srgbClr val="383A42"/>
                </a:solidFill>
                <a:latin typeface="Calibri" panose="020F0502020204030204" charset="0"/>
                <a:ea typeface="Menlo"/>
                <a:cs typeface="Calibri" panose="020F0502020204030204" charset="0"/>
                <a:sym typeface="+mn-ea"/>
              </a:rPr>
              <a:t>]</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a:solidFill>
                  <a:srgbClr val="383A42"/>
                </a:solidFill>
                <a:latin typeface="Calibri" panose="020F0502020204030204" charset="0"/>
                <a:ea typeface="Menlo"/>
                <a:cs typeface="Calibri" panose="020F0502020204030204" charset="0"/>
                <a:sym typeface="+mn-ea"/>
              </a:rPr>
              <a:t>    </a:t>
            </a:r>
            <a:r>
              <a:rPr lang="en-US" altLang="en-US" sz="1600">
                <a:solidFill>
                  <a:srgbClr val="383A42"/>
                </a:solidFill>
                <a:latin typeface="Calibri" panose="020F0502020204030204" charset="0"/>
                <a:ea typeface="Menlo"/>
                <a:cs typeface="Calibri" panose="020F0502020204030204" charset="0"/>
                <a:sym typeface="+mn-ea"/>
              </a:rPr>
              <a:t>├──</a:t>
            </a:r>
            <a:r>
              <a:rPr lang="en-US" altLang="zh-CN" sz="1600">
                <a:solidFill>
                  <a:srgbClr val="383A42"/>
                </a:solidFill>
                <a:latin typeface="Calibri" panose="020F0502020204030204" charset="0"/>
                <a:ea typeface="Menlo"/>
                <a:cs typeface="Calibri" panose="020F0502020204030204" charset="0"/>
                <a:sym typeface="+mn-ea"/>
              </a:rPr>
              <a:t> isBooksEqual() [</a:t>
            </a:r>
            <a:r>
              <a:rPr lang="zh-CN" altLang="en-US" sz="1600">
                <a:solidFill>
                  <a:srgbClr val="383A42"/>
                </a:solidFill>
                <a:latin typeface="Calibri" panose="020F0502020204030204" charset="0"/>
                <a:ea typeface="Menlo"/>
                <a:cs typeface="Calibri" panose="020F0502020204030204" charset="0"/>
                <a:sym typeface="+mn-ea"/>
              </a:rPr>
              <a:t>核心比较</a:t>
            </a:r>
            <a:r>
              <a:rPr lang="en-US" altLang="zh-CN" sz="1600">
                <a:solidFill>
                  <a:srgbClr val="383A42"/>
                </a:solidFill>
                <a:latin typeface="Calibri" panose="020F0502020204030204" charset="0"/>
                <a:ea typeface="Menlo"/>
                <a:cs typeface="Calibri" panose="020F0502020204030204" charset="0"/>
                <a:sym typeface="+mn-ea"/>
              </a:rPr>
              <a:t>]</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a:solidFill>
                  <a:srgbClr val="383A42"/>
                </a:solidFill>
                <a:latin typeface="Calibri" panose="020F0502020204030204" charset="0"/>
                <a:ea typeface="Menlo"/>
                <a:cs typeface="Calibri" panose="020F0502020204030204" charset="0"/>
                <a:sym typeface="+mn-ea"/>
              </a:rPr>
              <a:t>    </a:t>
            </a:r>
            <a:r>
              <a:rPr lang="en-US" altLang="en-US" sz="1600">
                <a:solidFill>
                  <a:srgbClr val="383A42"/>
                </a:solidFill>
                <a:latin typeface="Calibri" panose="020F0502020204030204" charset="0"/>
                <a:ea typeface="Menlo"/>
                <a:cs typeface="Calibri" panose="020F0502020204030204" charset="0"/>
                <a:sym typeface="+mn-ea"/>
              </a:rPr>
              <a:t>├──</a:t>
            </a:r>
            <a:r>
              <a:rPr lang="en-US" altLang="zh-CN" sz="1600">
                <a:solidFill>
                  <a:srgbClr val="383A42"/>
                </a:solidFill>
                <a:latin typeface="Calibri" panose="020F0502020204030204" charset="0"/>
                <a:ea typeface="Menlo"/>
                <a:cs typeface="Calibri" panose="020F0502020204030204" charset="0"/>
                <a:sym typeface="+mn-ea"/>
              </a:rPr>
              <a:t> saveThreeDbConflicts()</a:t>
            </a:r>
            <a:endParaRPr lang="en-US" altLang="zh-CN" sz="1600" b="0" i="0">
              <a:solidFill>
                <a:srgbClr val="383A42"/>
              </a:solidFill>
              <a:latin typeface="Calibri" panose="020F0502020204030204" charset="0"/>
              <a:ea typeface="Menlo"/>
              <a:cs typeface="Calibri" panose="020F0502020204030204" charset="0"/>
            </a:endParaRPr>
          </a:p>
          <a:p>
            <a:pPr indent="0" fontAlgn="auto">
              <a:lnSpc>
                <a:spcPct val="100000"/>
              </a:lnSpc>
              <a:spcBef>
                <a:spcPts val="800"/>
              </a:spcBef>
              <a:spcAft>
                <a:spcPts val="800"/>
              </a:spcAft>
            </a:pPr>
            <a:r>
              <a:rPr lang="en-US" altLang="zh-CN" sz="1600">
                <a:solidFill>
                  <a:srgbClr val="383A42"/>
                </a:solidFill>
                <a:latin typeface="Calibri" panose="020F0502020204030204" charset="0"/>
                <a:ea typeface="Menlo"/>
                <a:cs typeface="Calibri" panose="020F0502020204030204" charset="0"/>
                <a:sym typeface="+mn-ea"/>
              </a:rPr>
              <a:t>    </a:t>
            </a:r>
            <a:r>
              <a:rPr lang="en-US" altLang="en-US" sz="1600">
                <a:solidFill>
                  <a:srgbClr val="383A42"/>
                </a:solidFill>
                <a:latin typeface="Calibri" panose="020F0502020204030204" charset="0"/>
                <a:ea typeface="Menlo"/>
                <a:cs typeface="Calibri" panose="020F0502020204030204" charset="0"/>
                <a:sym typeface="+mn-ea"/>
              </a:rPr>
              <a:t>└──</a:t>
            </a:r>
            <a:r>
              <a:rPr lang="en-US" altLang="zh-CN" sz="1600">
                <a:solidFill>
                  <a:srgbClr val="383A42"/>
                </a:solidFill>
                <a:latin typeface="Calibri" panose="020F0502020204030204" charset="0"/>
                <a:ea typeface="Menlo"/>
                <a:cs typeface="Calibri" panose="020F0502020204030204" charset="0"/>
                <a:sym typeface="+mn-ea"/>
              </a:rPr>
              <a:t> emailService.sendConflictNotification()</a:t>
            </a:r>
            <a:endParaRPr lang="en-US" altLang="zh-CN" sz="1600">
              <a:solidFill>
                <a:srgbClr val="383A42"/>
              </a:solidFill>
              <a:latin typeface="Calibri" panose="020F0502020204030204" charset="0"/>
              <a:ea typeface="Menlo"/>
              <a:cs typeface="Calibri" panose="020F0502020204030204" charset="0"/>
              <a:sym typeface="+mn-ea"/>
            </a:endParaRPr>
          </a:p>
        </p:txBody>
      </p:sp>
      <p:sp>
        <p:nvSpPr>
          <p:cNvPr id="11" name="文本框 10"/>
          <p:cNvSpPr txBox="1"/>
          <p:nvPr/>
        </p:nvSpPr>
        <p:spPr>
          <a:xfrm>
            <a:off x="8284210" y="853440"/>
            <a:ext cx="3418840" cy="460375"/>
          </a:xfrm>
          <a:prstGeom prst="rect">
            <a:avLst/>
          </a:prstGeom>
          <a:noFill/>
        </p:spPr>
        <p:txBody>
          <a:bodyPr wrap="square" rtlCol="0" anchor="t">
            <a:spAutoFit/>
          </a:bodyPr>
          <a:p>
            <a:r>
              <a:rPr lang="zh-CN" altLang="en-US" sz="2400" b="1">
                <a:solidFill>
                  <a:srgbClr val="00B0F0"/>
                </a:solidFill>
                <a:latin typeface="Calibri" panose="020F0502020204030204" charset="0"/>
                <a:ea typeface="quote-cjk-patch"/>
                <a:cs typeface="Calibri" panose="020F0502020204030204" charset="0"/>
                <a:sym typeface="+mn-ea"/>
              </a:rPr>
              <a:t>冲突</a:t>
            </a:r>
            <a:r>
              <a:rPr lang="zh-CN" altLang="en-US" sz="2400" b="1">
                <a:solidFill>
                  <a:srgbClr val="00B0F0"/>
                </a:solidFill>
                <a:latin typeface="Calibri" panose="020F0502020204030204" charset="0"/>
                <a:ea typeface="quote-cjk-patch"/>
                <a:cs typeface="Calibri" panose="020F0502020204030204" charset="0"/>
                <a:sym typeface="+mn-ea"/>
              </a:rPr>
              <a:t>解决机制</a:t>
            </a:r>
            <a:endParaRPr lang="zh-CN" altLang="en-US" sz="2400" b="1">
              <a:solidFill>
                <a:srgbClr val="00B0F0"/>
              </a:solidFill>
              <a:latin typeface="Calibri" panose="020F0502020204030204" charset="0"/>
              <a:ea typeface="quote-cjk-patch"/>
              <a:cs typeface="Calibri" panose="020F0502020204030204" charset="0"/>
              <a:sym typeface="+mn-ea"/>
            </a:endParaRPr>
          </a:p>
        </p:txBody>
      </p:sp>
      <p:sp>
        <p:nvSpPr>
          <p:cNvPr id="14" name="文本框 13"/>
          <p:cNvSpPr txBox="1"/>
          <p:nvPr/>
        </p:nvSpPr>
        <p:spPr>
          <a:xfrm>
            <a:off x="6517640" y="1528127"/>
            <a:ext cx="5080000" cy="614045"/>
          </a:xfrm>
          <a:prstGeom prst="rect">
            <a:avLst/>
          </a:prstGeom>
        </p:spPr>
        <p:txBody>
          <a:bodyPr>
            <a:spAutoFit/>
          </a:bodyPr>
          <a:p>
            <a:pPr marL="0" indent="0"/>
            <a:r>
              <a:rPr lang="zh-CN" altLang="en-US" sz="1600" b="0" i="0">
                <a:solidFill>
                  <a:srgbClr val="0F1115"/>
                </a:solidFill>
                <a:latin typeface="Calibri" panose="020F0502020204030204" charset="0"/>
                <a:ea typeface="quote-cjk-patch"/>
                <a:cs typeface="Calibri" panose="020F0502020204030204" charset="0"/>
              </a:rPr>
              <a:t>位置：</a:t>
            </a:r>
            <a:r>
              <a:rPr lang="en-US" altLang="zh-CN" b="0" i="0">
                <a:solidFill>
                  <a:srgbClr val="0F1115"/>
                </a:solidFill>
                <a:latin typeface="Calibri" panose="020F0502020204030204" charset="0"/>
                <a:ea typeface="Menlo"/>
                <a:cs typeface="Calibri" panose="020F0502020204030204" charset="0"/>
              </a:rPr>
              <a:t>resolveDataConflict()</a:t>
            </a:r>
            <a:r>
              <a:rPr lang="en-US" altLang="zh-CN" sz="1600" b="0" i="0">
                <a:solidFill>
                  <a:srgbClr val="0F1115"/>
                </a:solidFill>
                <a:latin typeface="Calibri" panose="020F0502020204030204" charset="0"/>
                <a:ea typeface="quote-cjk-patch"/>
                <a:cs typeface="Calibri" panose="020F0502020204030204" charset="0"/>
              </a:rPr>
              <a:t> </a:t>
            </a:r>
            <a:r>
              <a:rPr lang="zh-CN" altLang="en-US" sz="1600" b="0" i="0">
                <a:solidFill>
                  <a:srgbClr val="0F1115"/>
                </a:solidFill>
                <a:latin typeface="Calibri" panose="020F0502020204030204" charset="0"/>
                <a:ea typeface="quote-cjk-patch"/>
                <a:cs typeface="Calibri" panose="020F0502020204030204" charset="0"/>
              </a:rPr>
              <a:t>方法（约第</a:t>
            </a:r>
            <a:r>
              <a:rPr lang="en-US" altLang="zh-CN" sz="1600" b="0" i="0">
                <a:solidFill>
                  <a:srgbClr val="0F1115"/>
                </a:solidFill>
                <a:latin typeface="Calibri" panose="020F0502020204030204" charset="0"/>
                <a:ea typeface="quote-cjk-patch"/>
                <a:cs typeface="Calibri" panose="020F0502020204030204" charset="0"/>
              </a:rPr>
              <a:t>525</a:t>
            </a:r>
            <a:r>
              <a:rPr lang="zh-CN" altLang="en-US" sz="1600" b="0" i="0">
                <a:solidFill>
                  <a:srgbClr val="0F1115"/>
                </a:solidFill>
                <a:latin typeface="Calibri" panose="020F0502020204030204" charset="0"/>
                <a:ea typeface="quote-cjk-patch"/>
                <a:cs typeface="Calibri" panose="020F0502020204030204" charset="0"/>
              </a:rPr>
              <a:t>行开始）</a:t>
            </a:r>
            <a:endParaRPr lang="zh-CN" altLang="en-US" sz="1600" b="0" i="0">
              <a:solidFill>
                <a:srgbClr val="0F1115"/>
              </a:solidFill>
              <a:latin typeface="Calibri" panose="020F0502020204030204" charset="0"/>
              <a:ea typeface="quote-cjk-patch"/>
              <a:cs typeface="Calibri" panose="020F0502020204030204" charset="0"/>
            </a:endParaRPr>
          </a:p>
          <a:p>
            <a:pPr marL="0" indent="0"/>
            <a:r>
              <a:rPr lang="zh-CN" altLang="en-US" sz="1600" b="0" i="0">
                <a:solidFill>
                  <a:srgbClr val="0F1115"/>
                </a:solidFill>
                <a:latin typeface="Calibri" panose="020F0502020204030204" charset="0"/>
                <a:ea typeface="quote-cjk-patch"/>
                <a:cs typeface="Calibri" panose="020F0502020204030204" charset="0"/>
              </a:rPr>
              <a:t>功能：提供三种策略解决数据冲突</a:t>
            </a:r>
            <a:endParaRPr lang="zh-CN" altLang="en-US" sz="1600" b="0" i="0">
              <a:solidFill>
                <a:srgbClr val="0F1115"/>
              </a:solidFill>
              <a:latin typeface="Calibri" panose="020F0502020204030204" charset="0"/>
              <a:ea typeface="quote-cjk-patch"/>
              <a:cs typeface="Calibri" panose="020F0502020204030204" charset="0"/>
            </a:endParaRPr>
          </a:p>
        </p:txBody>
      </p:sp>
      <p:sp>
        <p:nvSpPr>
          <p:cNvPr id="15" name="文本框 14"/>
          <p:cNvSpPr txBox="1"/>
          <p:nvPr/>
        </p:nvSpPr>
        <p:spPr>
          <a:xfrm>
            <a:off x="6645910" y="2196465"/>
            <a:ext cx="8006715" cy="2101850"/>
          </a:xfrm>
          <a:prstGeom prst="rect">
            <a:avLst/>
          </a:prstGeom>
        </p:spPr>
        <p:txBody>
          <a:bodyPr wrap="square">
            <a:spAutoFit/>
          </a:bodyPr>
          <a:p>
            <a:pPr indent="0" fontAlgn="auto">
              <a:lnSpc>
                <a:spcPct val="100000"/>
              </a:lnSpc>
              <a:spcBef>
                <a:spcPts val="800"/>
              </a:spcBef>
              <a:spcAft>
                <a:spcPts val="800"/>
              </a:spcAft>
            </a:pPr>
            <a:r>
              <a:rPr lang="zh-CN" altLang="en-US" sz="1600" b="0" i="0">
                <a:solidFill>
                  <a:srgbClr val="0F1115"/>
                </a:solidFill>
                <a:latin typeface="Calibri" panose="020F0502020204030204" charset="0"/>
                <a:ea typeface="quote-cjk-patch"/>
                <a:cs typeface="Calibri" panose="020F0502020204030204" charset="0"/>
              </a:rPr>
              <a:t>策略：</a:t>
            </a:r>
            <a:endParaRPr lang="zh-CN" altLang="en-US" sz="1600" b="0" i="0">
              <a:solidFill>
                <a:srgbClr val="0F1115"/>
              </a:solidFill>
              <a:latin typeface="Calibri" panose="020F0502020204030204" charset="0"/>
              <a:ea typeface="quote-cjk-patch"/>
              <a:cs typeface="Calibri" panose="020F0502020204030204" charset="0"/>
            </a:endParaRPr>
          </a:p>
          <a:p>
            <a:pPr indent="0" fontAlgn="auto">
              <a:lnSpc>
                <a:spcPct val="100000"/>
              </a:lnSpc>
              <a:spcBef>
                <a:spcPct val="0"/>
              </a:spcBef>
              <a:spcAft>
                <a:spcPct val="0"/>
              </a:spcAft>
              <a:buFont typeface="Arial" panose="020B0604020202020204"/>
              <a:buChar char="•"/>
            </a:pPr>
            <a:r>
              <a:rPr lang="en-US" altLang="zh-CN" b="0" i="0">
                <a:solidFill>
                  <a:srgbClr val="0F1115"/>
                </a:solidFill>
                <a:latin typeface="Calibri" panose="020F0502020204030204" charset="0"/>
                <a:ea typeface="Menlo"/>
                <a:cs typeface="Calibri" panose="020F0502020204030204" charset="0"/>
              </a:rPr>
              <a:t>USE_SOURCE</a:t>
            </a:r>
            <a:r>
              <a:rPr lang="zh-CN" altLang="en-US" sz="1600" b="0" i="0">
                <a:solidFill>
                  <a:srgbClr val="0F1115"/>
                </a:solidFill>
                <a:latin typeface="Calibri" panose="020F0502020204030204" charset="0"/>
                <a:ea typeface="quote-cjk-patch"/>
                <a:cs typeface="Calibri" panose="020F0502020204030204" charset="0"/>
              </a:rPr>
              <a:t>：</a:t>
            </a:r>
            <a:endParaRPr lang="zh-CN" altLang="en-US" sz="1600" b="0" i="0">
              <a:solidFill>
                <a:srgbClr val="0F1115"/>
              </a:solidFill>
              <a:latin typeface="Calibri" panose="020F0502020204030204" charset="0"/>
              <a:ea typeface="quote-cjk-patch"/>
              <a:cs typeface="Calibri" panose="020F0502020204030204" charset="0"/>
            </a:endParaRPr>
          </a:p>
          <a:p>
            <a:pPr indent="0" fontAlgn="auto">
              <a:lnSpc>
                <a:spcPct val="100000"/>
              </a:lnSpc>
              <a:spcBef>
                <a:spcPct val="0"/>
              </a:spcBef>
              <a:spcAft>
                <a:spcPct val="0"/>
              </a:spcAft>
              <a:buFont typeface="Arial" panose="020B0604020202020204"/>
              <a:buNone/>
            </a:pPr>
            <a:r>
              <a:rPr lang="en-US" altLang="zh-CN" sz="1600" b="0" i="0">
                <a:solidFill>
                  <a:srgbClr val="0F1115"/>
                </a:solidFill>
                <a:latin typeface="Calibri" panose="020F0502020204030204" charset="0"/>
                <a:ea typeface="quote-cjk-patch"/>
                <a:cs typeface="Calibri" panose="020F0502020204030204" charset="0"/>
              </a:rPr>
              <a:t>               </a:t>
            </a:r>
            <a:r>
              <a:rPr lang="zh-CN" altLang="en-US" sz="1600" b="0" i="0">
                <a:solidFill>
                  <a:srgbClr val="0F1115"/>
                </a:solidFill>
                <a:latin typeface="Calibri" panose="020F0502020204030204" charset="0"/>
                <a:ea typeface="quote-cjk-patch"/>
                <a:cs typeface="Calibri" panose="020F0502020204030204" charset="0"/>
              </a:rPr>
              <a:t>使用源数据库数据（</a:t>
            </a:r>
            <a:r>
              <a:rPr lang="en-US" altLang="zh-CN" b="0" i="0">
                <a:solidFill>
                  <a:srgbClr val="0F1115"/>
                </a:solidFill>
                <a:latin typeface="Calibri" panose="020F0502020204030204" charset="0"/>
                <a:ea typeface="Menlo"/>
                <a:cs typeface="Calibri" panose="020F0502020204030204" charset="0"/>
              </a:rPr>
              <a:t>resolveWithSourceStrategy()</a:t>
            </a:r>
            <a:r>
              <a:rPr lang="zh-CN" altLang="en-US" sz="1600" b="0" i="0">
                <a:solidFill>
                  <a:srgbClr val="0F1115"/>
                </a:solidFill>
                <a:latin typeface="Calibri" panose="020F0502020204030204" charset="0"/>
                <a:ea typeface="quote-cjk-patch"/>
                <a:cs typeface="Calibri" panose="020F0502020204030204" charset="0"/>
              </a:rPr>
              <a:t>）</a:t>
            </a:r>
            <a:endParaRPr lang="zh-CN" altLang="en-US" sz="1600" b="0" i="0">
              <a:solidFill>
                <a:srgbClr val="0F1115"/>
              </a:solidFill>
              <a:latin typeface="Calibri" panose="020F0502020204030204" charset="0"/>
              <a:ea typeface="quote-cjk-patch"/>
              <a:cs typeface="Calibri" panose="020F0502020204030204" charset="0"/>
            </a:endParaRPr>
          </a:p>
          <a:p>
            <a:pPr indent="0" fontAlgn="auto">
              <a:lnSpc>
                <a:spcPct val="100000"/>
              </a:lnSpc>
              <a:spcBef>
                <a:spcPct val="0"/>
              </a:spcBef>
              <a:spcAft>
                <a:spcPct val="0"/>
              </a:spcAft>
              <a:buFont typeface="Arial" panose="020B0604020202020204"/>
              <a:buChar char="•"/>
            </a:pPr>
            <a:r>
              <a:rPr lang="en-US" altLang="zh-CN" b="0" i="0">
                <a:solidFill>
                  <a:srgbClr val="0F1115"/>
                </a:solidFill>
                <a:latin typeface="Calibri" panose="020F0502020204030204" charset="0"/>
                <a:ea typeface="Menlo"/>
                <a:cs typeface="Calibri" panose="020F0502020204030204" charset="0"/>
              </a:rPr>
              <a:t>USE_TARGET</a:t>
            </a:r>
            <a:r>
              <a:rPr lang="zh-CN" altLang="en-US" sz="1600" b="0" i="0">
                <a:solidFill>
                  <a:srgbClr val="0F1115"/>
                </a:solidFill>
                <a:latin typeface="Calibri" panose="020F0502020204030204" charset="0"/>
                <a:ea typeface="quote-cjk-patch"/>
                <a:cs typeface="Calibri" panose="020F0502020204030204" charset="0"/>
              </a:rPr>
              <a:t>：</a:t>
            </a:r>
            <a:endParaRPr lang="zh-CN" altLang="en-US" sz="1600" b="0" i="0">
              <a:solidFill>
                <a:srgbClr val="0F1115"/>
              </a:solidFill>
              <a:latin typeface="Calibri" panose="020F0502020204030204" charset="0"/>
              <a:ea typeface="quote-cjk-patch"/>
              <a:cs typeface="Calibri" panose="020F0502020204030204" charset="0"/>
            </a:endParaRPr>
          </a:p>
          <a:p>
            <a:pPr indent="0" fontAlgn="auto">
              <a:lnSpc>
                <a:spcPct val="100000"/>
              </a:lnSpc>
              <a:spcBef>
                <a:spcPct val="0"/>
              </a:spcBef>
              <a:spcAft>
                <a:spcPct val="0"/>
              </a:spcAft>
              <a:buFont typeface="Arial" panose="020B0604020202020204"/>
              <a:buNone/>
            </a:pPr>
            <a:r>
              <a:rPr lang="en-US" altLang="zh-CN" sz="1600" b="0" i="0">
                <a:solidFill>
                  <a:srgbClr val="0F1115"/>
                </a:solidFill>
                <a:latin typeface="Calibri" panose="020F0502020204030204" charset="0"/>
                <a:ea typeface="quote-cjk-patch"/>
                <a:cs typeface="Calibri" panose="020F0502020204030204" charset="0"/>
              </a:rPr>
              <a:t> </a:t>
            </a:r>
            <a:r>
              <a:rPr lang="zh-CN" altLang="en-US" sz="1600" b="0" i="0">
                <a:solidFill>
                  <a:srgbClr val="0F1115"/>
                </a:solidFill>
                <a:latin typeface="Calibri" panose="020F0502020204030204" charset="0"/>
                <a:ea typeface="quote-cjk-patch"/>
                <a:cs typeface="Calibri" panose="020F0502020204030204" charset="0"/>
              </a:rPr>
              <a:t> </a:t>
            </a:r>
            <a:r>
              <a:rPr lang="en-US" altLang="zh-CN" sz="1600" b="0" i="0">
                <a:solidFill>
                  <a:srgbClr val="0F1115"/>
                </a:solidFill>
                <a:latin typeface="Calibri" panose="020F0502020204030204" charset="0"/>
                <a:ea typeface="quote-cjk-patch"/>
                <a:cs typeface="Calibri" panose="020F0502020204030204" charset="0"/>
              </a:rPr>
              <a:t>            </a:t>
            </a:r>
            <a:r>
              <a:rPr lang="zh-CN" altLang="en-US" sz="1600" b="0" i="0">
                <a:solidFill>
                  <a:srgbClr val="0F1115"/>
                </a:solidFill>
                <a:latin typeface="Calibri" panose="020F0502020204030204" charset="0"/>
                <a:ea typeface="quote-cjk-patch"/>
                <a:cs typeface="Calibri" panose="020F0502020204030204" charset="0"/>
              </a:rPr>
              <a:t>保留目标数据库数据（</a:t>
            </a:r>
            <a:r>
              <a:rPr lang="en-US" altLang="zh-CN" b="0" i="0">
                <a:solidFill>
                  <a:srgbClr val="0F1115"/>
                </a:solidFill>
                <a:latin typeface="Calibri" panose="020F0502020204030204" charset="0"/>
                <a:ea typeface="Menlo"/>
                <a:cs typeface="Calibri" panose="020F0502020204030204" charset="0"/>
              </a:rPr>
              <a:t>resolveWithTargetStrategy()</a:t>
            </a:r>
            <a:r>
              <a:rPr lang="zh-CN" altLang="en-US" sz="1600" b="0" i="0">
                <a:solidFill>
                  <a:srgbClr val="0F1115"/>
                </a:solidFill>
                <a:latin typeface="Calibri" panose="020F0502020204030204" charset="0"/>
                <a:ea typeface="quote-cjk-patch"/>
                <a:cs typeface="Calibri" panose="020F0502020204030204" charset="0"/>
              </a:rPr>
              <a:t>）</a:t>
            </a:r>
            <a:endParaRPr lang="zh-CN" altLang="en-US" sz="1600" b="0" i="0">
              <a:solidFill>
                <a:srgbClr val="0F1115"/>
              </a:solidFill>
              <a:latin typeface="Calibri" panose="020F0502020204030204" charset="0"/>
              <a:ea typeface="quote-cjk-patch"/>
              <a:cs typeface="Calibri" panose="020F0502020204030204" charset="0"/>
            </a:endParaRPr>
          </a:p>
          <a:p>
            <a:pPr indent="0" fontAlgn="auto">
              <a:lnSpc>
                <a:spcPct val="100000"/>
              </a:lnSpc>
              <a:spcBef>
                <a:spcPct val="0"/>
              </a:spcBef>
              <a:spcAft>
                <a:spcPct val="0"/>
              </a:spcAft>
              <a:buFont typeface="Arial" panose="020B0604020202020204"/>
              <a:buChar char="•"/>
            </a:pPr>
            <a:r>
              <a:rPr lang="en-US" altLang="zh-CN" b="0" i="0">
                <a:solidFill>
                  <a:srgbClr val="0F1115"/>
                </a:solidFill>
                <a:latin typeface="Calibri" panose="020F0502020204030204" charset="0"/>
                <a:ea typeface="Menlo"/>
                <a:cs typeface="Calibri" panose="020F0502020204030204" charset="0"/>
              </a:rPr>
              <a:t>USE_LATEST</a:t>
            </a:r>
            <a:r>
              <a:rPr lang="zh-CN" altLang="en-US" sz="1600" b="0" i="0">
                <a:solidFill>
                  <a:srgbClr val="0F1115"/>
                </a:solidFill>
                <a:latin typeface="Calibri" panose="020F0502020204030204" charset="0"/>
                <a:ea typeface="quote-cjk-patch"/>
                <a:cs typeface="Calibri" panose="020F0502020204030204" charset="0"/>
              </a:rPr>
              <a:t>：</a:t>
            </a:r>
            <a:endParaRPr lang="zh-CN" altLang="en-US" sz="1600" b="0" i="0">
              <a:solidFill>
                <a:srgbClr val="0F1115"/>
              </a:solidFill>
              <a:latin typeface="Calibri" panose="020F0502020204030204" charset="0"/>
              <a:ea typeface="quote-cjk-patch"/>
              <a:cs typeface="Calibri" panose="020F0502020204030204" charset="0"/>
            </a:endParaRPr>
          </a:p>
          <a:p>
            <a:pPr indent="0" fontAlgn="auto">
              <a:lnSpc>
                <a:spcPct val="100000"/>
              </a:lnSpc>
              <a:spcBef>
                <a:spcPct val="0"/>
              </a:spcBef>
              <a:spcAft>
                <a:spcPct val="0"/>
              </a:spcAft>
              <a:buFont typeface="Arial" panose="020B0604020202020204"/>
              <a:buNone/>
            </a:pPr>
            <a:r>
              <a:rPr lang="en-US" altLang="zh-CN" sz="1600" b="0" i="0">
                <a:solidFill>
                  <a:srgbClr val="0F1115"/>
                </a:solidFill>
                <a:latin typeface="Calibri" panose="020F0502020204030204" charset="0"/>
                <a:ea typeface="quote-cjk-patch"/>
                <a:cs typeface="Calibri" panose="020F0502020204030204" charset="0"/>
              </a:rPr>
              <a:t> </a:t>
            </a:r>
            <a:r>
              <a:rPr lang="zh-CN" altLang="en-US" sz="1600" b="0" i="0">
                <a:solidFill>
                  <a:srgbClr val="0F1115"/>
                </a:solidFill>
                <a:latin typeface="Calibri" panose="020F0502020204030204" charset="0"/>
                <a:ea typeface="quote-cjk-patch"/>
                <a:cs typeface="Calibri" panose="020F0502020204030204" charset="0"/>
              </a:rPr>
              <a:t> </a:t>
            </a:r>
            <a:r>
              <a:rPr lang="en-US" altLang="zh-CN" sz="1600" b="0" i="0">
                <a:solidFill>
                  <a:srgbClr val="0F1115"/>
                </a:solidFill>
                <a:latin typeface="Calibri" panose="020F0502020204030204" charset="0"/>
                <a:ea typeface="quote-cjk-patch"/>
                <a:cs typeface="Calibri" panose="020F0502020204030204" charset="0"/>
              </a:rPr>
              <a:t>            </a:t>
            </a:r>
            <a:r>
              <a:rPr lang="zh-CN" altLang="en-US" sz="1600" b="0" i="0">
                <a:solidFill>
                  <a:srgbClr val="0F1115"/>
                </a:solidFill>
                <a:latin typeface="Calibri" panose="020F0502020204030204" charset="0"/>
                <a:ea typeface="quote-cjk-patch"/>
                <a:cs typeface="Calibri" panose="020F0502020204030204" charset="0"/>
              </a:rPr>
              <a:t>使用最新时间戳数据（</a:t>
            </a:r>
            <a:r>
              <a:rPr lang="en-US" altLang="zh-CN" b="0" i="0">
                <a:solidFill>
                  <a:srgbClr val="0F1115"/>
                </a:solidFill>
                <a:latin typeface="Calibri" panose="020F0502020204030204" charset="0"/>
                <a:ea typeface="Menlo"/>
                <a:cs typeface="Calibri" panose="020F0502020204030204" charset="0"/>
              </a:rPr>
              <a:t>resolveWithLatestStrategy()</a:t>
            </a:r>
            <a:r>
              <a:rPr lang="zh-CN" altLang="en-US" sz="1600" b="0" i="0">
                <a:solidFill>
                  <a:srgbClr val="0F1115"/>
                </a:solidFill>
                <a:latin typeface="Calibri" panose="020F0502020204030204" charset="0"/>
                <a:ea typeface="quote-cjk-patch"/>
                <a:cs typeface="Calibri" panose="020F0502020204030204" charset="0"/>
              </a:rPr>
              <a:t>）</a:t>
            </a:r>
            <a:endParaRPr lang="zh-CN" altLang="en-US" sz="1600" b="0" i="0">
              <a:solidFill>
                <a:srgbClr val="0F1115"/>
              </a:solidFill>
              <a:latin typeface="Calibri" panose="020F0502020204030204" charset="0"/>
              <a:ea typeface="quote-cjk-patch"/>
              <a:cs typeface="Calibri" panose="020F0502020204030204" charset="0"/>
            </a:endParaRPr>
          </a:p>
        </p:txBody>
      </p:sp>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custDataLst>
              <p:tags r:id="rId1"/>
            </p:custDataLst>
          </p:nvPr>
        </p:nvPicPr>
        <p:blipFill>
          <a:blip r:embed="rId2"/>
          <a:srcRect r="48620" b="-868"/>
          <a:stretch>
            <a:fillRect/>
          </a:stretch>
        </p:blipFill>
        <p:spPr>
          <a:xfrm>
            <a:off x="9662795" y="1339215"/>
            <a:ext cx="2529205" cy="4572635"/>
          </a:xfrm>
          <a:prstGeom prst="rect">
            <a:avLst/>
          </a:prstGeom>
        </p:spPr>
      </p:pic>
      <p:pic>
        <p:nvPicPr>
          <p:cNvPr id="26" name="图片 25"/>
          <p:cNvPicPr>
            <a:picLocks noChangeAspect="1"/>
          </p:cNvPicPr>
          <p:nvPr>
            <p:custDataLst>
              <p:tags r:id="rId3"/>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4867910" cy="537845"/>
            <a:chOff x="0" y="522"/>
            <a:chExt cx="766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476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多数据库</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邮件机制</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85"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zh-CN" altLang="en-US" sz="2800" dirty="0">
                <a:solidFill>
                  <a:schemeClr val="bg1"/>
                </a:solidFill>
              </a:endParaRPr>
            </a:p>
          </p:txBody>
        </p:sp>
        <p:pic>
          <p:nvPicPr>
            <p:cNvPr id="9" name="图片 8" descr="微信图片_20200425233959"/>
            <p:cNvPicPr>
              <a:picLocks noChangeAspect="1"/>
            </p:cNvPicPr>
            <p:nvPr/>
          </p:nvPicPr>
          <p:blipFill>
            <a:blip r:embed="rId4">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
        <p:nvSpPr>
          <p:cNvPr id="18" name="文本框 17"/>
          <p:cNvSpPr txBox="1"/>
          <p:nvPr/>
        </p:nvSpPr>
        <p:spPr>
          <a:xfrm>
            <a:off x="1160780" y="1767840"/>
            <a:ext cx="5391785" cy="3138170"/>
          </a:xfrm>
          <a:prstGeom prst="rect">
            <a:avLst/>
          </a:prstGeom>
          <a:noFill/>
        </p:spPr>
        <p:txBody>
          <a:bodyPr wrap="square" rtlCol="0" anchor="t">
            <a:spAutoFit/>
          </a:bodyPr>
          <a:p>
            <a:r>
              <a:rPr lang="zh-CN" altLang="en-US"/>
              <a:t>数据冲突发生</a:t>
            </a:r>
            <a:endParaRPr lang="zh-CN" altLang="en-US"/>
          </a:p>
          <a:p>
            <a:r>
              <a:rPr lang="en-US" altLang="zh-CN"/>
              <a:t>    </a:t>
            </a:r>
            <a:r>
              <a:rPr lang="en-US" altLang="en-US"/>
              <a:t>↓</a:t>
            </a:r>
            <a:endParaRPr lang="en-US" altLang="en-US"/>
          </a:p>
          <a:p>
            <a:r>
              <a:rPr lang="en-US" altLang="zh-CN"/>
              <a:t>MultiDatabaseService.detectAllConflicts()</a:t>
            </a:r>
            <a:endParaRPr lang="en-US" altLang="zh-CN"/>
          </a:p>
          <a:p>
            <a:r>
              <a:rPr lang="en-US" altLang="zh-CN"/>
              <a:t>    </a:t>
            </a:r>
            <a:r>
              <a:rPr lang="en-US" altLang="en-US"/>
              <a:t>↓</a:t>
            </a:r>
            <a:endParaRPr lang="en-US" altLang="en-US"/>
          </a:p>
          <a:p>
            <a:r>
              <a:rPr lang="zh-CN" altLang="en-US"/>
              <a:t>创建</a:t>
            </a:r>
            <a:r>
              <a:rPr lang="en-US" altLang="zh-CN"/>
              <a:t>DataConflict</a:t>
            </a:r>
            <a:r>
              <a:rPr lang="zh-CN" altLang="en-US"/>
              <a:t>对象</a:t>
            </a:r>
            <a:endParaRPr lang="zh-CN" altLang="en-US"/>
          </a:p>
          <a:p>
            <a:r>
              <a:rPr lang="en-US" altLang="zh-CN"/>
              <a:t>    </a:t>
            </a:r>
            <a:r>
              <a:rPr lang="en-US" altLang="en-US"/>
              <a:t>↓</a:t>
            </a:r>
            <a:endParaRPr lang="en-US" altLang="en-US"/>
          </a:p>
          <a:p>
            <a:r>
              <a:rPr lang="en-US" altLang="zh-CN"/>
              <a:t>EmailService.sendConflictNotification()</a:t>
            </a:r>
            <a:endParaRPr lang="en-US" altLang="zh-CN"/>
          </a:p>
          <a:p>
            <a:r>
              <a:rPr lang="en-US" altLang="zh-CN"/>
              <a:t>    </a:t>
            </a:r>
            <a:r>
              <a:rPr lang="en-US" altLang="en-US"/>
              <a:t>├──</a:t>
            </a:r>
            <a:r>
              <a:rPr lang="en-US" altLang="zh-CN"/>
              <a:t> </a:t>
            </a:r>
            <a:r>
              <a:rPr lang="zh-CN" altLang="en-US"/>
              <a:t>成功</a:t>
            </a:r>
            <a:r>
              <a:rPr lang="en-US" altLang="zh-CN"/>
              <a:t> </a:t>
            </a:r>
            <a:r>
              <a:rPr lang="en-US" altLang="en-US"/>
              <a:t>→</a:t>
            </a:r>
            <a:r>
              <a:rPr lang="en-US" altLang="zh-CN"/>
              <a:t> </a:t>
            </a:r>
            <a:r>
              <a:rPr lang="zh-CN" altLang="en-US"/>
              <a:t>管理员收到邮件</a:t>
            </a:r>
            <a:endParaRPr lang="zh-CN" altLang="en-US"/>
          </a:p>
          <a:p>
            <a:r>
              <a:rPr lang="en-US" altLang="zh-CN"/>
              <a:t>    </a:t>
            </a:r>
            <a:r>
              <a:rPr lang="en-US" altLang="en-US"/>
              <a:t>├──</a:t>
            </a:r>
            <a:r>
              <a:rPr lang="en-US" altLang="zh-CN"/>
              <a:t> </a:t>
            </a:r>
            <a:r>
              <a:rPr lang="zh-CN" altLang="en-US"/>
              <a:t>失败</a:t>
            </a:r>
            <a:r>
              <a:rPr lang="en-US" altLang="zh-CN"/>
              <a:t> </a:t>
            </a:r>
            <a:r>
              <a:rPr lang="en-US" altLang="en-US"/>
              <a:t>→</a:t>
            </a:r>
            <a:r>
              <a:rPr lang="en-US" altLang="zh-CN"/>
              <a:t> sendSimpleConflictEmail()</a:t>
            </a:r>
            <a:r>
              <a:rPr lang="zh-CN" altLang="en-US"/>
              <a:t>（文本邮件）</a:t>
            </a:r>
            <a:endParaRPr lang="zh-CN" altLang="en-US"/>
          </a:p>
          <a:p>
            <a:r>
              <a:rPr lang="en-US" altLang="zh-CN"/>
              <a:t>    </a:t>
            </a:r>
            <a:r>
              <a:rPr lang="en-US" altLang="en-US"/>
              <a:t>└──</a:t>
            </a:r>
            <a:r>
              <a:rPr lang="en-US" altLang="zh-CN"/>
              <a:t> </a:t>
            </a:r>
            <a:r>
              <a:rPr lang="zh-CN" altLang="en-US"/>
              <a:t>完全失败</a:t>
            </a:r>
            <a:r>
              <a:rPr lang="en-US" altLang="zh-CN"/>
              <a:t> </a:t>
            </a:r>
            <a:r>
              <a:rPr lang="en-US" altLang="en-US"/>
              <a:t>→</a:t>
            </a:r>
            <a:r>
              <a:rPr lang="en-US" altLang="zh-CN"/>
              <a:t> logFallbackConflictNotification()</a:t>
            </a:r>
            <a:r>
              <a:rPr lang="zh-CN" altLang="en-US"/>
              <a:t>（日志记录）</a:t>
            </a:r>
            <a:endParaRPr lang="zh-CN" altLang="en-US"/>
          </a:p>
        </p:txBody>
      </p:sp>
      <p:sp>
        <p:nvSpPr>
          <p:cNvPr id="19" name="文本框 18"/>
          <p:cNvSpPr txBox="1"/>
          <p:nvPr/>
        </p:nvSpPr>
        <p:spPr>
          <a:xfrm>
            <a:off x="1421130" y="1137920"/>
            <a:ext cx="2476500" cy="460375"/>
          </a:xfrm>
          <a:prstGeom prst="rect">
            <a:avLst/>
          </a:prstGeom>
          <a:noFill/>
        </p:spPr>
        <p:txBody>
          <a:bodyPr wrap="square" rtlCol="0" anchor="t">
            <a:spAutoFit/>
          </a:bodyPr>
          <a:p>
            <a:r>
              <a:rPr lang="zh-CN" altLang="en-US" sz="2400">
                <a:solidFill>
                  <a:srgbClr val="00B0F0"/>
                </a:solidFill>
                <a:sym typeface="+mn-ea"/>
              </a:rPr>
              <a:t>邮件服务流程图</a:t>
            </a:r>
            <a:endParaRPr lang="zh-CN" altLang="en-US" sz="2400">
              <a:solidFill>
                <a:srgbClr val="00B0F0"/>
              </a:solidFill>
              <a:sym typeface="+mn-ea"/>
            </a:endParaRPr>
          </a:p>
        </p:txBody>
      </p:sp>
      <p:sp>
        <p:nvSpPr>
          <p:cNvPr id="20" name="文本框 19"/>
          <p:cNvSpPr txBox="1"/>
          <p:nvPr/>
        </p:nvSpPr>
        <p:spPr>
          <a:xfrm>
            <a:off x="6463665" y="3429000"/>
            <a:ext cx="5080000" cy="2817495"/>
          </a:xfrm>
          <a:prstGeom prst="rect">
            <a:avLst/>
          </a:prstGeom>
        </p:spPr>
        <p:txBody>
          <a:bodyPr>
            <a:noAutofit/>
          </a:bodyPr>
          <a:p>
            <a:pPr marL="0" indent="0">
              <a:lnSpc>
                <a:spcPts val="1400"/>
              </a:lnSpc>
              <a:spcBef>
                <a:spcPts val="800"/>
              </a:spcBef>
              <a:spcAft>
                <a:spcPts val="800"/>
              </a:spcAft>
            </a:pPr>
            <a:r>
              <a:rPr lang="zh-CN" altLang="en-US" sz="2400" b="0">
                <a:solidFill>
                  <a:srgbClr val="00B0F0"/>
                </a:solidFill>
                <a:latin typeface="Calibri" panose="020F0502020204030204" charset="0"/>
                <a:ea typeface="quote-cjk-patch"/>
                <a:cs typeface="Calibri" panose="020F0502020204030204" charset="0"/>
              </a:rPr>
              <a:t>冲突即时通知</a:t>
            </a:r>
            <a:endParaRPr lang="zh-CN" altLang="en-US" sz="2400" b="0">
              <a:solidFill>
                <a:srgbClr val="00B0F0"/>
              </a:solidFill>
              <a:latin typeface="Calibri" panose="020F0502020204030204" charset="0"/>
              <a:ea typeface="quote-cjk-patch"/>
              <a:cs typeface="Calibri" panose="020F0502020204030204" charset="0"/>
            </a:endParaRPr>
          </a:p>
          <a:p>
            <a:pPr marL="0" indent="0">
              <a:spcBef>
                <a:spcPts val="800"/>
              </a:spcBef>
              <a:spcAft>
                <a:spcPts val="800"/>
              </a:spcAft>
            </a:pPr>
            <a:r>
              <a:rPr lang="zh-CN" altLang="en-US" sz="1600" b="0" i="0">
                <a:solidFill>
                  <a:srgbClr val="0F1115"/>
                </a:solidFill>
                <a:latin typeface="Calibri" panose="020F0502020204030204" charset="0"/>
                <a:ea typeface="quote-cjk-patch"/>
                <a:cs typeface="Calibri" panose="020F0502020204030204" charset="0"/>
              </a:rPr>
              <a:t>方法：</a:t>
            </a:r>
            <a:r>
              <a:rPr lang="en-US" altLang="zh-CN" b="0" i="0">
                <a:solidFill>
                  <a:srgbClr val="0F1115"/>
                </a:solidFill>
                <a:latin typeface="Calibri" panose="020F0502020204030204" charset="0"/>
                <a:ea typeface="Menlo"/>
                <a:cs typeface="Calibri" panose="020F0502020204030204" charset="0"/>
              </a:rPr>
              <a:t>EmailService.sendConflictNotification()</a:t>
            </a:r>
            <a:endParaRPr lang="en-US" altLang="zh-CN" b="0" i="0">
              <a:solidFill>
                <a:srgbClr val="0F1115"/>
              </a:solidFill>
              <a:latin typeface="Calibri" panose="020F0502020204030204" charset="0"/>
              <a:ea typeface="Menlo"/>
              <a:cs typeface="Calibri" panose="020F0502020204030204" charset="0"/>
            </a:endParaRPr>
          </a:p>
          <a:p>
            <a:pPr marL="0" indent="0">
              <a:spcBef>
                <a:spcPts val="800"/>
              </a:spcBef>
              <a:spcAft>
                <a:spcPts val="800"/>
              </a:spcAft>
            </a:pPr>
            <a:r>
              <a:rPr lang="zh-CN" altLang="en-US" sz="1600" b="0" i="0">
                <a:solidFill>
                  <a:srgbClr val="0F1115"/>
                </a:solidFill>
                <a:latin typeface="Calibri" panose="020F0502020204030204" charset="0"/>
                <a:ea typeface="quote-cjk-patch"/>
                <a:cs typeface="Calibri" panose="020F0502020204030204" charset="0"/>
              </a:rPr>
              <a:t>触发条件：</a:t>
            </a:r>
            <a:r>
              <a:rPr lang="en-US" altLang="zh-CN" b="0" i="0">
                <a:solidFill>
                  <a:srgbClr val="0F1115"/>
                </a:solidFill>
                <a:latin typeface="Calibri" panose="020F0502020204030204" charset="0"/>
                <a:ea typeface="Menlo"/>
                <a:cs typeface="Calibri" panose="020F0502020204030204" charset="0"/>
              </a:rPr>
              <a:t>MultiDatabaseService</a:t>
            </a:r>
            <a:r>
              <a:rPr lang="zh-CN" altLang="en-US" sz="1600" b="0" i="0">
                <a:solidFill>
                  <a:srgbClr val="0F1115"/>
                </a:solidFill>
                <a:latin typeface="Calibri" panose="020F0502020204030204" charset="0"/>
                <a:ea typeface="quote-cjk-patch"/>
                <a:cs typeface="Calibri" panose="020F0502020204030204" charset="0"/>
              </a:rPr>
              <a:t>检测到数据冲突</a:t>
            </a:r>
            <a:endParaRPr lang="zh-CN" altLang="en-US" sz="1600" b="0" i="0">
              <a:solidFill>
                <a:srgbClr val="0F1115"/>
              </a:solidFill>
              <a:latin typeface="Calibri" panose="020F0502020204030204" charset="0"/>
              <a:ea typeface="quote-cjk-patch"/>
              <a:cs typeface="Calibri" panose="020F0502020204030204" charset="0"/>
            </a:endParaRPr>
          </a:p>
          <a:p>
            <a:pPr marL="0" indent="0">
              <a:spcBef>
                <a:spcPts val="800"/>
              </a:spcBef>
              <a:spcAft>
                <a:spcPts val="800"/>
              </a:spcAft>
            </a:pPr>
            <a:r>
              <a:rPr lang="zh-CN" altLang="en-US" sz="1600" b="0" i="0">
                <a:solidFill>
                  <a:srgbClr val="0F1115"/>
                </a:solidFill>
                <a:latin typeface="Calibri" panose="020F0502020204030204" charset="0"/>
                <a:ea typeface="quote-cjk-patch"/>
                <a:cs typeface="Calibri" panose="020F0502020204030204" charset="0"/>
              </a:rPr>
              <a:t>技术特点：</a:t>
            </a:r>
            <a:endParaRPr lang="zh-CN" altLang="en-US" sz="1600" b="0" i="0">
              <a:solidFill>
                <a:srgbClr val="0F1115"/>
              </a:solidFill>
              <a:latin typeface="Calibri" panose="020F0502020204030204" charset="0"/>
              <a:ea typeface="quote-cjk-patch"/>
              <a:cs typeface="Calibri" panose="020F0502020204030204" charset="0"/>
            </a:endParaRPr>
          </a:p>
          <a:p>
            <a:pPr marL="0" indent="0">
              <a:spcBef>
                <a:spcPct val="0"/>
              </a:spcBef>
              <a:spcAft>
                <a:spcPct val="0"/>
              </a:spcAft>
              <a:buFont typeface="Arial" panose="020B0604020202020204"/>
              <a:buChar char="•"/>
            </a:pPr>
            <a:r>
              <a:rPr lang="zh-CN" altLang="en-US" sz="1600" b="0" i="0">
                <a:solidFill>
                  <a:srgbClr val="0F1115"/>
                </a:solidFill>
                <a:latin typeface="Calibri" panose="020F0502020204030204" charset="0"/>
                <a:ea typeface="quote-cjk-patch"/>
                <a:cs typeface="Calibri" panose="020F0502020204030204" charset="0"/>
              </a:rPr>
              <a:t>异步发送：使用</a:t>
            </a:r>
            <a:r>
              <a:rPr lang="en-US" altLang="zh-CN" b="0" i="0">
                <a:solidFill>
                  <a:srgbClr val="0F1115"/>
                </a:solidFill>
                <a:latin typeface="Calibri" panose="020F0502020204030204" charset="0"/>
                <a:ea typeface="Menlo"/>
                <a:cs typeface="Calibri" panose="020F0502020204030204" charset="0"/>
              </a:rPr>
              <a:t>@Async</a:t>
            </a:r>
            <a:r>
              <a:rPr lang="zh-CN" altLang="en-US" sz="1600" b="0" i="0">
                <a:solidFill>
                  <a:srgbClr val="0F1115"/>
                </a:solidFill>
                <a:latin typeface="Calibri" panose="020F0502020204030204" charset="0"/>
                <a:ea typeface="quote-cjk-patch"/>
                <a:cs typeface="Calibri" panose="020F0502020204030204" charset="0"/>
              </a:rPr>
              <a:t>注解，不阻塞主业务流程</a:t>
            </a:r>
            <a:endParaRPr lang="zh-CN" altLang="en-US" sz="1600" b="0" i="0">
              <a:solidFill>
                <a:srgbClr val="0F1115"/>
              </a:solidFill>
              <a:latin typeface="Calibri" panose="020F0502020204030204" charset="0"/>
              <a:ea typeface="quote-cjk-patch"/>
              <a:cs typeface="Calibri" panose="020F0502020204030204" charset="0"/>
            </a:endParaRPr>
          </a:p>
          <a:p>
            <a:pPr marL="0" indent="0">
              <a:spcBef>
                <a:spcPct val="0"/>
              </a:spcBef>
              <a:spcAft>
                <a:spcPct val="0"/>
              </a:spcAft>
              <a:buFont typeface="Arial" panose="020B0604020202020204"/>
              <a:buChar char="•"/>
            </a:pPr>
            <a:r>
              <a:rPr lang="zh-CN" altLang="en-US" sz="1600" b="0" i="0">
                <a:solidFill>
                  <a:srgbClr val="0F1115"/>
                </a:solidFill>
                <a:latin typeface="Calibri" panose="020F0502020204030204" charset="0"/>
                <a:ea typeface="quote-cjk-patch"/>
                <a:cs typeface="Calibri" panose="020F0502020204030204" charset="0"/>
              </a:rPr>
              <a:t>模板化：使用</a:t>
            </a:r>
            <a:r>
              <a:rPr lang="en-US" altLang="zh-CN" sz="1600" b="0" i="0">
                <a:solidFill>
                  <a:srgbClr val="0F1115"/>
                </a:solidFill>
                <a:latin typeface="Calibri" panose="020F0502020204030204" charset="0"/>
                <a:ea typeface="quote-cjk-patch"/>
                <a:cs typeface="Calibri" panose="020F0502020204030204" charset="0"/>
              </a:rPr>
              <a:t>Thymeleaf HTML</a:t>
            </a:r>
            <a:r>
              <a:rPr lang="zh-CN" altLang="en-US" sz="1600" b="0" i="0">
                <a:solidFill>
                  <a:srgbClr val="0F1115"/>
                </a:solidFill>
                <a:latin typeface="Calibri" panose="020F0502020204030204" charset="0"/>
                <a:ea typeface="quote-cjk-patch"/>
                <a:cs typeface="Calibri" panose="020F0502020204030204" charset="0"/>
              </a:rPr>
              <a:t>模板，邮件美观专业</a:t>
            </a:r>
            <a:endParaRPr lang="zh-CN" altLang="en-US" sz="1600" b="0" i="0">
              <a:solidFill>
                <a:srgbClr val="0F1115"/>
              </a:solidFill>
              <a:latin typeface="Calibri" panose="020F0502020204030204" charset="0"/>
              <a:ea typeface="quote-cjk-patch"/>
              <a:cs typeface="Calibri" panose="020F0502020204030204" charset="0"/>
            </a:endParaRPr>
          </a:p>
          <a:p>
            <a:pPr marL="0" indent="0">
              <a:spcBef>
                <a:spcPct val="0"/>
              </a:spcBef>
              <a:spcAft>
                <a:spcPct val="0"/>
              </a:spcAft>
              <a:buFont typeface="Arial" panose="020B0604020202020204"/>
              <a:buChar char="•"/>
            </a:pPr>
            <a:r>
              <a:rPr lang="zh-CN" altLang="en-US" sz="1600" b="0" i="0">
                <a:solidFill>
                  <a:srgbClr val="0F1115"/>
                </a:solidFill>
                <a:latin typeface="Calibri" panose="020F0502020204030204" charset="0"/>
                <a:ea typeface="quote-cjk-patch"/>
                <a:cs typeface="Calibri" panose="020F0502020204030204" charset="0"/>
              </a:rPr>
              <a:t>降级处理：邮件发送失败时自动记录到日志</a:t>
            </a:r>
            <a:endParaRPr lang="zh-CN" altLang="en-US" sz="1600" b="0" i="0">
              <a:solidFill>
                <a:srgbClr val="0F1115"/>
              </a:solidFill>
              <a:latin typeface="Calibri" panose="020F0502020204030204" charset="0"/>
              <a:ea typeface="quote-cjk-patch"/>
              <a:cs typeface="Calibri" panose="020F0502020204030204" charset="0"/>
            </a:endParaRPr>
          </a:p>
          <a:p>
            <a:pPr marL="0" indent="0">
              <a:spcBef>
                <a:spcPct val="0"/>
              </a:spcBef>
              <a:spcAft>
                <a:spcPct val="0"/>
              </a:spcAft>
              <a:buFont typeface="Arial" panose="020B0604020202020204"/>
              <a:buChar char="•"/>
            </a:pPr>
            <a:r>
              <a:rPr lang="zh-CN" altLang="en-US" sz="1600" b="0" i="0">
                <a:solidFill>
                  <a:srgbClr val="0F1115"/>
                </a:solidFill>
                <a:latin typeface="Calibri" panose="020F0502020204030204" charset="0"/>
                <a:ea typeface="quote-cjk-patch"/>
                <a:cs typeface="Calibri" panose="020F0502020204030204" charset="0"/>
              </a:rPr>
              <a:t>配置灵活：支持通过配置文件启用</a:t>
            </a:r>
            <a:r>
              <a:rPr lang="en-US" altLang="zh-CN" sz="1600" b="0" i="0">
                <a:solidFill>
                  <a:srgbClr val="0F1115"/>
                </a:solidFill>
                <a:latin typeface="Calibri" panose="020F0502020204030204" charset="0"/>
                <a:ea typeface="quote-cjk-patch"/>
                <a:cs typeface="Calibri" panose="020F0502020204030204" charset="0"/>
              </a:rPr>
              <a:t>/</a:t>
            </a:r>
            <a:r>
              <a:rPr lang="zh-CN" altLang="en-US" sz="1600" b="0" i="0">
                <a:solidFill>
                  <a:srgbClr val="0F1115"/>
                </a:solidFill>
                <a:latin typeface="Calibri" panose="020F0502020204030204" charset="0"/>
                <a:ea typeface="quote-cjk-patch"/>
                <a:cs typeface="Calibri" panose="020F0502020204030204" charset="0"/>
              </a:rPr>
              <a:t>禁用</a:t>
            </a:r>
            <a:endParaRPr lang="zh-CN" altLang="en-US" sz="1600" b="0" i="0">
              <a:solidFill>
                <a:srgbClr val="0F1115"/>
              </a:solidFill>
              <a:latin typeface="Calibri" panose="020F0502020204030204" charset="0"/>
              <a:ea typeface="quote-cjk-patch"/>
              <a:cs typeface="Calibri" panose="020F0502020204030204" charset="0"/>
            </a:endParaRPr>
          </a:p>
        </p:txBody>
      </p:sp>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4867910" cy="537845"/>
            <a:chOff x="0" y="522"/>
            <a:chExt cx="766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476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多数据库同步机制</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85"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pic>
        <p:nvPicPr>
          <p:cNvPr id="3" name="图片 2" descr="deepseek_mermaid_20251210_635b77"/>
          <p:cNvPicPr>
            <a:picLocks noChangeAspect="1"/>
          </p:cNvPicPr>
          <p:nvPr/>
        </p:nvPicPr>
        <p:blipFill>
          <a:blip r:embed="rId4"/>
          <a:srcRect l="9796" t="3352" r="6329" b="3426"/>
          <a:stretch>
            <a:fillRect/>
          </a:stretch>
        </p:blipFill>
        <p:spPr>
          <a:xfrm>
            <a:off x="4804410" y="0"/>
            <a:ext cx="6551295" cy="6831330"/>
          </a:xfrm>
          <a:prstGeom prst="rect">
            <a:avLst/>
          </a:prstGeom>
        </p:spPr>
      </p:pic>
      <p:pic>
        <p:nvPicPr>
          <p:cNvPr id="12" name="图片 11"/>
          <p:cNvPicPr>
            <a:picLocks noChangeAspect="1"/>
          </p:cNvPicPr>
          <p:nvPr>
            <p:custDataLst>
              <p:tags r:id="rId5"/>
            </p:custDataLst>
          </p:nvPr>
        </p:nvPicPr>
        <p:blipFill>
          <a:blip r:embed="rId2"/>
          <a:srcRect r="48620" b="-868"/>
          <a:stretch>
            <a:fillRect/>
          </a:stretch>
        </p:blipFill>
        <p:spPr>
          <a:xfrm>
            <a:off x="9662795" y="1339215"/>
            <a:ext cx="2529205" cy="4572635"/>
          </a:xfrm>
          <a:prstGeom prst="rect">
            <a:avLst/>
          </a:prstGeom>
        </p:spPr>
      </p:pic>
      <p:sp>
        <p:nvSpPr>
          <p:cNvPr id="4" name="文本框 3"/>
          <p:cNvSpPr txBox="1"/>
          <p:nvPr/>
        </p:nvSpPr>
        <p:spPr>
          <a:xfrm>
            <a:off x="2438400" y="1619250"/>
            <a:ext cx="1739900" cy="460375"/>
          </a:xfrm>
          <a:prstGeom prst="rect">
            <a:avLst/>
          </a:prstGeom>
          <a:noFill/>
        </p:spPr>
        <p:txBody>
          <a:bodyPr wrap="square" rtlCol="0">
            <a:spAutoFit/>
          </a:bodyPr>
          <a:p>
            <a:r>
              <a:rPr lang="zh-CN" altLang="en-US" sz="2400">
                <a:solidFill>
                  <a:srgbClr val="00B0F0"/>
                </a:solidFill>
              </a:rPr>
              <a:t>同步时序图</a:t>
            </a:r>
            <a:endParaRPr lang="zh-CN" altLang="en-US" sz="2400">
              <a:solidFill>
                <a:srgbClr val="00B0F0"/>
              </a:solidFill>
            </a:endParaRPr>
          </a:p>
        </p:txBody>
      </p:sp>
      <p:sp>
        <p:nvSpPr>
          <p:cNvPr id="5" name="文本框 4"/>
          <p:cNvSpPr txBox="1"/>
          <p:nvPr/>
        </p:nvSpPr>
        <p:spPr>
          <a:xfrm>
            <a:off x="2286000" y="2292350"/>
            <a:ext cx="2171700" cy="1535430"/>
          </a:xfrm>
          <a:prstGeom prst="rect">
            <a:avLst/>
          </a:prstGeom>
          <a:noFill/>
        </p:spPr>
        <p:txBody>
          <a:bodyPr wrap="square" rtlCol="0">
            <a:noAutofit/>
          </a:bodyPr>
          <a:p>
            <a:pPr indent="0" fontAlgn="auto">
              <a:lnSpc>
                <a:spcPct val="150000"/>
              </a:lnSpc>
            </a:pPr>
            <a:r>
              <a:rPr lang="en-US" altLang="zh-CN"/>
              <a:t>1</a:t>
            </a:r>
            <a:r>
              <a:rPr lang="zh-CN" altLang="en-US"/>
              <a:t>、用户操作</a:t>
            </a:r>
            <a:r>
              <a:rPr lang="en-US" altLang="zh-CN"/>
              <a:t> </a:t>
            </a:r>
            <a:r>
              <a:rPr lang="en-US" altLang="en-US"/>
              <a:t>→</a:t>
            </a:r>
            <a:r>
              <a:rPr lang="en-US" altLang="zh-CN"/>
              <a:t> </a:t>
            </a:r>
            <a:endParaRPr lang="en-US" altLang="zh-CN"/>
          </a:p>
          <a:p>
            <a:pPr indent="0" fontAlgn="auto">
              <a:lnSpc>
                <a:spcPct val="150000"/>
              </a:lnSpc>
            </a:pPr>
            <a:r>
              <a:rPr lang="en-US" altLang="zh-CN"/>
              <a:t>2</a:t>
            </a:r>
            <a:r>
              <a:rPr lang="zh-CN" altLang="en-US"/>
              <a:t>、触发同步</a:t>
            </a:r>
            <a:r>
              <a:rPr lang="en-US" altLang="zh-CN"/>
              <a:t> </a:t>
            </a:r>
            <a:r>
              <a:rPr lang="en-US" altLang="en-US"/>
              <a:t>→</a:t>
            </a:r>
            <a:r>
              <a:rPr lang="en-US" altLang="zh-CN"/>
              <a:t> </a:t>
            </a:r>
            <a:endParaRPr lang="en-US" altLang="zh-CN"/>
          </a:p>
          <a:p>
            <a:pPr indent="0" fontAlgn="auto">
              <a:lnSpc>
                <a:spcPct val="150000"/>
              </a:lnSpc>
            </a:pPr>
            <a:r>
              <a:rPr lang="en-US" altLang="zh-CN"/>
              <a:t>3</a:t>
            </a:r>
            <a:r>
              <a:rPr lang="zh-CN" altLang="en-US"/>
              <a:t>、三库并行执行</a:t>
            </a:r>
            <a:r>
              <a:rPr lang="en-US" altLang="zh-CN"/>
              <a:t> </a:t>
            </a:r>
            <a:r>
              <a:rPr lang="en-US" altLang="en-US"/>
              <a:t>→</a:t>
            </a:r>
            <a:r>
              <a:rPr lang="en-US" altLang="zh-CN"/>
              <a:t> 4</a:t>
            </a:r>
            <a:r>
              <a:rPr lang="zh-CN" altLang="en-US"/>
              <a:t>、记录日志</a:t>
            </a:r>
            <a:endParaRPr lang="zh-CN" altLang="en-US"/>
          </a:p>
        </p:txBody>
      </p:sp>
    </p:spTree>
    <p:custDataLst>
      <p:tags r:id="rId6"/>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6346190" y="1396365"/>
            <a:ext cx="5376545" cy="3549015"/>
          </a:xfrm>
          <a:prstGeom prst="rect">
            <a:avLst/>
          </a:prstGeom>
          <a:solidFill>
            <a:srgbClr val="4D677C">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331470"/>
            <a:ext cx="5223510" cy="537845"/>
            <a:chOff x="0" y="522"/>
            <a:chExt cx="8226" cy="847"/>
          </a:xfrm>
        </p:grpSpPr>
        <p:sp>
          <p:nvSpPr>
            <p:cNvPr id="5" name="任意多边形 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9" name="矩形 8"/>
            <p:cNvSpPr/>
            <p:nvPr/>
          </p:nvSpPr>
          <p:spPr>
            <a:xfrm>
              <a:off x="2898" y="547"/>
              <a:ext cx="532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同步流程与冲突解决</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10" name="矩形 9"/>
            <p:cNvSpPr/>
            <p:nvPr/>
          </p:nvSpPr>
          <p:spPr>
            <a:xfrm>
              <a:off x="0" y="522"/>
              <a:ext cx="885"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en-US" sz="2800" dirty="0">
                <a:solidFill>
                  <a:schemeClr val="bg1"/>
                </a:solidFill>
              </a:endParaRPr>
            </a:p>
          </p:txBody>
        </p:sp>
        <p:pic>
          <p:nvPicPr>
            <p:cNvPr id="22" name="图片 21" descr="微信图片_20200425233959"/>
            <p:cNvPicPr>
              <a:picLocks noChangeAspect="1"/>
            </p:cNvPicPr>
            <p:nvPr/>
          </p:nvPicPr>
          <p:blipFill>
            <a:blip r:embed="rId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pic>
        <p:nvPicPr>
          <p:cNvPr id="11" name="图片 10" descr="DSC_5262"/>
          <p:cNvPicPr>
            <a:picLocks noChangeAspect="1"/>
          </p:cNvPicPr>
          <p:nvPr/>
        </p:nvPicPr>
        <p:blipFill>
          <a:blip r:embed="rId2"/>
          <a:stretch>
            <a:fillRect/>
          </a:stretch>
        </p:blipFill>
        <p:spPr>
          <a:xfrm>
            <a:off x="6810375" y="1915160"/>
            <a:ext cx="5456555" cy="3642995"/>
          </a:xfrm>
          <a:prstGeom prst="rect">
            <a:avLst/>
          </a:prstGeom>
        </p:spPr>
      </p:pic>
      <p:grpSp>
        <p:nvGrpSpPr>
          <p:cNvPr id="16" name="组合 15"/>
          <p:cNvGrpSpPr/>
          <p:nvPr>
            <p:custDataLst>
              <p:tags r:id="rId3"/>
            </p:custDataLst>
          </p:nvPr>
        </p:nvGrpSpPr>
        <p:grpSpPr>
          <a:xfrm>
            <a:off x="809625" y="1915160"/>
            <a:ext cx="304800" cy="3030220"/>
            <a:chOff x="8516" y="2651"/>
            <a:chExt cx="480" cy="4772"/>
          </a:xfrm>
        </p:grpSpPr>
        <p:sp>
          <p:nvSpPr>
            <p:cNvPr id="23" name="ïŝḻîḓé"/>
            <p:cNvSpPr/>
            <p:nvPr>
              <p:custDataLst>
                <p:tags r:id="rId4"/>
              </p:custDataLst>
            </p:nvPr>
          </p:nvSpPr>
          <p:spPr>
            <a:xfrm>
              <a:off x="8516" y="2651"/>
              <a:ext cx="480" cy="480"/>
            </a:xfrm>
            <a:prstGeom prst="diamond">
              <a:avLst/>
            </a:prstGeom>
            <a:noFill/>
            <a:ln w="22225">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sz="600" dirty="0">
                <a:latin typeface="思源黑体 CN Normal" panose="020B0400000000000000" pitchFamily="34" charset="-128"/>
                <a:ea typeface="思源黑体 CN Normal" panose="020B0400000000000000" pitchFamily="34" charset="-128"/>
              </a:endParaRPr>
            </a:p>
          </p:txBody>
        </p:sp>
        <p:sp>
          <p:nvSpPr>
            <p:cNvPr id="24" name="ïṣlïḓè"/>
            <p:cNvSpPr/>
            <p:nvPr>
              <p:custDataLst>
                <p:tags r:id="rId5"/>
              </p:custDataLst>
            </p:nvPr>
          </p:nvSpPr>
          <p:spPr>
            <a:xfrm>
              <a:off x="8516" y="4795"/>
              <a:ext cx="480" cy="480"/>
            </a:xfrm>
            <a:prstGeom prst="diamond">
              <a:avLst/>
            </a:prstGeom>
            <a:solidFill>
              <a:srgbClr val="76BCD2"/>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sz="600">
                <a:latin typeface="思源黑体 CN Normal" panose="020B0400000000000000" pitchFamily="34" charset="-128"/>
                <a:ea typeface="思源黑体 CN Normal" panose="020B0400000000000000" pitchFamily="34" charset="-128"/>
              </a:endParaRPr>
            </a:p>
          </p:txBody>
        </p:sp>
        <p:sp>
          <p:nvSpPr>
            <p:cNvPr id="25" name="ïŝḻîḓé"/>
            <p:cNvSpPr/>
            <p:nvPr>
              <p:custDataLst>
                <p:tags r:id="rId6"/>
              </p:custDataLst>
            </p:nvPr>
          </p:nvSpPr>
          <p:spPr>
            <a:xfrm>
              <a:off x="8516" y="6943"/>
              <a:ext cx="480" cy="480"/>
            </a:xfrm>
            <a:prstGeom prst="diamond">
              <a:avLst/>
            </a:prstGeom>
            <a:noFill/>
            <a:ln w="22225">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sz="600" dirty="0">
                <a:latin typeface="思源黑体 CN Normal" panose="020B0400000000000000" pitchFamily="34" charset="-128"/>
                <a:ea typeface="思源黑体 CN Normal" panose="020B0400000000000000" pitchFamily="34" charset="-128"/>
              </a:endParaRPr>
            </a:p>
          </p:txBody>
        </p:sp>
      </p:grpSp>
      <p:sp>
        <p:nvSpPr>
          <p:cNvPr id="2" name="文本框 1"/>
          <p:cNvSpPr txBox="1"/>
          <p:nvPr/>
        </p:nvSpPr>
        <p:spPr>
          <a:xfrm>
            <a:off x="1283970" y="1240155"/>
            <a:ext cx="4768850" cy="3566795"/>
          </a:xfrm>
          <a:prstGeom prst="rect">
            <a:avLst/>
          </a:prstGeom>
        </p:spPr>
        <p:txBody>
          <a:bodyPr>
            <a:noAutofit/>
          </a:bodyPr>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登录系统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图书管理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展示界面友好性 </a:t>
            </a:r>
            <a:r>
              <a:rPr lang="en-US" altLang="zh-CN" sz="1600">
                <a:solidFill>
                  <a:srgbClr val="0F1115"/>
                </a:solidFill>
                <a:latin typeface="Consolas" panose="020B0609020204030204"/>
                <a:ea typeface="Consolas" panose="020B0609020204030204"/>
              </a:rPr>
              <a:t>  </a:t>
            </a: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添加新书</a:t>
            </a:r>
            <a:r>
              <a:rPr lang="en-US" altLang="zh-CN" sz="1600">
                <a:solidFill>
                  <a:srgbClr val="0F1115"/>
                </a:solidFill>
                <a:latin typeface="Consolas" panose="020B0609020204030204"/>
                <a:ea typeface="Consolas" panose="020B0609020204030204"/>
              </a:rPr>
              <a:t>《</a:t>
            </a:r>
            <a:r>
              <a:rPr lang="zh-CN" altLang="en-US" sz="1600">
                <a:solidFill>
                  <a:srgbClr val="0F1115"/>
                </a:solidFill>
                <a:latin typeface="Consolas" panose="020B0609020204030204"/>
                <a:ea typeface="Consolas" panose="020B0609020204030204"/>
              </a:rPr>
              <a:t>数据库</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演示实时同步流程 </a:t>
            </a:r>
            <a:endParaRPr lang="zh-CN" altLang="en-US"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打开三数据库客户端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验证数据一致性 </a:t>
            </a:r>
            <a:r>
              <a:rPr lang="en-US" altLang="zh-CN" sz="1600">
                <a:solidFill>
                  <a:srgbClr val="0F1115"/>
                </a:solidFill>
                <a:latin typeface="Consolas" panose="020B0609020204030204"/>
                <a:ea typeface="Consolas" panose="020B0609020204030204"/>
              </a:rPr>
              <a:t>  </a:t>
            </a: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故意制造数据冲突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展示冲突检测能力</a:t>
            </a:r>
            <a:endParaRPr lang="zh-CN" altLang="en-US"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zh-CN" altLang="en-US"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系统发送邮件通知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展示自动化能力 </a:t>
            </a:r>
            <a:r>
              <a:rPr lang="en-US" altLang="zh-CN" sz="1600">
                <a:solidFill>
                  <a:srgbClr val="0F1115"/>
                </a:solidFill>
                <a:latin typeface="Consolas" panose="020B0609020204030204"/>
                <a:ea typeface="Consolas" panose="020B0609020204030204"/>
              </a:rPr>
              <a:t> </a:t>
            </a: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F1115"/>
                </a:solidFill>
                <a:latin typeface="Consolas" panose="020B0609020204030204"/>
                <a:ea typeface="Consolas" panose="020B0609020204030204"/>
              </a:rPr>
              <a:t> </a:t>
            </a: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管理员解决冲突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展示人工干预界面 </a:t>
            </a:r>
            <a:endParaRPr lang="zh-CN" altLang="en-US"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altLang="zh-CN" sz="1600">
              <a:solidFill>
                <a:srgbClr val="0F1115"/>
              </a:solidFill>
              <a:latin typeface="Consolas" panose="020B0609020204030204"/>
              <a:ea typeface="Consolas" panose="020B0609020204030204"/>
            </a:endParaRPr>
          </a:p>
          <a:p>
            <a:pPr marL="0" indent="0" algn="l" defTabSz="266700" latinLnBrk="1">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600">
                <a:solidFill>
                  <a:srgbClr val="0F1115"/>
                </a:solidFill>
                <a:latin typeface="Consolas" panose="020B0609020204030204"/>
                <a:ea typeface="Consolas" panose="020B0609020204030204"/>
              </a:rPr>
              <a:t>验证三库恢复一致 </a:t>
            </a:r>
            <a:r>
              <a:rPr lang="en-US" altLang="zh-CN" sz="1600">
                <a:solidFill>
                  <a:srgbClr val="0F1115"/>
                </a:solidFill>
                <a:latin typeface="Consolas" panose="020B0609020204030204"/>
                <a:ea typeface="Consolas" panose="020B0609020204030204"/>
              </a:rPr>
              <a:t>        </a:t>
            </a:r>
            <a:r>
              <a:rPr lang="zh-CN" altLang="en-US" sz="1600">
                <a:solidFill>
                  <a:srgbClr val="0F1115"/>
                </a:solidFill>
                <a:latin typeface="Consolas" panose="020B0609020204030204"/>
                <a:ea typeface="Consolas" panose="020B0609020204030204"/>
              </a:rPr>
              <a:t>验证系统可靠性 </a:t>
            </a:r>
            <a:r>
              <a:rPr lang="en-US" altLang="zh-CN" sz="1600">
                <a:solidFill>
                  <a:srgbClr val="0F1115"/>
                </a:solidFill>
                <a:latin typeface="Consolas" panose="020B0609020204030204"/>
                <a:ea typeface="Consolas" panose="020B0609020204030204"/>
              </a:rPr>
              <a:t> </a:t>
            </a:r>
            <a:endParaRPr lang="en-US" altLang="zh-CN" sz="1600">
              <a:solidFill>
                <a:srgbClr val="0F1115"/>
              </a:solidFill>
              <a:latin typeface="Consolas" panose="020B0609020204030204"/>
              <a:ea typeface="Consolas" panose="020B0609020204030204"/>
            </a:endParaRPr>
          </a:p>
        </p:txBody>
      </p:sp>
      <p:sp>
        <p:nvSpPr>
          <p:cNvPr id="3" name="文本框 2"/>
          <p:cNvSpPr txBox="1"/>
          <p:nvPr/>
        </p:nvSpPr>
        <p:spPr>
          <a:xfrm>
            <a:off x="1266190" y="4691380"/>
            <a:ext cx="5080000" cy="1876425"/>
          </a:xfrm>
          <a:prstGeom prst="rect">
            <a:avLst/>
          </a:prstGeom>
        </p:spPr>
        <p:txBody>
          <a:bodyPr>
            <a:spAutoFit/>
          </a:bodyPr>
          <a:p>
            <a:pPr marL="0" indent="0" algn="just" defTabSz="266700">
              <a:spcBef>
                <a:spcPct val="0"/>
              </a:spcBef>
              <a:spcAft>
                <a:spcPct val="0"/>
              </a:spcAft>
            </a:pPr>
            <a:r>
              <a:rPr lang="zh-CN" altLang="en-US" sz="2000">
                <a:solidFill>
                  <a:srgbClr val="00B0F0"/>
                </a:solidFill>
                <a:latin typeface="Calibri" panose="020F0502020204030204"/>
                <a:ea typeface="宋体" panose="02010600030101010101" pitchFamily="2" charset="-122"/>
              </a:rPr>
              <a:t>解决冲突策略</a:t>
            </a:r>
            <a:endParaRPr lang="zh-CN" altLang="en-US" sz="2000">
              <a:solidFill>
                <a:srgbClr val="00B0F0"/>
              </a:solidFill>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zh-CN" altLang="en-US" sz="1600">
                <a:latin typeface="Calibri" panose="020F0502020204030204"/>
                <a:ea typeface="宋体" panose="02010600030101010101" pitchFamily="2" charset="-122"/>
              </a:rPr>
              <a:t>策略</a:t>
            </a:r>
            <a:r>
              <a:rPr lang="en-US" altLang="zh-CN" sz="1600">
                <a:latin typeface="Calibri" panose="020F0502020204030204"/>
                <a:ea typeface="Calibri" panose="020F0502020204030204"/>
              </a:rPr>
              <a:t>1</a:t>
            </a:r>
            <a:r>
              <a:rPr lang="zh-CN" altLang="en-US" sz="1600">
                <a:latin typeface="Calibri" panose="020F0502020204030204"/>
                <a:ea typeface="宋体" panose="02010600030101010101" pitchFamily="2" charset="-122"/>
              </a:rPr>
              <a:t>：</a:t>
            </a:r>
            <a:r>
              <a:rPr lang="en-US" altLang="zh-CN" sz="1600">
                <a:latin typeface="Calibri" panose="020F0502020204030204"/>
                <a:ea typeface="Calibri" panose="020F0502020204030204"/>
              </a:rPr>
              <a:t>USE_SOURCE - </a:t>
            </a:r>
            <a:r>
              <a:rPr lang="zh-CN" altLang="en-US" sz="1600">
                <a:latin typeface="Calibri" panose="020F0502020204030204"/>
                <a:ea typeface="宋体" panose="02010600030101010101" pitchFamily="2" charset="-122"/>
              </a:rPr>
              <a:t>使用源数据库数据</a:t>
            </a:r>
            <a:endParaRPr lang="zh-CN" altLang="en-US" sz="1600">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zh-CN" altLang="en-US" sz="1600">
                <a:latin typeface="Calibri" panose="020F0502020204030204"/>
                <a:ea typeface="宋体" panose="02010600030101010101" pitchFamily="2" charset="-122"/>
              </a:rPr>
              <a:t>策略</a:t>
            </a:r>
            <a:r>
              <a:rPr lang="en-US" altLang="zh-CN" sz="1600">
                <a:latin typeface="Calibri" panose="020F0502020204030204"/>
                <a:ea typeface="Calibri" panose="020F0502020204030204"/>
              </a:rPr>
              <a:t>2</a:t>
            </a:r>
            <a:r>
              <a:rPr lang="zh-CN" altLang="en-US" sz="1600">
                <a:latin typeface="Calibri" panose="020F0502020204030204"/>
                <a:ea typeface="宋体" panose="02010600030101010101" pitchFamily="2" charset="-122"/>
              </a:rPr>
              <a:t>：</a:t>
            </a:r>
            <a:r>
              <a:rPr lang="en-US" altLang="zh-CN" sz="1600">
                <a:latin typeface="Calibri" panose="020F0502020204030204"/>
                <a:ea typeface="Calibri" panose="020F0502020204030204"/>
              </a:rPr>
              <a:t>USE_TARGET - </a:t>
            </a:r>
            <a:r>
              <a:rPr lang="zh-CN" altLang="en-US" sz="1600">
                <a:latin typeface="Calibri" panose="020F0502020204030204"/>
                <a:ea typeface="宋体" panose="02010600030101010101" pitchFamily="2" charset="-122"/>
              </a:rPr>
              <a:t>使用目标数据库数据 </a:t>
            </a:r>
            <a:r>
              <a:rPr lang="en-US" altLang="zh-CN" sz="1600">
                <a:latin typeface="Calibri" panose="020F0502020204030204"/>
                <a:ea typeface="宋体" panose="02010600030101010101" pitchFamily="2" charset="-122"/>
              </a:rPr>
              <a:t> </a:t>
            </a:r>
            <a:endParaRPr lang="en-US" altLang="zh-CN" sz="1600">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zh-CN" altLang="en-US" sz="1600">
                <a:latin typeface="Calibri" panose="020F0502020204030204"/>
                <a:ea typeface="宋体" panose="02010600030101010101" pitchFamily="2" charset="-122"/>
              </a:rPr>
              <a:t>策略</a:t>
            </a:r>
            <a:r>
              <a:rPr lang="en-US" altLang="zh-CN" sz="1600">
                <a:latin typeface="Calibri" panose="020F0502020204030204"/>
                <a:ea typeface="Calibri" panose="020F0502020204030204"/>
              </a:rPr>
              <a:t>3</a:t>
            </a:r>
            <a:r>
              <a:rPr lang="zh-CN" altLang="en-US" sz="1600">
                <a:latin typeface="Calibri" panose="020F0502020204030204"/>
                <a:ea typeface="宋体" panose="02010600030101010101" pitchFamily="2" charset="-122"/>
              </a:rPr>
              <a:t>：</a:t>
            </a:r>
            <a:r>
              <a:rPr lang="en-US" altLang="zh-CN" sz="1600">
                <a:latin typeface="Calibri" panose="020F0502020204030204"/>
                <a:ea typeface="Calibri" panose="020F0502020204030204"/>
              </a:rPr>
              <a:t>USE_LATEST - </a:t>
            </a:r>
            <a:r>
              <a:rPr lang="zh-CN" altLang="en-US" sz="1600">
                <a:latin typeface="Calibri" panose="020F0502020204030204"/>
                <a:ea typeface="宋体" panose="02010600030101010101" pitchFamily="2" charset="-122"/>
              </a:rPr>
              <a:t>使用最新时间戳数据（推荐）</a:t>
            </a:r>
            <a:endParaRPr lang="zh-CN" altLang="en-US" sz="1600">
              <a:latin typeface="Calibri" panose="020F0502020204030204"/>
              <a:ea typeface="宋体" panose="02010600030101010101" pitchFamily="2" charset="-122"/>
            </a:endParaRPr>
          </a:p>
          <a:p>
            <a:pPr indent="0" defTabSz="266700" fontAlgn="auto">
              <a:lnSpc>
                <a:spcPct val="150000"/>
              </a:lnSpc>
            </a:pPr>
            <a:r>
              <a:rPr lang="zh-CN" altLang="en-US" sz="1600">
                <a:latin typeface="Calibri" panose="020F0502020204030204"/>
                <a:ea typeface="宋体" panose="02010600030101010101" pitchFamily="2" charset="-122"/>
              </a:rPr>
              <a:t>策略</a:t>
            </a:r>
            <a:r>
              <a:rPr lang="en-US" altLang="zh-CN" sz="1600">
                <a:latin typeface="Calibri" panose="020F0502020204030204"/>
                <a:ea typeface="Calibri" panose="020F0502020204030204"/>
              </a:rPr>
              <a:t>4</a:t>
            </a:r>
            <a:r>
              <a:rPr lang="zh-CN" altLang="en-US" sz="1600">
                <a:latin typeface="Calibri" panose="020F0502020204030204"/>
                <a:ea typeface="宋体" panose="02010600030101010101" pitchFamily="2" charset="-122"/>
              </a:rPr>
              <a:t>：</a:t>
            </a:r>
            <a:r>
              <a:rPr lang="en-US" altLang="zh-CN" sz="1600">
                <a:latin typeface="Calibri" panose="020F0502020204030204"/>
                <a:ea typeface="Calibri" panose="020F0502020204030204"/>
              </a:rPr>
              <a:t>MANUAL - </a:t>
            </a:r>
            <a:r>
              <a:rPr lang="zh-CN" altLang="en-US" sz="1600">
                <a:latin typeface="Calibri" panose="020F0502020204030204"/>
                <a:ea typeface="宋体" panose="02010600030101010101" pitchFamily="2" charset="-122"/>
              </a:rPr>
              <a:t>管理员手动指定数据值</a:t>
            </a:r>
            <a:endParaRPr lang="zh-CN" altLang="en-US" sz="1600">
              <a:latin typeface="Calibri" panose="020F0502020204030204"/>
              <a:ea typeface="宋体" panose="02010600030101010101" pitchFamily="2" charset="-122"/>
            </a:endParaRPr>
          </a:p>
        </p:txBody>
      </p:sp>
    </p:spTree>
    <p:custDataLst>
      <p:tags r:id="rId7"/>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31470"/>
            <a:ext cx="4652010" cy="537845"/>
            <a:chOff x="0" y="522"/>
            <a:chExt cx="7326" cy="847"/>
          </a:xfrm>
        </p:grpSpPr>
        <p:sp>
          <p:nvSpPr>
            <p:cNvPr id="5" name="任意多边形 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9" name="矩形 8"/>
            <p:cNvSpPr/>
            <p:nvPr/>
          </p:nvSpPr>
          <p:spPr>
            <a:xfrm>
              <a:off x="2898" y="547"/>
              <a:ext cx="442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界</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面</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截</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图</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展</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示</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10" name="矩形 9"/>
            <p:cNvSpPr/>
            <p:nvPr/>
          </p:nvSpPr>
          <p:spPr>
            <a:xfrm>
              <a:off x="0" y="522"/>
              <a:ext cx="885"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en-US" sz="2800" dirty="0">
                <a:solidFill>
                  <a:schemeClr val="bg1"/>
                </a:solidFill>
              </a:endParaRPr>
            </a:p>
          </p:txBody>
        </p:sp>
        <p:pic>
          <p:nvPicPr>
            <p:cNvPr id="22" name="图片 21" descr="微信图片_20200425233959"/>
            <p:cNvPicPr>
              <a:picLocks noChangeAspect="1"/>
            </p:cNvPicPr>
            <p:nvPr/>
          </p:nvPicPr>
          <p:blipFill>
            <a:blip r:embed="rId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sp>
        <p:nvSpPr>
          <p:cNvPr id="6" name="文本框 5"/>
          <p:cNvSpPr txBox="1"/>
          <p:nvPr/>
        </p:nvSpPr>
        <p:spPr>
          <a:xfrm>
            <a:off x="1900555" y="1101725"/>
            <a:ext cx="1880235"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数据库</a:t>
            </a:r>
            <a:r>
              <a:rPr lang="zh-CN" altLang="en-US" sz="1600">
                <a:latin typeface="Calibri" panose="020F0502020204030204"/>
                <a:ea typeface="宋体" panose="02010600030101010101" pitchFamily="2" charset="-122"/>
              </a:rPr>
              <a:t>启动截图</a:t>
            </a:r>
            <a:endParaRPr lang="zh-CN" altLang="en-US" sz="1600">
              <a:latin typeface="Calibri" panose="020F0502020204030204"/>
              <a:ea typeface="宋体" panose="02010600030101010101" pitchFamily="2" charset="-122"/>
            </a:endParaRPr>
          </a:p>
        </p:txBody>
      </p:sp>
      <p:sp>
        <p:nvSpPr>
          <p:cNvPr id="12" name="文本框 11"/>
          <p:cNvSpPr txBox="1"/>
          <p:nvPr/>
        </p:nvSpPr>
        <p:spPr>
          <a:xfrm>
            <a:off x="7485380" y="1101725"/>
            <a:ext cx="3353435" cy="337185"/>
          </a:xfrm>
          <a:prstGeom prst="rect">
            <a:avLst/>
          </a:prstGeom>
        </p:spPr>
        <p:txBody>
          <a:bodyPr wrap="square">
            <a:spAutoFit/>
          </a:bodyPr>
          <a:p>
            <a:pPr defTabSz="266700"/>
            <a:r>
              <a:rPr lang="en-US" altLang="zh-CN" sz="1600">
                <a:latin typeface="Calibri" panose="020F0502020204030204"/>
                <a:ea typeface="宋体" panose="02010600030101010101" pitchFamily="2" charset="-122"/>
              </a:rPr>
              <a:t>MySQL Workbench </a:t>
            </a:r>
            <a:r>
              <a:rPr lang="zh-CN" altLang="en-US" sz="1600">
                <a:latin typeface="Calibri" panose="020F0502020204030204"/>
                <a:ea typeface="宋体" panose="02010600030101010101" pitchFamily="2" charset="-122"/>
              </a:rPr>
              <a:t>查询结果</a:t>
            </a:r>
            <a:r>
              <a:rPr lang="zh-CN" altLang="en-US" sz="1600">
                <a:latin typeface="Calibri" panose="020F0502020204030204"/>
                <a:ea typeface="宋体" panose="02010600030101010101" pitchFamily="2" charset="-122"/>
              </a:rPr>
              <a:t>截图</a:t>
            </a:r>
            <a:endParaRPr lang="zh-CN" altLang="en-US" sz="1600">
              <a:latin typeface="Calibri" panose="020F0502020204030204"/>
              <a:ea typeface="宋体" panose="02010600030101010101" pitchFamily="2" charset="-122"/>
            </a:endParaRPr>
          </a:p>
        </p:txBody>
      </p:sp>
      <p:pic>
        <p:nvPicPr>
          <p:cNvPr id="2" name="图片 1" descr="屏幕截图 2025-12-10 134153"/>
          <p:cNvPicPr>
            <a:picLocks noChangeAspect="1"/>
          </p:cNvPicPr>
          <p:nvPr/>
        </p:nvPicPr>
        <p:blipFill>
          <a:blip r:embed="rId2"/>
          <a:srcRect l="1705" r="10347"/>
          <a:stretch>
            <a:fillRect/>
          </a:stretch>
        </p:blipFill>
        <p:spPr>
          <a:xfrm>
            <a:off x="44450" y="1538605"/>
            <a:ext cx="5593080" cy="2872740"/>
          </a:xfrm>
          <a:prstGeom prst="rect">
            <a:avLst/>
          </a:prstGeom>
        </p:spPr>
      </p:pic>
      <p:pic>
        <p:nvPicPr>
          <p:cNvPr id="3" name="图片 2" descr="屏幕截图 2025-12-10 134247"/>
          <p:cNvPicPr>
            <a:picLocks noChangeAspect="1"/>
          </p:cNvPicPr>
          <p:nvPr/>
        </p:nvPicPr>
        <p:blipFill>
          <a:blip r:embed="rId3"/>
          <a:srcRect r="43489"/>
          <a:stretch>
            <a:fillRect/>
          </a:stretch>
        </p:blipFill>
        <p:spPr>
          <a:xfrm>
            <a:off x="44450" y="4511040"/>
            <a:ext cx="5594350" cy="1432560"/>
          </a:xfrm>
          <a:prstGeom prst="rect">
            <a:avLst/>
          </a:prstGeom>
        </p:spPr>
      </p:pic>
      <p:pic>
        <p:nvPicPr>
          <p:cNvPr id="13" name="图片 12"/>
          <p:cNvPicPr>
            <a:picLocks noChangeAspect="1"/>
          </p:cNvPicPr>
          <p:nvPr/>
        </p:nvPicPr>
        <p:blipFill>
          <a:blip r:embed="rId4"/>
          <a:stretch>
            <a:fillRect/>
          </a:stretch>
        </p:blipFill>
        <p:spPr>
          <a:xfrm>
            <a:off x="5947410" y="1538605"/>
            <a:ext cx="5982335" cy="3568700"/>
          </a:xfrm>
          <a:prstGeom prst="rect">
            <a:avLst/>
          </a:prstGeom>
        </p:spPr>
      </p:pic>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31470"/>
            <a:ext cx="4652010" cy="537845"/>
            <a:chOff x="0" y="522"/>
            <a:chExt cx="7326" cy="847"/>
          </a:xfrm>
        </p:grpSpPr>
        <p:sp>
          <p:nvSpPr>
            <p:cNvPr id="5" name="任意多边形 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9" name="矩形 8"/>
            <p:cNvSpPr/>
            <p:nvPr/>
          </p:nvSpPr>
          <p:spPr>
            <a:xfrm>
              <a:off x="2898" y="547"/>
              <a:ext cx="442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界</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面</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截</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图</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展</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示</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10" name="矩形 9"/>
            <p:cNvSpPr/>
            <p:nvPr/>
          </p:nvSpPr>
          <p:spPr>
            <a:xfrm>
              <a:off x="0" y="522"/>
              <a:ext cx="885"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en-US" sz="2800" dirty="0">
                <a:solidFill>
                  <a:schemeClr val="bg1"/>
                </a:solidFill>
              </a:endParaRPr>
            </a:p>
          </p:txBody>
        </p:sp>
        <p:pic>
          <p:nvPicPr>
            <p:cNvPr id="22" name="图片 21" descr="微信图片_20200425233959"/>
            <p:cNvPicPr>
              <a:picLocks noChangeAspect="1"/>
            </p:cNvPicPr>
            <p:nvPr/>
          </p:nvPicPr>
          <p:blipFill>
            <a:blip r:embed="rId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sp>
        <p:nvSpPr>
          <p:cNvPr id="6" name="文本框 5"/>
          <p:cNvSpPr txBox="1"/>
          <p:nvPr/>
        </p:nvSpPr>
        <p:spPr>
          <a:xfrm>
            <a:off x="551180" y="1101725"/>
            <a:ext cx="1880235"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系统登录界面截图</a:t>
            </a:r>
            <a:endParaRPr lang="zh-CN" altLang="en-US" sz="1600">
              <a:latin typeface="Calibri" panose="020F0502020204030204"/>
              <a:ea typeface="宋体" panose="02010600030101010101" pitchFamily="2" charset="-122"/>
            </a:endParaRPr>
          </a:p>
        </p:txBody>
      </p:sp>
      <p:sp>
        <p:nvSpPr>
          <p:cNvPr id="7" name="文本框 6"/>
          <p:cNvSpPr txBox="1"/>
          <p:nvPr/>
        </p:nvSpPr>
        <p:spPr>
          <a:xfrm>
            <a:off x="5005705" y="1063625"/>
            <a:ext cx="1885950"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三库数据对比界面</a:t>
            </a:r>
            <a:endParaRPr lang="zh-CN" altLang="en-US" sz="1600">
              <a:latin typeface="Calibri" panose="020F0502020204030204"/>
              <a:ea typeface="宋体" panose="02010600030101010101" pitchFamily="2" charset="-122"/>
            </a:endParaRPr>
          </a:p>
        </p:txBody>
      </p:sp>
      <p:pic>
        <p:nvPicPr>
          <p:cNvPr id="14" name="图片 13"/>
          <p:cNvPicPr>
            <a:picLocks noChangeAspect="1"/>
          </p:cNvPicPr>
          <p:nvPr/>
        </p:nvPicPr>
        <p:blipFill>
          <a:blip r:embed="rId2"/>
          <a:stretch>
            <a:fillRect/>
          </a:stretch>
        </p:blipFill>
        <p:spPr>
          <a:xfrm>
            <a:off x="0" y="1438910"/>
            <a:ext cx="2829560" cy="4386580"/>
          </a:xfrm>
          <a:prstGeom prst="rect">
            <a:avLst/>
          </a:prstGeom>
        </p:spPr>
      </p:pic>
      <p:pic>
        <p:nvPicPr>
          <p:cNvPr id="15" name="图片 14"/>
          <p:cNvPicPr>
            <a:picLocks noChangeAspect="1"/>
          </p:cNvPicPr>
          <p:nvPr/>
        </p:nvPicPr>
        <p:blipFill>
          <a:blip r:embed="rId3"/>
          <a:srcRect r="1489"/>
          <a:stretch>
            <a:fillRect/>
          </a:stretch>
        </p:blipFill>
        <p:spPr>
          <a:xfrm>
            <a:off x="2734310" y="1487170"/>
            <a:ext cx="6428740" cy="4363085"/>
          </a:xfrm>
          <a:prstGeom prst="rect">
            <a:avLst/>
          </a:prstGeom>
        </p:spPr>
      </p:pic>
      <p:pic>
        <p:nvPicPr>
          <p:cNvPr id="17" name="图片 16" descr="屏幕截图 2025-12-10 134854"/>
          <p:cNvPicPr>
            <a:picLocks noChangeAspect="1"/>
          </p:cNvPicPr>
          <p:nvPr/>
        </p:nvPicPr>
        <p:blipFill>
          <a:blip r:embed="rId4"/>
          <a:srcRect r="63281"/>
          <a:stretch>
            <a:fillRect/>
          </a:stretch>
        </p:blipFill>
        <p:spPr>
          <a:xfrm>
            <a:off x="9227185" y="1715135"/>
            <a:ext cx="2914015" cy="2729230"/>
          </a:xfrm>
          <a:prstGeom prst="rect">
            <a:avLst/>
          </a:prstGeom>
        </p:spPr>
      </p:pic>
      <p:sp>
        <p:nvSpPr>
          <p:cNvPr id="18" name="文本框 17"/>
          <p:cNvSpPr txBox="1"/>
          <p:nvPr/>
        </p:nvSpPr>
        <p:spPr>
          <a:xfrm>
            <a:off x="9815830" y="1101725"/>
            <a:ext cx="1880235"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冲突制造</a:t>
            </a:r>
            <a:r>
              <a:rPr lang="zh-CN" altLang="en-US" sz="1600">
                <a:latin typeface="Calibri" panose="020F0502020204030204"/>
                <a:ea typeface="宋体" panose="02010600030101010101" pitchFamily="2" charset="-122"/>
              </a:rPr>
              <a:t>成功截图</a:t>
            </a:r>
            <a:endParaRPr lang="zh-CN" altLang="en-US" sz="1600">
              <a:latin typeface="Calibri" panose="020F0502020204030204"/>
              <a:ea typeface="宋体" panose="02010600030101010101" pitchFamily="2" charset="-122"/>
            </a:endParaRPr>
          </a:p>
        </p:txBody>
      </p:sp>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31470"/>
            <a:ext cx="4652010" cy="537845"/>
            <a:chOff x="0" y="522"/>
            <a:chExt cx="7326" cy="847"/>
          </a:xfrm>
        </p:grpSpPr>
        <p:sp>
          <p:nvSpPr>
            <p:cNvPr id="5" name="任意多边形 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9" name="矩形 8"/>
            <p:cNvSpPr/>
            <p:nvPr/>
          </p:nvSpPr>
          <p:spPr>
            <a:xfrm>
              <a:off x="2898" y="547"/>
              <a:ext cx="442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界</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面</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截</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图</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展</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示</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10" name="矩形 9"/>
            <p:cNvSpPr/>
            <p:nvPr/>
          </p:nvSpPr>
          <p:spPr>
            <a:xfrm>
              <a:off x="0" y="522"/>
              <a:ext cx="885"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en-US" sz="2800" dirty="0">
                <a:solidFill>
                  <a:schemeClr val="bg1"/>
                </a:solidFill>
              </a:endParaRPr>
            </a:p>
          </p:txBody>
        </p:sp>
        <p:pic>
          <p:nvPicPr>
            <p:cNvPr id="22" name="图片 21" descr="微信图片_20200425233959"/>
            <p:cNvPicPr>
              <a:picLocks noChangeAspect="1"/>
            </p:cNvPicPr>
            <p:nvPr/>
          </p:nvPicPr>
          <p:blipFill>
            <a:blip r:embed="rId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sp>
        <p:nvSpPr>
          <p:cNvPr id="6" name="文本框 5"/>
          <p:cNvSpPr txBox="1"/>
          <p:nvPr/>
        </p:nvSpPr>
        <p:spPr>
          <a:xfrm>
            <a:off x="9618980" y="1101725"/>
            <a:ext cx="1880235"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冲突</a:t>
            </a:r>
            <a:r>
              <a:rPr lang="zh-CN" altLang="en-US" sz="1600">
                <a:latin typeface="Calibri" panose="020F0502020204030204"/>
                <a:ea typeface="宋体" panose="02010600030101010101" pitchFamily="2" charset="-122"/>
              </a:rPr>
              <a:t>解决成功截图</a:t>
            </a:r>
            <a:endParaRPr lang="zh-CN" altLang="en-US" sz="1600">
              <a:latin typeface="Calibri" panose="020F0502020204030204"/>
              <a:ea typeface="宋体" panose="02010600030101010101" pitchFamily="2" charset="-122"/>
            </a:endParaRPr>
          </a:p>
        </p:txBody>
      </p:sp>
      <p:sp>
        <p:nvSpPr>
          <p:cNvPr id="7" name="文本框 6"/>
          <p:cNvSpPr txBox="1"/>
          <p:nvPr/>
        </p:nvSpPr>
        <p:spPr>
          <a:xfrm>
            <a:off x="1760855" y="1101725"/>
            <a:ext cx="1885950"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冲突管理界面</a:t>
            </a:r>
            <a:endParaRPr lang="zh-CN" altLang="en-US" sz="1600">
              <a:latin typeface="Calibri" panose="020F0502020204030204"/>
              <a:ea typeface="宋体" panose="02010600030101010101" pitchFamily="2" charset="-122"/>
            </a:endParaRPr>
          </a:p>
        </p:txBody>
      </p:sp>
      <p:sp>
        <p:nvSpPr>
          <p:cNvPr id="12" name="文本框 11"/>
          <p:cNvSpPr txBox="1"/>
          <p:nvPr/>
        </p:nvSpPr>
        <p:spPr>
          <a:xfrm>
            <a:off x="5801360" y="1101725"/>
            <a:ext cx="1835150" cy="337185"/>
          </a:xfrm>
          <a:prstGeom prst="rect">
            <a:avLst/>
          </a:prstGeom>
        </p:spPr>
        <p:txBody>
          <a:bodyPr wrap="square">
            <a:spAutoFit/>
          </a:bodyPr>
          <a:p>
            <a:pPr defTabSz="266700"/>
            <a:r>
              <a:rPr lang="zh-CN" altLang="en-US" sz="1600">
                <a:latin typeface="Calibri" panose="020F0502020204030204"/>
                <a:ea typeface="宋体" panose="02010600030101010101" pitchFamily="2" charset="-122"/>
              </a:rPr>
              <a:t>邮件通知成功截图</a:t>
            </a:r>
            <a:endParaRPr lang="zh-CN" altLang="en-US" sz="1600">
              <a:latin typeface="Calibri" panose="020F0502020204030204"/>
              <a:ea typeface="宋体" panose="02010600030101010101" pitchFamily="2" charset="-122"/>
            </a:endParaRPr>
          </a:p>
        </p:txBody>
      </p:sp>
      <p:pic>
        <p:nvPicPr>
          <p:cNvPr id="3" name="图片 2"/>
          <p:cNvPicPr>
            <a:picLocks noChangeAspect="1"/>
          </p:cNvPicPr>
          <p:nvPr/>
        </p:nvPicPr>
        <p:blipFill>
          <a:blip r:embed="rId2"/>
          <a:srcRect r="11647"/>
          <a:stretch>
            <a:fillRect/>
          </a:stretch>
        </p:blipFill>
        <p:spPr>
          <a:xfrm>
            <a:off x="0" y="1588770"/>
            <a:ext cx="5407660" cy="3245485"/>
          </a:xfrm>
          <a:prstGeom prst="rect">
            <a:avLst/>
          </a:prstGeom>
        </p:spPr>
      </p:pic>
      <p:pic>
        <p:nvPicPr>
          <p:cNvPr id="11" name="图片 10"/>
          <p:cNvPicPr>
            <a:picLocks noChangeAspect="1"/>
          </p:cNvPicPr>
          <p:nvPr/>
        </p:nvPicPr>
        <p:blipFill>
          <a:blip r:embed="rId3"/>
          <a:stretch>
            <a:fillRect/>
          </a:stretch>
        </p:blipFill>
        <p:spPr>
          <a:xfrm>
            <a:off x="5407660" y="1588770"/>
            <a:ext cx="3444875" cy="4604385"/>
          </a:xfrm>
          <a:prstGeom prst="rect">
            <a:avLst/>
          </a:prstGeom>
        </p:spPr>
      </p:pic>
      <p:pic>
        <p:nvPicPr>
          <p:cNvPr id="13" name="图片 12"/>
          <p:cNvPicPr>
            <a:picLocks noChangeAspect="1"/>
          </p:cNvPicPr>
          <p:nvPr/>
        </p:nvPicPr>
        <p:blipFill>
          <a:blip r:embed="rId4"/>
          <a:stretch>
            <a:fillRect/>
          </a:stretch>
        </p:blipFill>
        <p:spPr>
          <a:xfrm>
            <a:off x="8873490" y="1588770"/>
            <a:ext cx="3318510" cy="3702685"/>
          </a:xfrm>
          <a:prstGeom prst="rect">
            <a:avLst/>
          </a:prstGeom>
        </p:spPr>
      </p:pic>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C:\Users\dell\Desktop\余若冰\校庆ppt\20200130CSU标志建筑风景\20200130CSU标志建筑风景\铁道\DSC_1273.jpgDSC_1273"/>
          <p:cNvPicPr>
            <a:picLocks noChangeAspect="1"/>
          </p:cNvPicPr>
          <p:nvPr/>
        </p:nvPicPr>
        <p:blipFill>
          <a:blip r:embed="rId1"/>
          <a:srcRect/>
          <a:stretch>
            <a:fillRect/>
          </a:stretch>
        </p:blipFill>
        <p:spPr>
          <a:xfrm>
            <a:off x="36" y="1667514"/>
            <a:ext cx="5295900" cy="3604895"/>
          </a:xfrm>
          <a:prstGeom prst="rect">
            <a:avLst/>
          </a:prstGeom>
        </p:spPr>
      </p:pic>
      <p:sp>
        <p:nvSpPr>
          <p:cNvPr id="19" name="矩形 18"/>
          <p:cNvSpPr/>
          <p:nvPr/>
        </p:nvSpPr>
        <p:spPr>
          <a:xfrm rot="5400000">
            <a:off x="6116955" y="-436880"/>
            <a:ext cx="2588895" cy="7813040"/>
          </a:xfrm>
          <a:prstGeom prst="rect">
            <a:avLst/>
          </a:prstGeom>
          <a:solidFill>
            <a:srgbClr val="76BCD2">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3819868" y="2733598"/>
            <a:ext cx="1445260" cy="1568450"/>
          </a:xfrm>
          <a:prstGeom prst="rect">
            <a:avLst/>
          </a:prstGeom>
        </p:spPr>
        <p:txBody>
          <a:bodyPr wrap="none">
            <a:spAutoFit/>
          </a:bodyPr>
          <a:lstStyle/>
          <a:p>
            <a:r>
              <a:rPr lang="en-US" altLang="zh-CN" sz="9600" dirty="0">
                <a:solidFill>
                  <a:prstClr val="white"/>
                </a:solidFill>
                <a:latin typeface="Impact" panose="020B0806030902050204" pitchFamily="34" charset="0"/>
                <a:ea typeface="微软雅黑" panose="020B0503020204020204" charset="-122"/>
                <a:cs typeface="Gisha" panose="020B0502040204020203" pitchFamily="34" charset="-79"/>
              </a:rPr>
              <a:t>04</a:t>
            </a:r>
            <a:endParaRPr lang="zh-CN" altLang="en-US" sz="9600" dirty="0">
              <a:solidFill>
                <a:prstClr val="white"/>
              </a:solidFill>
            </a:endParaRPr>
          </a:p>
        </p:txBody>
      </p:sp>
      <p:sp>
        <p:nvSpPr>
          <p:cNvPr id="22" name="矩形 21"/>
          <p:cNvSpPr/>
          <p:nvPr/>
        </p:nvSpPr>
        <p:spPr>
          <a:xfrm>
            <a:off x="6162040" y="2733675"/>
            <a:ext cx="4851400" cy="706755"/>
          </a:xfrm>
          <a:prstGeom prst="rect">
            <a:avLst/>
          </a:prstGeom>
        </p:spPr>
        <p:txBody>
          <a:bodyPr wrap="square">
            <a:spAutoFit/>
          </a:bodyPr>
          <a:lstStyle/>
          <a:p>
            <a:pPr defTabSz="685800">
              <a:defRPr/>
            </a:pP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前</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端</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与</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权</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限</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管</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理</a:t>
            </a:r>
            <a:endPar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endParaRPr>
          </a:p>
        </p:txBody>
      </p:sp>
      <p:grpSp>
        <p:nvGrpSpPr>
          <p:cNvPr id="8" name="组合 7"/>
          <p:cNvGrpSpPr/>
          <p:nvPr/>
        </p:nvGrpSpPr>
        <p:grpSpPr>
          <a:xfrm>
            <a:off x="5691146" y="3339029"/>
            <a:ext cx="4887760" cy="262538"/>
            <a:chOff x="5444484" y="3347558"/>
            <a:chExt cx="4887760" cy="262538"/>
          </a:xfrm>
        </p:grpSpPr>
        <p:sp>
          <p:nvSpPr>
            <p:cNvPr id="9" name="任意多边形 8"/>
            <p:cNvSpPr/>
            <p:nvPr/>
          </p:nvSpPr>
          <p:spPr>
            <a:xfrm flipV="1">
              <a:off x="5545778" y="3347558"/>
              <a:ext cx="4786466" cy="178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5444484" y="3443844"/>
              <a:ext cx="166252" cy="1662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5" name="图片 24"/>
          <p:cNvPicPr>
            <a:picLocks noChangeAspect="1"/>
          </p:cNvPicPr>
          <p:nvPr/>
        </p:nvPicPr>
        <p:blipFill>
          <a:blip r:embed="rId2"/>
          <a:stretch>
            <a:fillRect/>
          </a:stretch>
        </p:blipFill>
        <p:spPr>
          <a:xfrm>
            <a:off x="3048000" y="4131310"/>
            <a:ext cx="9144000" cy="1295400"/>
          </a:xfrm>
          <a:prstGeom prst="rect">
            <a:avLst/>
          </a:prstGeom>
        </p:spPr>
      </p:pic>
    </p:spTree>
    <p:custDataLst>
      <p:tags r:id="rId3"/>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ipe(down)">
                                      <p:cBhvr>
                                        <p:cTn id="7" dur="1000"/>
                                        <p:tgtEl>
                                          <p:spTgt spid="7"/>
                                        </p:tgtEl>
                                      </p:cBhvr>
                                    </p:animEffect>
                                  </p:childTnLst>
                                </p:cTn>
                              </p:par>
                              <p:par>
                                <p:cTn id="8" presetID="22" presetClass="entr" presetSubtype="4" fill="hold" grpId="0" nodeType="withEffect">
                                  <p:stCondLst>
                                    <p:cond delay="0"/>
                                  </p:stCondLst>
                                  <p:childTnLst>
                                    <p:set>
                                      <p:cBhvr>
                                        <p:cTn id="9" dur="1000" fill="hold">
                                          <p:stCondLst>
                                            <p:cond delay="0"/>
                                          </p:stCondLst>
                                        </p:cTn>
                                        <p:tgtEl>
                                          <p:spTgt spid="19"/>
                                        </p:tgtEl>
                                        <p:attrNameLst>
                                          <p:attrName>style.visibility</p:attrName>
                                        </p:attrNameLst>
                                      </p:cBhvr>
                                      <p:to>
                                        <p:strVal val="visible"/>
                                      </p:to>
                                    </p:set>
                                    <p:animEffect transition="in" filter="wipe(down)">
                                      <p:cBhvr>
                                        <p:cTn id="10" dur="1000"/>
                                        <p:tgtEl>
                                          <p:spTgt spid="19"/>
                                        </p:tgtEl>
                                      </p:cBhvr>
                                    </p:animEffect>
                                  </p:childTnLst>
                                </p:cTn>
                              </p:par>
                              <p:par>
                                <p:cTn id="11" presetID="22" presetClass="entr" presetSubtype="4" fill="hold" grpId="0" nodeType="withEffect">
                                  <p:stCondLst>
                                    <p:cond delay="0"/>
                                  </p:stCondLst>
                                  <p:childTnLst>
                                    <p:set>
                                      <p:cBhvr>
                                        <p:cTn id="12" dur="1000" fill="hold">
                                          <p:stCondLst>
                                            <p:cond delay="0"/>
                                          </p:stCondLst>
                                        </p:cTn>
                                        <p:tgtEl>
                                          <p:spTgt spid="20"/>
                                        </p:tgtEl>
                                        <p:attrNameLst>
                                          <p:attrName>style.visibility</p:attrName>
                                        </p:attrNameLst>
                                      </p:cBhvr>
                                      <p:to>
                                        <p:strVal val="visible"/>
                                      </p:to>
                                    </p:set>
                                    <p:animEffect transition="in" filter="wipe(down)">
                                      <p:cBhvr>
                                        <p:cTn id="13" dur="1000"/>
                                        <p:tgtEl>
                                          <p:spTgt spid="20"/>
                                        </p:tgtEl>
                                      </p:cBhvr>
                                    </p:animEffect>
                                  </p:childTnLst>
                                </p:cTn>
                              </p:par>
                              <p:par>
                                <p:cTn id="14" presetID="22" presetClass="entr" presetSubtype="4" fill="hold" grpId="0" nodeType="withEffect">
                                  <p:stCondLst>
                                    <p:cond delay="0"/>
                                  </p:stCondLst>
                                  <p:childTnLst>
                                    <p:set>
                                      <p:cBhvr>
                                        <p:cTn id="15" dur="1000" fill="hold">
                                          <p:stCondLst>
                                            <p:cond delay="0"/>
                                          </p:stCondLst>
                                        </p:cTn>
                                        <p:tgtEl>
                                          <p:spTgt spid="22"/>
                                        </p:tgtEl>
                                        <p:attrNameLst>
                                          <p:attrName>style.visibility</p:attrName>
                                        </p:attrNameLst>
                                      </p:cBhvr>
                                      <p:to>
                                        <p:strVal val="visible"/>
                                      </p:to>
                                    </p:set>
                                    <p:animEffect transition="in" filter="wipe(down)">
                                      <p:cBhvr>
                                        <p:cTn id="16" dur="1000"/>
                                        <p:tgtEl>
                                          <p:spTgt spid="22"/>
                                        </p:tgtEl>
                                      </p:cBhvr>
                                    </p:animEffect>
                                  </p:childTnLst>
                                </p:cTn>
                              </p:par>
                              <p:par>
                                <p:cTn id="17" presetID="22" presetClass="entr" presetSubtype="4" fill="hold" nodeType="withEffect">
                                  <p:stCondLst>
                                    <p:cond delay="0"/>
                                  </p:stCondLst>
                                  <p:childTnLst>
                                    <p:set>
                                      <p:cBhvr>
                                        <p:cTn id="18" dur="1000" fill="hold">
                                          <p:stCondLst>
                                            <p:cond delay="0"/>
                                          </p:stCondLst>
                                        </p:cTn>
                                        <p:tgtEl>
                                          <p:spTgt spid="8"/>
                                        </p:tgtEl>
                                        <p:attrNameLst>
                                          <p:attrName>style.visibility</p:attrName>
                                        </p:attrNameLst>
                                      </p:cBhvr>
                                      <p:to>
                                        <p:strVal val="visible"/>
                                      </p:to>
                                    </p:set>
                                    <p:animEffect transition="in" filter="wipe(down)">
                                      <p:cBhvr>
                                        <p:cTn id="19" dur="1000"/>
                                        <p:tgtEl>
                                          <p:spTgt spid="8"/>
                                        </p:tgtEl>
                                      </p:cBhvr>
                                    </p:animEffect>
                                  </p:childTnLst>
                                </p:cTn>
                              </p:par>
                              <p:par>
                                <p:cTn id="20" presetID="22" presetClass="entr" presetSubtype="4" fill="hold" nodeType="withEffect">
                                  <p:stCondLst>
                                    <p:cond delay="0"/>
                                  </p:stCondLst>
                                  <p:childTnLst>
                                    <p:set>
                                      <p:cBhvr>
                                        <p:cTn id="21" dur="1000" fill="hold">
                                          <p:stCondLst>
                                            <p:cond delay="0"/>
                                          </p:stCondLst>
                                        </p:cTn>
                                        <p:tgtEl>
                                          <p:spTgt spid="25"/>
                                        </p:tgtEl>
                                        <p:attrNameLst>
                                          <p:attrName>style.visibility</p:attrName>
                                        </p:attrNameLst>
                                      </p:cBhvr>
                                      <p:to>
                                        <p:strVal val="visible"/>
                                      </p:to>
                                    </p:set>
                                    <p:animEffect transition="in" filter="wipe(down)">
                                      <p:cBhvr>
                                        <p:cTn id="2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20000"/>
          </a:schemeClr>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flipV="1">
            <a:off x="4295327" y="3238438"/>
            <a:ext cx="7124700" cy="8890"/>
          </a:xfrm>
          <a:prstGeom prst="line">
            <a:avLst/>
          </a:prstGeom>
          <a:noFill/>
          <a:ln w="19050">
            <a:gradFill flip="none" rotWithShape="1">
              <a:gsLst>
                <a:gs pos="0">
                  <a:srgbClr val="4874CB">
                    <a:alpha val="0"/>
                  </a:srgbClr>
                </a:gs>
                <a:gs pos="50000">
                  <a:srgbClr val="4874CB"/>
                </a:gs>
                <a:gs pos="100000">
                  <a:srgbClr val="4874CB">
                    <a:alpha val="0"/>
                  </a:srgbClr>
                </a:gs>
              </a:gsLst>
              <a:lin ang="0" scaled="1"/>
            </a:gradFill>
            <a:prstDash val="solid"/>
            <a:headEnd type="none"/>
            <a:tailEnd type="none"/>
          </a:ln>
        </p:spPr>
      </p:sp>
      <p:sp>
        <p:nvSpPr>
          <p:cNvPr id="3" name="Shape 1"/>
          <p:cNvSpPr/>
          <p:nvPr>
            <p:custDataLst>
              <p:tags r:id="rId2"/>
            </p:custDataLst>
          </p:nvPr>
        </p:nvSpPr>
        <p:spPr>
          <a:xfrm flipV="1">
            <a:off x="4403277" y="5744269"/>
            <a:ext cx="7045960" cy="20320"/>
          </a:xfrm>
          <a:prstGeom prst="line">
            <a:avLst/>
          </a:prstGeom>
          <a:noFill/>
          <a:ln w="19050">
            <a:gradFill flip="none" rotWithShape="1">
              <a:gsLst>
                <a:gs pos="0">
                  <a:srgbClr val="4874CB">
                    <a:alpha val="0"/>
                  </a:srgbClr>
                </a:gs>
                <a:gs pos="50000">
                  <a:srgbClr val="4874CB"/>
                </a:gs>
                <a:gs pos="100000">
                  <a:srgbClr val="4874CB">
                    <a:alpha val="0"/>
                  </a:srgbClr>
                </a:gs>
              </a:gsLst>
              <a:lin ang="0" scaled="1"/>
            </a:gradFill>
            <a:prstDash val="solid"/>
            <a:headEnd type="none"/>
            <a:tailEnd type="none"/>
          </a:ln>
        </p:spPr>
      </p:sp>
      <p:sp>
        <p:nvSpPr>
          <p:cNvPr id="6" name="Text 4"/>
          <p:cNvSpPr/>
          <p:nvPr/>
        </p:nvSpPr>
        <p:spPr>
          <a:xfrm>
            <a:off x="260985" y="163195"/>
            <a:ext cx="1071245" cy="55372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5"/>
          <p:cNvSpPr/>
          <p:nvPr/>
        </p:nvSpPr>
        <p:spPr>
          <a:xfrm>
            <a:off x="114858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8" name="Text 6"/>
          <p:cNvSpPr/>
          <p:nvPr/>
        </p:nvSpPr>
        <p:spPr>
          <a:xfrm>
            <a:off x="114858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a:off x="11816080" y="589915"/>
            <a:ext cx="134620" cy="134620"/>
          </a:xfrm>
          <a:prstGeom prst="ellipse">
            <a:avLst/>
          </a:prstGeom>
          <a:solidFill>
            <a:srgbClr val="000000">
              <a:alpha val="0"/>
            </a:srgbClr>
          </a:solidFill>
          <a:ln w="19050">
            <a:gradFill flip="none" rotWithShape="1">
              <a:gsLst>
                <a:gs pos="0">
                  <a:srgbClr val="4874CB"/>
                </a:gs>
                <a:gs pos="100000">
                  <a:srgbClr val="4874CB">
                    <a:alpha val="29000"/>
                  </a:srgbClr>
                </a:gs>
              </a:gsLst>
              <a:lin ang="2700000" scaled="1"/>
            </a:gradFill>
            <a:prstDash val="solid"/>
          </a:ln>
        </p:spPr>
      </p:sp>
      <p:sp>
        <p:nvSpPr>
          <p:cNvPr id="10" name="Text 8"/>
          <p:cNvSpPr/>
          <p:nvPr/>
        </p:nvSpPr>
        <p:spPr>
          <a:xfrm>
            <a:off x="118160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116509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2" name="Text 10"/>
          <p:cNvSpPr/>
          <p:nvPr/>
        </p:nvSpPr>
        <p:spPr>
          <a:xfrm>
            <a:off x="116509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4" name="Text 12"/>
          <p:cNvSpPr/>
          <p:nvPr/>
        </p:nvSpPr>
        <p:spPr>
          <a:xfrm rot="16200000">
            <a:off x="8924290" y="6858635"/>
            <a:ext cx="6776085" cy="723900"/>
          </a:xfrm>
          <a:prstGeom prst="rect">
            <a:avLst/>
          </a:prstGeom>
          <a:noFill/>
        </p:spPr>
        <p:txBody>
          <a:bodyPr wrap="square" lIns="45720" tIns="91440" rIns="91440" bIns="45720" rtlCol="0" anchor="ctr"/>
          <a:lstStyle/>
          <a:p>
            <a:pPr>
              <a:lnSpc>
                <a:spcPct val="100000"/>
              </a:lnSpc>
            </a:pPr>
            <a:endParaRPr lang="en-US" sz="1600" dirty="0"/>
          </a:p>
        </p:txBody>
      </p:sp>
      <p:sp>
        <p:nvSpPr>
          <p:cNvPr id="15" name="Shape 13"/>
          <p:cNvSpPr/>
          <p:nvPr/>
        </p:nvSpPr>
        <p:spPr>
          <a:xfrm rot="16200000">
            <a:off x="18415" y="4185920"/>
            <a:ext cx="6776085" cy="650240"/>
          </a:xfrm>
          <a:prstGeom prst="roundRect">
            <a:avLst>
              <a:gd name="adj" fmla="val 50000"/>
            </a:avLst>
          </a:prstGeom>
          <a:gradFill flip="none" rotWithShape="1">
            <a:gsLst>
              <a:gs pos="0">
                <a:srgbClr val="D1DCF2">
                  <a:alpha val="0"/>
                </a:srgbClr>
              </a:gs>
              <a:gs pos="22000">
                <a:srgbClr val="6389D3">
                  <a:alpha val="0"/>
                </a:srgbClr>
              </a:gs>
              <a:gs pos="69000">
                <a:srgbClr val="6389D3">
                  <a:alpha val="31000"/>
                </a:srgbClr>
              </a:gs>
              <a:gs pos="95000">
                <a:srgbClr val="6389D3">
                  <a:alpha val="68000"/>
                </a:srgbClr>
              </a:gs>
              <a:gs pos="100000">
                <a:srgbClr val="6389D3">
                  <a:alpha val="68000"/>
                </a:srgbClr>
              </a:gs>
            </a:gsLst>
            <a:lin ang="0" scaled="1"/>
          </a:gradFill>
        </p:spPr>
      </p:sp>
      <p:sp>
        <p:nvSpPr>
          <p:cNvPr id="16" name="Text 14"/>
          <p:cNvSpPr/>
          <p:nvPr/>
        </p:nvSpPr>
        <p:spPr>
          <a:xfrm rot="16200000">
            <a:off x="18415" y="4185920"/>
            <a:ext cx="6776085" cy="650240"/>
          </a:xfrm>
          <a:prstGeom prst="rect">
            <a:avLst/>
          </a:prstGeom>
          <a:noFill/>
        </p:spPr>
        <p:txBody>
          <a:bodyPr wrap="square" lIns="45720" tIns="91440" rIns="91440" bIns="45720" rtlCol="0" anchor="ctr"/>
          <a:lstStyle/>
          <a:p>
            <a:pPr>
              <a:lnSpc>
                <a:spcPct val="100000"/>
              </a:lnSpc>
            </a:pPr>
            <a:endParaRPr lang="en-US" sz="1600" dirty="0"/>
          </a:p>
        </p:txBody>
      </p:sp>
      <p:pic>
        <p:nvPicPr>
          <p:cNvPr id="17" name="Image 0" descr="https://kimi-img.moonshot.cn/pub/slides/slides_tmpl/image/25-09-04-14:55:03-d2sjfhu1bb2p4onbq01g.png"/>
          <p:cNvPicPr>
            <a:picLocks noChangeAspect="1"/>
          </p:cNvPicPr>
          <p:nvPr/>
        </p:nvPicPr>
        <p:blipFill>
          <a:blip r:embed="rId3"/>
          <a:stretch>
            <a:fillRect/>
          </a:stretch>
        </p:blipFill>
        <p:spPr>
          <a:xfrm>
            <a:off x="784824" y="1489392"/>
            <a:ext cx="2667000" cy="4686300"/>
          </a:xfrm>
          <a:prstGeom prst="rect">
            <a:avLst/>
          </a:prstGeom>
        </p:spPr>
      </p:pic>
      <p:sp>
        <p:nvSpPr>
          <p:cNvPr id="18" name="Text 15"/>
          <p:cNvSpPr/>
          <p:nvPr>
            <p:custDataLst>
              <p:tags r:id="rId4"/>
            </p:custDataLst>
          </p:nvPr>
        </p:nvSpPr>
        <p:spPr>
          <a:xfrm>
            <a:off x="4178935" y="1474470"/>
            <a:ext cx="6040755" cy="368300"/>
          </a:xfrm>
          <a:prstGeom prst="rect">
            <a:avLst/>
          </a:prstGeom>
          <a:noFill/>
        </p:spPr>
        <p:txBody>
          <a:bodyPr wrap="square" lIns="91440" tIns="45720" rIns="91440" bIns="45720" rtlCol="0" anchor="t"/>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多角色权限体系</a:t>
            </a:r>
            <a:endParaRPr lang="en-US" sz="1600" dirty="0"/>
          </a:p>
        </p:txBody>
      </p:sp>
      <p:sp>
        <p:nvSpPr>
          <p:cNvPr id="19" name="Text 16"/>
          <p:cNvSpPr/>
          <p:nvPr>
            <p:custDataLst>
              <p:tags r:id="rId5"/>
            </p:custDataLst>
          </p:nvPr>
        </p:nvSpPr>
        <p:spPr>
          <a:xfrm>
            <a:off x="4178935" y="1892935"/>
            <a:ext cx="7306945" cy="1402715"/>
          </a:xfrm>
          <a:prstGeom prst="rect">
            <a:avLst/>
          </a:prstGeom>
          <a:noFill/>
        </p:spPr>
        <p:txBody>
          <a:bodyPr wrap="square" lIns="91440" tIns="45720" rIns="91440" bIns="4572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设计了多角色权限体系，包括管理员、馆员和读者三种角色。管理员拥有全系统管理权限，负责同步配置管理和冲突解决；馆员负责图书管理和借阅记录管理，可以查看同步状态；读者则具有图书查询权限和查看个人借阅记录的权限。这种分层的权限设计确保了系统的安全性和数据的保密性。</a:t>
            </a:r>
            <a:endParaRPr lang="en-US" sz="1600" dirty="0"/>
          </a:p>
        </p:txBody>
      </p:sp>
      <p:sp>
        <p:nvSpPr>
          <p:cNvPr id="20" name="Text 17"/>
          <p:cNvSpPr/>
          <p:nvPr>
            <p:custDataLst>
              <p:tags r:id="rId6"/>
            </p:custDataLst>
          </p:nvPr>
        </p:nvSpPr>
        <p:spPr>
          <a:xfrm>
            <a:off x="4270375" y="3358470"/>
            <a:ext cx="5899611" cy="368329"/>
          </a:xfrm>
          <a:prstGeom prst="rect">
            <a:avLst/>
          </a:prstGeom>
          <a:noFill/>
        </p:spPr>
        <p:txBody>
          <a:bodyPr wrap="square" lIns="91440" tIns="45720" rIns="91440" bIns="45720" rtlCol="0" anchor="t"/>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安全机制</a:t>
            </a:r>
            <a:endParaRPr lang="en-US" sz="1600" dirty="0"/>
          </a:p>
        </p:txBody>
      </p:sp>
      <p:sp>
        <p:nvSpPr>
          <p:cNvPr id="21" name="Text 18"/>
          <p:cNvSpPr/>
          <p:nvPr>
            <p:custDataLst>
              <p:tags r:id="rId7"/>
            </p:custDataLst>
          </p:nvPr>
        </p:nvSpPr>
        <p:spPr>
          <a:xfrm>
            <a:off x="4270375" y="3789680"/>
            <a:ext cx="7215505" cy="1831975"/>
          </a:xfrm>
          <a:prstGeom prst="rect">
            <a:avLst/>
          </a:prstGeom>
          <a:noFill/>
        </p:spPr>
        <p:txBody>
          <a:bodyPr wrap="square" lIns="91440" tIns="45720" rIns="91440" bIns="4572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在安全机制方面，系统采用了多种措施。首先，对用户输入进行严格验证，使用@Valid注解和自定义验证器确保输入数据的合法性。其次，采用参数化查询防止SQL注入攻击，保护数据库安全。此外，通过Spring Security进行会话管理，控制用户会话，防止未授权访问。最后，建立了统一异常处理机制，对异常情况进行集中处理，提高系统的稳定性和可靠性。</a:t>
            </a:r>
            <a:endParaRPr lang="en-US" sz="1600" dirty="0"/>
          </a:p>
        </p:txBody>
      </p:sp>
      <p:grpSp>
        <p:nvGrpSpPr>
          <p:cNvPr id="24" name="组合 23"/>
          <p:cNvGrpSpPr/>
          <p:nvPr/>
        </p:nvGrpSpPr>
        <p:grpSpPr>
          <a:xfrm>
            <a:off x="0" y="331470"/>
            <a:ext cx="5579110" cy="537845"/>
            <a:chOff x="0" y="522"/>
            <a:chExt cx="878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25" name="矩形 24"/>
            <p:cNvSpPr/>
            <p:nvPr/>
          </p:nvSpPr>
          <p:spPr>
            <a:xfrm>
              <a:off x="2898" y="547"/>
              <a:ext cx="588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多角色权限与安全防护</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26" name="矩形 25"/>
            <p:cNvSpPr/>
            <p:nvPr/>
          </p:nvSpPr>
          <p:spPr>
            <a:xfrm>
              <a:off x="0" y="522"/>
              <a:ext cx="868"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04</a:t>
              </a:r>
              <a:endParaRPr lang="zh-CN" altLang="en-US" sz="2800" dirty="0">
                <a:solidFill>
                  <a:schemeClr val="bg1"/>
                </a:solidFill>
              </a:endParaRPr>
            </a:p>
          </p:txBody>
        </p:sp>
        <p:pic>
          <p:nvPicPr>
            <p:cNvPr id="27" name="图片 26" descr="微信图片_20200425233959"/>
            <p:cNvPicPr>
              <a:picLocks noChangeAspect="1"/>
            </p:cNvPicPr>
            <p:nvPr/>
          </p:nvPicPr>
          <p:blipFill>
            <a:blip r:embed="rId8">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5223510" cy="537845"/>
            <a:chOff x="0" y="522"/>
            <a:chExt cx="822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532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用户界面与权限控制</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68"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04</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pic>
        <p:nvPicPr>
          <p:cNvPr id="12" name="图片 11"/>
          <p:cNvPicPr>
            <a:picLocks noChangeAspect="1"/>
          </p:cNvPicPr>
          <p:nvPr>
            <p:custDataLst>
              <p:tags r:id="rId4"/>
            </p:custDataLst>
          </p:nvPr>
        </p:nvPicPr>
        <p:blipFill>
          <a:blip r:embed="rId2"/>
          <a:srcRect r="48620" b="-868"/>
          <a:stretch>
            <a:fillRect/>
          </a:stretch>
        </p:blipFill>
        <p:spPr>
          <a:xfrm>
            <a:off x="9662795" y="1339215"/>
            <a:ext cx="2529205" cy="4572635"/>
          </a:xfrm>
          <a:prstGeom prst="rect">
            <a:avLst/>
          </a:prstGeom>
        </p:spPr>
      </p:pic>
      <p:sp>
        <p:nvSpPr>
          <p:cNvPr id="4" name="文本框 3"/>
          <p:cNvSpPr txBox="1"/>
          <p:nvPr/>
        </p:nvSpPr>
        <p:spPr>
          <a:xfrm>
            <a:off x="8505190" y="609600"/>
            <a:ext cx="2190750" cy="460375"/>
          </a:xfrm>
          <a:prstGeom prst="rect">
            <a:avLst/>
          </a:prstGeom>
          <a:noFill/>
        </p:spPr>
        <p:txBody>
          <a:bodyPr wrap="square" rtlCol="0">
            <a:spAutoFit/>
          </a:bodyPr>
          <a:p>
            <a:r>
              <a:rPr lang="zh-CN" altLang="en-US" sz="2400">
                <a:solidFill>
                  <a:srgbClr val="00B0F0"/>
                </a:solidFill>
              </a:rPr>
              <a:t>权限体系设计</a:t>
            </a:r>
            <a:endParaRPr lang="zh-CN" altLang="en-US" sz="2400">
              <a:solidFill>
                <a:srgbClr val="00B0F0"/>
              </a:solidFill>
            </a:endParaRPr>
          </a:p>
        </p:txBody>
      </p:sp>
      <p:graphicFrame>
        <p:nvGraphicFramePr>
          <p:cNvPr id="15" name="表格 14"/>
          <p:cNvGraphicFramePr/>
          <p:nvPr/>
        </p:nvGraphicFramePr>
        <p:xfrm>
          <a:off x="1737360" y="1069848"/>
          <a:ext cx="8958580" cy="5618480"/>
        </p:xfrm>
        <a:graphic>
          <a:graphicData uri="http://schemas.openxmlformats.org/drawingml/2006/table">
            <a:tbl>
              <a:tblPr/>
              <a:tblGrid>
                <a:gridCol w="2239645"/>
                <a:gridCol w="2239645"/>
                <a:gridCol w="2239645"/>
                <a:gridCol w="2239645"/>
              </a:tblGrid>
              <a:tr h="323850">
                <a:tc>
                  <a:txBody>
                    <a:bodyPr/>
                    <a:p>
                      <a:pPr marL="68580" indent="0" algn="ctr">
                        <a:lnSpc>
                          <a:spcPct val="150000"/>
                        </a:lnSpc>
                        <a:spcBef>
                          <a:spcPct val="0"/>
                        </a:spcBef>
                        <a:spcAft>
                          <a:spcPct val="0"/>
                        </a:spcAft>
                      </a:pPr>
                      <a:r>
                        <a:rPr lang="zh-CN" sz="1400" b="1">
                          <a:latin typeface="Arial" panose="020B0604020202020204" pitchFamily="34" charset="0"/>
                          <a:ea typeface="宋体" panose="02010600030101010101" pitchFamily="2" charset="-122"/>
                        </a:rPr>
                        <a:t>功能</a:t>
                      </a:r>
                      <a:endParaRPr lang="zh-CN" sz="1400" b="1">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zh-CN" sz="1400" b="1">
                          <a:latin typeface="Arial" panose="020B0604020202020204" pitchFamily="34" charset="0"/>
                          <a:ea typeface="宋体" panose="02010600030101010101" pitchFamily="2" charset="-122"/>
                          <a:cs typeface="Arial" panose="020B0604020202020204" pitchFamily="34" charset="0"/>
                        </a:rPr>
                        <a:t>普通读者</a:t>
                      </a:r>
                      <a:r>
                        <a:rPr lang="en-US" altLang="zh-CN" sz="1400" b="1">
                          <a:latin typeface="Arial" panose="020B0604020202020204" pitchFamily="34" charset="0"/>
                          <a:ea typeface="宋体" panose="02010600030101010101" pitchFamily="2" charset="-122"/>
                          <a:cs typeface="Arial" panose="020B0604020202020204" pitchFamily="34" charset="0"/>
                        </a:rPr>
                        <a:t>(reader)</a:t>
                      </a:r>
                      <a:endParaRPr lang="en-US" altLang="zh-CN" sz="1400" b="1">
                        <a:latin typeface="Arial" panose="020B0604020202020204" pitchFamily="34" charset="0"/>
                        <a:ea typeface="宋体" panose="02010600030101010101" pitchFamily="2" charset="-122"/>
                        <a:cs typeface="Arial" panose="020B0604020202020204" pitchFamily="34" charset="0"/>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zh-CN" sz="1400" b="1">
                          <a:latin typeface="Arial" panose="020B0604020202020204" pitchFamily="34" charset="0"/>
                          <a:ea typeface="宋体" panose="02010600030101010101" pitchFamily="2" charset="-122"/>
                          <a:cs typeface="Arial" panose="020B0604020202020204" pitchFamily="34" charset="0"/>
                        </a:rPr>
                        <a:t>分馆管理员</a:t>
                      </a:r>
                      <a:r>
                        <a:rPr lang="en-US" altLang="zh-CN" sz="1400" b="1">
                          <a:latin typeface="Arial" panose="020B0604020202020204" pitchFamily="34" charset="0"/>
                          <a:ea typeface="宋体" panose="02010600030101010101" pitchFamily="2" charset="-122"/>
                          <a:cs typeface="Arial" panose="020B0604020202020204" pitchFamily="34" charset="0"/>
                        </a:rPr>
                        <a:t>(libadmin)</a:t>
                      </a:r>
                      <a:endParaRPr lang="en-US" altLang="zh-CN" sz="1400" b="1">
                        <a:latin typeface="Arial" panose="020B0604020202020204" pitchFamily="34" charset="0"/>
                        <a:ea typeface="宋体" panose="02010600030101010101" pitchFamily="2" charset="-122"/>
                        <a:cs typeface="Arial" panose="020B0604020202020204" pitchFamily="34" charset="0"/>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zh-CN" sz="1400" b="1">
                          <a:latin typeface="Arial" panose="020B0604020202020204" pitchFamily="34" charset="0"/>
                          <a:ea typeface="宋体" panose="02010600030101010101" pitchFamily="2" charset="-122"/>
                          <a:cs typeface="Arial" panose="020B0604020202020204" pitchFamily="34" charset="0"/>
                        </a:rPr>
                        <a:t>系统管理员</a:t>
                      </a:r>
                      <a:r>
                        <a:rPr lang="en-US" altLang="zh-CN" sz="1400" b="1">
                          <a:latin typeface="Arial" panose="020B0604020202020204" pitchFamily="34" charset="0"/>
                          <a:ea typeface="宋体" panose="02010600030101010101" pitchFamily="2" charset="-122"/>
                          <a:cs typeface="Arial" panose="020B0604020202020204" pitchFamily="34" charset="0"/>
                        </a:rPr>
                        <a:t>(admin)</a:t>
                      </a:r>
                      <a:endParaRPr lang="en-US" altLang="zh-CN" sz="1400" b="1">
                        <a:latin typeface="Arial" panose="020B0604020202020204" pitchFamily="34" charset="0"/>
                        <a:ea typeface="宋体" panose="02010600030101010101" pitchFamily="2" charset="-122"/>
                        <a:cs typeface="Arial" panose="020B0604020202020204" pitchFamily="34" charset="0"/>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查看图书列表</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搜索图书</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添加图书</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sym typeface="+mn-ea"/>
                        </a:rPr>
                        <a:t>❌</a:t>
                      </a:r>
                      <a:endParaRPr lang="en-US" altLang="zh-CN" sz="1200">
                        <a:latin typeface="Arial" panose="020B0604020202020204" pitchFamily="34" charset="0"/>
                        <a:ea typeface="宋体" panose="02010600030101010101" pitchFamily="2" charset="-122"/>
                        <a:sym typeface="+mn-ea"/>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编辑图书</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sym typeface="+mn-ea"/>
                        </a:rPr>
                        <a:t>❌</a:t>
                      </a:r>
                      <a:endParaRPr lang="en-US" altLang="zh-CN" sz="1200">
                        <a:latin typeface="Arial" panose="020B0604020202020204" pitchFamily="34" charset="0"/>
                        <a:ea typeface="宋体" panose="02010600030101010101" pitchFamily="2" charset="-122"/>
                        <a:sym typeface="+mn-ea"/>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删除单本图书</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sym typeface="+mn-ea"/>
                        </a:rPr>
                        <a:t>❌</a:t>
                      </a:r>
                      <a:endParaRPr lang="en-US" altLang="zh-CN" sz="1200">
                        <a:latin typeface="Arial" panose="020B0604020202020204" pitchFamily="34" charset="0"/>
                        <a:ea typeface="宋体" panose="02010600030101010101" pitchFamily="2" charset="-122"/>
                        <a:sym typeface="+mn-ea"/>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批量删除图书</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查看冲突列表</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解决冲突</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触发冲突检测</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数据同步操作</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查看报表</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系统管理</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p>
                      <a:pPr marL="68580" indent="0" algn="ctr">
                        <a:lnSpc>
                          <a:spcPct val="150000"/>
                        </a:lnSpc>
                        <a:spcBef>
                          <a:spcPct val="0"/>
                        </a:spcBef>
                        <a:spcAft>
                          <a:spcPct val="0"/>
                        </a:spcAft>
                      </a:pPr>
                      <a:r>
                        <a:rPr lang="zh-CN" sz="1200">
                          <a:latin typeface="Arial" panose="020B0604020202020204" pitchFamily="34" charset="0"/>
                          <a:ea typeface="宋体" panose="02010600030101010101" pitchFamily="2" charset="-122"/>
                        </a:rPr>
                        <a:t>用户管理</a:t>
                      </a:r>
                      <a:endParaRPr lang="zh-CN" sz="1200">
                        <a:latin typeface="Arial" panose="020B0604020202020204" pitchFamily="34" charset="0"/>
                        <a:ea typeface="宋体" panose="02010600030101010101" pitchFamily="2" charset="-122"/>
                      </a:endParaRPr>
                    </a:p>
                  </a:txBody>
                  <a:tcPr marL="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10160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68580" indent="0" algn="ctr">
                        <a:lnSpc>
                          <a:spcPct val="150000"/>
                        </a:lnSpc>
                        <a:spcBef>
                          <a:spcPct val="0"/>
                        </a:spcBef>
                        <a:spcAft>
                          <a:spcPct val="0"/>
                        </a:spcAft>
                      </a:pPr>
                      <a:r>
                        <a:rPr lang="en-US" altLang="zh-CN" sz="1200">
                          <a:latin typeface="Arial" panose="020B0604020202020204" pitchFamily="34" charset="0"/>
                          <a:ea typeface="宋体" panose="02010600030101010101" pitchFamily="2" charset="-122"/>
                        </a:rPr>
                        <a:t>✅</a:t>
                      </a:r>
                      <a:endParaRPr lang="en-US" altLang="zh-CN" sz="1200">
                        <a:latin typeface="Arial" panose="020B0604020202020204" pitchFamily="34" charset="0"/>
                        <a:ea typeface="宋体" panose="02010600030101010101" pitchFamily="2" charset="-122"/>
                      </a:endParaRPr>
                    </a:p>
                  </a:txBody>
                  <a:tcPr marL="101600" marR="0" marT="63500" marB="6350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pic>
        <p:nvPicPr>
          <p:cNvPr id="5" name="图片 4"/>
          <p:cNvPicPr>
            <a:picLocks noChangeAspect="1"/>
          </p:cNvPicPr>
          <p:nvPr/>
        </p:nvPicPr>
        <p:blipFill>
          <a:blip r:embed="rId3"/>
          <a:stretch>
            <a:fillRect/>
          </a:stretch>
        </p:blipFill>
        <p:spPr>
          <a:xfrm>
            <a:off x="6714490" y="198120"/>
            <a:ext cx="5093970" cy="3754120"/>
          </a:xfrm>
          <a:prstGeom prst="rect">
            <a:avLst/>
          </a:prstGeom>
        </p:spPr>
      </p:pic>
      <p:grpSp>
        <p:nvGrpSpPr>
          <p:cNvPr id="2" name="组合 1"/>
          <p:cNvGrpSpPr/>
          <p:nvPr/>
        </p:nvGrpSpPr>
        <p:grpSpPr>
          <a:xfrm>
            <a:off x="0" y="331470"/>
            <a:ext cx="4512310" cy="537845"/>
            <a:chOff x="0" y="522"/>
            <a:chExt cx="710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420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可视化报表系统</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68"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04</a:t>
              </a:r>
              <a:endParaRPr lang="zh-CN" altLang="en-US" sz="2800" dirty="0">
                <a:solidFill>
                  <a:schemeClr val="bg1"/>
                </a:solidFill>
              </a:endParaRPr>
            </a:p>
          </p:txBody>
        </p:sp>
        <p:pic>
          <p:nvPicPr>
            <p:cNvPr id="9" name="图片 8" descr="微信图片_20200425233959"/>
            <p:cNvPicPr>
              <a:picLocks noChangeAspect="1"/>
            </p:cNvPicPr>
            <p:nvPr/>
          </p:nvPicPr>
          <p:blipFill>
            <a:blip r:embed="rId4">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pic>
        <p:nvPicPr>
          <p:cNvPr id="12" name="图片 11"/>
          <p:cNvPicPr>
            <a:picLocks noChangeAspect="1"/>
          </p:cNvPicPr>
          <p:nvPr>
            <p:custDataLst>
              <p:tags r:id="rId5"/>
            </p:custDataLst>
          </p:nvPr>
        </p:nvPicPr>
        <p:blipFill>
          <a:blip r:embed="rId2"/>
          <a:srcRect r="48620" b="-868"/>
          <a:stretch>
            <a:fillRect/>
          </a:stretch>
        </p:blipFill>
        <p:spPr>
          <a:xfrm>
            <a:off x="9662795" y="1339215"/>
            <a:ext cx="2529205" cy="4572635"/>
          </a:xfrm>
          <a:prstGeom prst="rect">
            <a:avLst/>
          </a:prstGeom>
        </p:spPr>
      </p:pic>
      <p:sp>
        <p:nvSpPr>
          <p:cNvPr id="4" name="文本框 3"/>
          <p:cNvSpPr txBox="1"/>
          <p:nvPr/>
        </p:nvSpPr>
        <p:spPr>
          <a:xfrm>
            <a:off x="2619375" y="1339215"/>
            <a:ext cx="2190750" cy="460375"/>
          </a:xfrm>
          <a:prstGeom prst="rect">
            <a:avLst/>
          </a:prstGeom>
          <a:noFill/>
        </p:spPr>
        <p:txBody>
          <a:bodyPr wrap="square" rtlCol="0">
            <a:spAutoFit/>
          </a:bodyPr>
          <a:p>
            <a:r>
              <a:rPr lang="en-US" altLang="zh-CN" sz="2400">
                <a:solidFill>
                  <a:srgbClr val="00B0F0"/>
                </a:solidFill>
              </a:rPr>
              <a:t>PC</a:t>
            </a:r>
            <a:r>
              <a:rPr lang="zh-CN" altLang="en-US" sz="2400">
                <a:solidFill>
                  <a:srgbClr val="00B0F0"/>
                </a:solidFill>
              </a:rPr>
              <a:t>端报表功能</a:t>
            </a:r>
            <a:endParaRPr lang="zh-CN" altLang="en-US" sz="2400">
              <a:solidFill>
                <a:srgbClr val="00B0F0"/>
              </a:solidFill>
            </a:endParaRPr>
          </a:p>
        </p:txBody>
      </p:sp>
      <p:sp>
        <p:nvSpPr>
          <p:cNvPr id="3" name="文本框 2"/>
          <p:cNvSpPr txBox="1"/>
          <p:nvPr/>
        </p:nvSpPr>
        <p:spPr>
          <a:xfrm>
            <a:off x="2006600" y="1944688"/>
            <a:ext cx="5080000" cy="1753235"/>
          </a:xfrm>
          <a:prstGeom prst="rect">
            <a:avLst/>
          </a:prstGeom>
        </p:spPr>
        <p:txBody>
          <a:bodyPr>
            <a:spAutoFit/>
          </a:bodyPr>
          <a:p>
            <a:pPr indent="0" algn="just" defTabSz="266700" fontAlgn="auto">
              <a:lnSpc>
                <a:spcPct val="150000"/>
              </a:lnSpc>
              <a:spcBef>
                <a:spcPct val="0"/>
              </a:spcBef>
              <a:spcAft>
                <a:spcPct val="0"/>
              </a:spcAft>
            </a:pPr>
            <a:r>
              <a:rPr lang="en-US" altLang="zh-CN">
                <a:latin typeface="Calibri" panose="020F0502020204030204"/>
                <a:ea typeface="Calibri" panose="020F0502020204030204"/>
              </a:rPr>
              <a:t>1. </a:t>
            </a:r>
            <a:r>
              <a:rPr lang="zh-CN" altLang="en-US">
                <a:latin typeface="Calibri" panose="020F0502020204030204"/>
                <a:ea typeface="宋体" panose="02010600030101010101" pitchFamily="2" charset="-122"/>
              </a:rPr>
              <a:t>冲突趋势图 </a:t>
            </a:r>
            <a:r>
              <a:rPr lang="en-US" altLang="zh-CN">
                <a:latin typeface="Calibri" panose="020F0502020204030204"/>
                <a:ea typeface="Calibri" panose="020F0502020204030204"/>
              </a:rPr>
              <a:t>- 7</a:t>
            </a:r>
            <a:r>
              <a:rPr lang="zh-CN" altLang="en-US">
                <a:latin typeface="Calibri" panose="020F0502020204030204"/>
                <a:ea typeface="宋体" panose="02010600030101010101" pitchFamily="2" charset="-122"/>
              </a:rPr>
              <a:t>天冲突变化趋势（折线图）</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Calibri" panose="020F0502020204030204"/>
              </a:rPr>
              <a:t>2. </a:t>
            </a:r>
            <a:r>
              <a:rPr lang="zh-CN" altLang="en-US">
                <a:latin typeface="Calibri" panose="020F0502020204030204"/>
                <a:ea typeface="宋体" panose="02010600030101010101" pitchFamily="2" charset="-122"/>
              </a:rPr>
              <a:t>数据库对比图 </a:t>
            </a:r>
            <a:r>
              <a:rPr lang="en-US" altLang="zh-CN">
                <a:latin typeface="Calibri" panose="020F0502020204030204"/>
                <a:ea typeface="Calibri" panose="020F0502020204030204"/>
              </a:rPr>
              <a:t>- </a:t>
            </a:r>
            <a:r>
              <a:rPr lang="zh-CN" altLang="en-US">
                <a:latin typeface="Calibri" panose="020F0502020204030204"/>
                <a:ea typeface="宋体" panose="02010600030101010101" pitchFamily="2" charset="-122"/>
              </a:rPr>
              <a:t>三库同步情况对比（柱状图）</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Calibri" panose="020F0502020204030204"/>
              </a:rPr>
              <a:t>3. </a:t>
            </a:r>
            <a:r>
              <a:rPr lang="zh-CN" altLang="en-US">
                <a:latin typeface="Calibri" panose="020F0502020204030204"/>
                <a:ea typeface="宋体" panose="02010600030101010101" pitchFamily="2" charset="-122"/>
              </a:rPr>
              <a:t>解决时效分析 </a:t>
            </a:r>
            <a:r>
              <a:rPr lang="en-US" altLang="zh-CN">
                <a:latin typeface="Calibri" panose="020F0502020204030204"/>
                <a:ea typeface="Calibri" panose="020F0502020204030204"/>
              </a:rPr>
              <a:t>- </a:t>
            </a:r>
            <a:r>
              <a:rPr lang="zh-CN" altLang="en-US">
                <a:latin typeface="Calibri" panose="020F0502020204030204"/>
                <a:ea typeface="宋体" panose="02010600030101010101" pitchFamily="2" charset="-122"/>
              </a:rPr>
              <a:t>冲突解决时间分布（饼图）</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Calibri" panose="020F0502020204030204"/>
              </a:rPr>
              <a:t>4. </a:t>
            </a:r>
            <a:r>
              <a:rPr lang="zh-CN" altLang="en-US">
                <a:latin typeface="Calibri" panose="020F0502020204030204"/>
                <a:ea typeface="宋体" panose="02010600030101010101" pitchFamily="2" charset="-122"/>
              </a:rPr>
              <a:t>数据导出功能 </a:t>
            </a:r>
            <a:r>
              <a:rPr lang="en-US" altLang="zh-CN">
                <a:latin typeface="Calibri" panose="020F0502020204030204"/>
                <a:ea typeface="Calibri" panose="020F0502020204030204"/>
              </a:rPr>
              <a:t>- Excel/PDF</a:t>
            </a:r>
            <a:r>
              <a:rPr lang="zh-CN" altLang="en-US">
                <a:latin typeface="Calibri" panose="020F0502020204030204"/>
                <a:ea typeface="宋体" panose="02010600030101010101" pitchFamily="2" charset="-122"/>
              </a:rPr>
              <a:t>格式一键导出</a:t>
            </a:r>
            <a:endParaRPr lang="zh-CN" altLang="en-US">
              <a:latin typeface="Calibri" panose="020F0502020204030204"/>
              <a:ea typeface="宋体" panose="02010600030101010101" pitchFamily="2" charset="-122"/>
            </a:endParaRPr>
          </a:p>
        </p:txBody>
      </p:sp>
      <p:pic>
        <p:nvPicPr>
          <p:cNvPr id="10" name="图片 9"/>
          <p:cNvPicPr>
            <a:picLocks noChangeAspect="1"/>
          </p:cNvPicPr>
          <p:nvPr/>
        </p:nvPicPr>
        <p:blipFill>
          <a:blip r:embed="rId6"/>
          <a:srcRect b="5728"/>
          <a:stretch>
            <a:fillRect/>
          </a:stretch>
        </p:blipFill>
        <p:spPr>
          <a:xfrm>
            <a:off x="2228850" y="3634105"/>
            <a:ext cx="5335270" cy="3147695"/>
          </a:xfrm>
          <a:prstGeom prst="rect">
            <a:avLst/>
          </a:prstGeom>
        </p:spPr>
      </p:pic>
    </p:spTree>
    <p:custDataLst>
      <p:tags r:id="rId7"/>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4512310" cy="537845"/>
            <a:chOff x="0" y="522"/>
            <a:chExt cx="710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7" name="矩形 6"/>
            <p:cNvSpPr/>
            <p:nvPr/>
          </p:nvSpPr>
          <p:spPr>
            <a:xfrm>
              <a:off x="2898" y="547"/>
              <a:ext cx="420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可视化报表系统</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68"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04</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pic>
        <p:nvPicPr>
          <p:cNvPr id="5" name="图片 4"/>
          <p:cNvPicPr>
            <a:picLocks noChangeAspect="1"/>
          </p:cNvPicPr>
          <p:nvPr/>
        </p:nvPicPr>
        <p:blipFill>
          <a:blip r:embed="rId4"/>
          <a:stretch>
            <a:fillRect/>
          </a:stretch>
        </p:blipFill>
        <p:spPr>
          <a:xfrm>
            <a:off x="6636385" y="869315"/>
            <a:ext cx="5038090" cy="4150360"/>
          </a:xfrm>
          <a:prstGeom prst="rect">
            <a:avLst/>
          </a:prstGeom>
        </p:spPr>
      </p:pic>
      <p:pic>
        <p:nvPicPr>
          <p:cNvPr id="12" name="图片 11"/>
          <p:cNvPicPr>
            <a:picLocks noChangeAspect="1"/>
          </p:cNvPicPr>
          <p:nvPr>
            <p:custDataLst>
              <p:tags r:id="rId5"/>
            </p:custDataLst>
          </p:nvPr>
        </p:nvPicPr>
        <p:blipFill>
          <a:blip r:embed="rId2"/>
          <a:srcRect r="48620" b="-868"/>
          <a:stretch>
            <a:fillRect/>
          </a:stretch>
        </p:blipFill>
        <p:spPr>
          <a:xfrm>
            <a:off x="9662795" y="1339215"/>
            <a:ext cx="2529205" cy="4572635"/>
          </a:xfrm>
          <a:prstGeom prst="rect">
            <a:avLst/>
          </a:prstGeom>
        </p:spPr>
      </p:pic>
      <p:sp>
        <p:nvSpPr>
          <p:cNvPr id="4" name="文本框 3"/>
          <p:cNvSpPr txBox="1"/>
          <p:nvPr/>
        </p:nvSpPr>
        <p:spPr>
          <a:xfrm>
            <a:off x="2619375" y="1339215"/>
            <a:ext cx="2190750" cy="460375"/>
          </a:xfrm>
          <a:prstGeom prst="rect">
            <a:avLst/>
          </a:prstGeom>
          <a:noFill/>
        </p:spPr>
        <p:txBody>
          <a:bodyPr wrap="square" rtlCol="0">
            <a:spAutoFit/>
          </a:bodyPr>
          <a:p>
            <a:r>
              <a:rPr lang="zh-CN" altLang="en-US" sz="2400">
                <a:solidFill>
                  <a:srgbClr val="00B0F0"/>
                </a:solidFill>
              </a:rPr>
              <a:t>移动端适配</a:t>
            </a:r>
            <a:endParaRPr lang="zh-CN" altLang="en-US" sz="2400">
              <a:solidFill>
                <a:srgbClr val="00B0F0"/>
              </a:solidFill>
            </a:endParaRPr>
          </a:p>
        </p:txBody>
      </p:sp>
      <p:sp>
        <p:nvSpPr>
          <p:cNvPr id="3" name="文本框 2"/>
          <p:cNvSpPr txBox="1"/>
          <p:nvPr/>
        </p:nvSpPr>
        <p:spPr>
          <a:xfrm>
            <a:off x="2006600" y="1944688"/>
            <a:ext cx="5080000" cy="1753235"/>
          </a:xfrm>
          <a:prstGeom prst="rect">
            <a:avLst/>
          </a:prstGeom>
        </p:spPr>
        <p:txBody>
          <a:bodyPr>
            <a:spAutoFit/>
          </a:bodyPr>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响应式设计：</a:t>
            </a:r>
            <a:r>
              <a:rPr lang="en-US" altLang="zh-CN">
                <a:latin typeface="Calibri" panose="020F0502020204030204"/>
                <a:ea typeface="宋体" panose="02010600030101010101" pitchFamily="2" charset="-122"/>
              </a:rPr>
              <a:t>Bootstrap</a:t>
            </a:r>
            <a:r>
              <a:rPr lang="zh-CN" altLang="en-US">
                <a:latin typeface="Calibri" panose="020F0502020204030204"/>
                <a:ea typeface="宋体" panose="02010600030101010101" pitchFamily="2" charset="-122"/>
              </a:rPr>
              <a:t>栅格系统自动适配</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触摸优化：大按钮、滑动操作、手势支持</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精简展示：关键数据卡片化，一目了然</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性能优化：图片懒加载，数据分页</a:t>
            </a:r>
            <a:endParaRPr lang="zh-CN" altLang="en-US">
              <a:latin typeface="Calibri" panose="020F0502020204030204"/>
              <a:ea typeface="宋体" panose="02010600030101010101" pitchFamily="2" charset="-122"/>
            </a:endParaRPr>
          </a:p>
        </p:txBody>
      </p:sp>
    </p:spTree>
    <p:custDataLst>
      <p:tags r:id="rId6"/>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60985" y="163195"/>
            <a:ext cx="1071245" cy="553720"/>
          </a:xfrm>
          <a:prstGeom prst="rect">
            <a:avLst/>
          </a:prstGeom>
          <a:noFill/>
        </p:spPr>
        <p:txBody>
          <a:bodyPr wrap="square" lIns="45720" tIns="91440" rIns="91440" bIns="45720" rtlCol="0" anchor="ctr"/>
          <a:lstStyle/>
          <a:p>
            <a:pPr>
              <a:lnSpc>
                <a:spcPct val="100000"/>
              </a:lnSpc>
            </a:pPr>
            <a:endParaRPr lang="en-US" sz="1600" dirty="0"/>
          </a:p>
        </p:txBody>
      </p:sp>
      <p:pic>
        <p:nvPicPr>
          <p:cNvPr id="5" name="Image 0" descr="https://kimi-img.moonshot.cn/pub/slides/slides_tmpl/image/25-09-04-14:54:56-d2sjfg61bb2p4onbpvp0.png"/>
          <p:cNvPicPr>
            <a:picLocks noChangeAspect="1"/>
          </p:cNvPicPr>
          <p:nvPr/>
        </p:nvPicPr>
        <p:blipFill>
          <a:blip r:embed="rId1">
            <a:alphaModFix amt="74000"/>
          </a:blip>
          <a:srcRect l="128" t="55116" r="-128" b="-2787"/>
          <a:stretch>
            <a:fillRect/>
          </a:stretch>
        </p:blipFill>
        <p:spPr>
          <a:xfrm>
            <a:off x="5582285" y="0"/>
            <a:ext cx="6927215" cy="1857375"/>
          </a:xfrm>
          <a:prstGeom prst="rect">
            <a:avLst/>
          </a:prstGeom>
        </p:spPr>
      </p:pic>
      <p:sp>
        <p:nvSpPr>
          <p:cNvPr id="6" name="Shape 3"/>
          <p:cNvSpPr/>
          <p:nvPr/>
        </p:nvSpPr>
        <p:spPr>
          <a:xfrm>
            <a:off x="114858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7" name="Text 4"/>
          <p:cNvSpPr/>
          <p:nvPr/>
        </p:nvSpPr>
        <p:spPr>
          <a:xfrm>
            <a:off x="114858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5"/>
          <p:cNvSpPr/>
          <p:nvPr/>
        </p:nvSpPr>
        <p:spPr>
          <a:xfrm>
            <a:off x="11816080" y="589915"/>
            <a:ext cx="134620" cy="134620"/>
          </a:xfrm>
          <a:prstGeom prst="ellipse">
            <a:avLst/>
          </a:prstGeom>
          <a:solidFill>
            <a:srgbClr val="000000">
              <a:alpha val="0"/>
            </a:srgbClr>
          </a:solidFill>
          <a:ln w="19050">
            <a:gradFill flip="none" rotWithShape="1">
              <a:gsLst>
                <a:gs pos="0">
                  <a:srgbClr val="4874CB"/>
                </a:gs>
                <a:gs pos="100000">
                  <a:srgbClr val="4874CB">
                    <a:alpha val="29000"/>
                  </a:srgbClr>
                </a:gs>
              </a:gsLst>
              <a:lin ang="2700000" scaled="1"/>
            </a:gradFill>
            <a:prstDash val="solid"/>
          </a:ln>
        </p:spPr>
      </p:sp>
      <p:sp>
        <p:nvSpPr>
          <p:cNvPr id="9" name="Text 6"/>
          <p:cNvSpPr/>
          <p:nvPr/>
        </p:nvSpPr>
        <p:spPr>
          <a:xfrm>
            <a:off x="118160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7"/>
          <p:cNvSpPr/>
          <p:nvPr/>
        </p:nvSpPr>
        <p:spPr>
          <a:xfrm>
            <a:off x="116509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1" name="Text 8"/>
          <p:cNvSpPr/>
          <p:nvPr/>
        </p:nvSpPr>
        <p:spPr>
          <a:xfrm>
            <a:off x="116509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9"/>
          <p:cNvSpPr/>
          <p:nvPr>
            <p:custDataLst>
              <p:tags r:id="rId2"/>
            </p:custDataLst>
          </p:nvPr>
        </p:nvSpPr>
        <p:spPr>
          <a:xfrm>
            <a:off x="923049" y="1849081"/>
            <a:ext cx="4790218" cy="0"/>
          </a:xfrm>
          <a:prstGeom prst="line">
            <a:avLst/>
          </a:prstGeom>
          <a:noFill/>
          <a:ln w="12700">
            <a:solidFill>
              <a:srgbClr val="4874CB">
                <a:alpha val="60000"/>
              </a:srgbClr>
            </a:solidFill>
            <a:prstDash val="solid"/>
            <a:headEnd type="none"/>
            <a:tailEnd type="none"/>
          </a:ln>
        </p:spPr>
      </p:sp>
      <p:sp>
        <p:nvSpPr>
          <p:cNvPr id="13" name="Shape 10"/>
          <p:cNvSpPr/>
          <p:nvPr>
            <p:custDataLst>
              <p:tags r:id="rId3"/>
            </p:custDataLst>
          </p:nvPr>
        </p:nvSpPr>
        <p:spPr>
          <a:xfrm>
            <a:off x="922413" y="4440732"/>
            <a:ext cx="4790218" cy="0"/>
          </a:xfrm>
          <a:prstGeom prst="line">
            <a:avLst/>
          </a:prstGeom>
          <a:noFill/>
          <a:ln w="12700">
            <a:solidFill>
              <a:srgbClr val="4874CB">
                <a:alpha val="60000"/>
              </a:srgbClr>
            </a:solidFill>
            <a:prstDash val="solid"/>
            <a:headEnd type="none"/>
            <a:tailEnd type="none"/>
          </a:ln>
        </p:spPr>
      </p:sp>
      <p:sp>
        <p:nvSpPr>
          <p:cNvPr id="14" name="Shape 11"/>
          <p:cNvSpPr/>
          <p:nvPr>
            <p:custDataLst>
              <p:tags r:id="rId4"/>
            </p:custDataLst>
          </p:nvPr>
        </p:nvSpPr>
        <p:spPr>
          <a:xfrm>
            <a:off x="6531602" y="1849081"/>
            <a:ext cx="4790218" cy="0"/>
          </a:xfrm>
          <a:prstGeom prst="line">
            <a:avLst/>
          </a:prstGeom>
          <a:noFill/>
          <a:ln w="12700">
            <a:solidFill>
              <a:srgbClr val="4874CB">
                <a:alpha val="60000"/>
              </a:srgbClr>
            </a:solidFill>
            <a:prstDash val="solid"/>
            <a:headEnd type="none"/>
            <a:tailEnd type="none"/>
          </a:ln>
        </p:spPr>
      </p:sp>
      <p:sp>
        <p:nvSpPr>
          <p:cNvPr id="15" name="Shape 12"/>
          <p:cNvSpPr/>
          <p:nvPr>
            <p:custDataLst>
              <p:tags r:id="rId5"/>
            </p:custDataLst>
          </p:nvPr>
        </p:nvSpPr>
        <p:spPr>
          <a:xfrm>
            <a:off x="6531602" y="4440732"/>
            <a:ext cx="4790218" cy="0"/>
          </a:xfrm>
          <a:prstGeom prst="line">
            <a:avLst/>
          </a:prstGeom>
          <a:noFill/>
          <a:ln w="12700">
            <a:solidFill>
              <a:srgbClr val="4874CB">
                <a:alpha val="60000"/>
              </a:srgbClr>
            </a:solidFill>
            <a:prstDash val="solid"/>
            <a:headEnd type="none"/>
            <a:tailEnd type="none"/>
          </a:ln>
        </p:spPr>
      </p:sp>
      <p:sp>
        <p:nvSpPr>
          <p:cNvPr id="16" name="Shape 13"/>
          <p:cNvSpPr/>
          <p:nvPr/>
        </p:nvSpPr>
        <p:spPr>
          <a:xfrm>
            <a:off x="-3444875" y="6522720"/>
            <a:ext cx="7963535" cy="335280"/>
          </a:xfrm>
          <a:prstGeom prst="roundRect">
            <a:avLst>
              <a:gd name="adj" fmla="val 50000"/>
            </a:avLst>
          </a:prstGeom>
          <a:gradFill flip="none" rotWithShape="1">
            <a:gsLst>
              <a:gs pos="0">
                <a:srgbClr val="D1DCF2">
                  <a:alpha val="0"/>
                </a:srgbClr>
              </a:gs>
              <a:gs pos="22000">
                <a:srgbClr val="6389D3">
                  <a:alpha val="0"/>
                </a:srgbClr>
              </a:gs>
              <a:gs pos="69000">
                <a:srgbClr val="6389D3">
                  <a:alpha val="24000"/>
                </a:srgbClr>
              </a:gs>
              <a:gs pos="95000">
                <a:srgbClr val="6389D3">
                  <a:alpha val="39000"/>
                </a:srgbClr>
              </a:gs>
              <a:gs pos="100000">
                <a:srgbClr val="6389D3">
                  <a:alpha val="39000"/>
                </a:srgbClr>
              </a:gs>
            </a:gsLst>
            <a:lin ang="0" scaled="1"/>
          </a:gradFill>
        </p:spPr>
      </p:sp>
      <p:sp>
        <p:nvSpPr>
          <p:cNvPr id="17" name="Text 14"/>
          <p:cNvSpPr/>
          <p:nvPr/>
        </p:nvSpPr>
        <p:spPr>
          <a:xfrm>
            <a:off x="-3654425" y="6607175"/>
            <a:ext cx="7963535" cy="335280"/>
          </a:xfrm>
          <a:prstGeom prst="rect">
            <a:avLst/>
          </a:prstGeom>
          <a:noFill/>
        </p:spPr>
        <p:txBody>
          <a:bodyPr wrap="square" lIns="45720" tIns="91440" rIns="91440" bIns="45720" rtlCol="0" anchor="ctr"/>
          <a:lstStyle/>
          <a:p>
            <a:pPr>
              <a:lnSpc>
                <a:spcPct val="100000"/>
              </a:lnSpc>
            </a:pPr>
            <a:endParaRPr lang="en-US" sz="1600" dirty="0"/>
          </a:p>
        </p:txBody>
      </p:sp>
      <p:sp>
        <p:nvSpPr>
          <p:cNvPr id="18" name="Text 15"/>
          <p:cNvSpPr/>
          <p:nvPr>
            <p:custDataLst>
              <p:tags r:id="rId6"/>
            </p:custDataLst>
          </p:nvPr>
        </p:nvSpPr>
        <p:spPr>
          <a:xfrm>
            <a:off x="923049" y="1326083"/>
            <a:ext cx="4770337" cy="467006"/>
          </a:xfrm>
          <a:prstGeom prst="rect">
            <a:avLst/>
          </a:prstGeom>
          <a:noFill/>
        </p:spPr>
        <p:txBody>
          <a:bodyPr wrap="square" lIns="0" tIns="0" rIns="0" bIns="0" rtlCol="0" anchor="ctr"/>
          <a:lstStyle/>
          <a:p>
            <a:pPr>
              <a:lnSpc>
                <a:spcPct val="100000"/>
              </a:lnSpc>
            </a:pPr>
            <a:r>
              <a:rPr lang="en-US" sz="3200" b="1" dirty="0">
                <a:solidFill>
                  <a:srgbClr val="B5C7EA"/>
                </a:solidFill>
                <a:latin typeface="Arial" panose="020B0604020202020204" pitchFamily="34" charset="0"/>
                <a:ea typeface="Arial" panose="020B0604020202020204" pitchFamily="34" charset="-122"/>
                <a:cs typeface="Arial" panose="020B0604020202020204" pitchFamily="34" charset="-120"/>
              </a:rPr>
              <a:t>01</a:t>
            </a:r>
            <a:endParaRPr lang="en-US" sz="1600" dirty="0"/>
          </a:p>
        </p:txBody>
      </p:sp>
      <p:sp>
        <p:nvSpPr>
          <p:cNvPr id="19" name="Text 16"/>
          <p:cNvSpPr/>
          <p:nvPr>
            <p:custDataLst>
              <p:tags r:id="rId7"/>
            </p:custDataLst>
          </p:nvPr>
        </p:nvSpPr>
        <p:spPr>
          <a:xfrm>
            <a:off x="923049" y="1905071"/>
            <a:ext cx="4770847" cy="368962"/>
          </a:xfrm>
          <a:prstGeom prst="rect">
            <a:avLst/>
          </a:prstGeom>
          <a:noFill/>
        </p:spPr>
        <p:txBody>
          <a:bodyPr wrap="square" lIns="0" tIns="0" rIns="0" bIns="0" rtlCol="0" anchor="b"/>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PC端数据管理模块</a:t>
            </a:r>
            <a:endParaRPr lang="en-US" sz="1600" dirty="0"/>
          </a:p>
        </p:txBody>
      </p:sp>
      <p:sp>
        <p:nvSpPr>
          <p:cNvPr id="20" name="Shape 17"/>
          <p:cNvSpPr/>
          <p:nvPr>
            <p:custDataLst>
              <p:tags r:id="rId8"/>
            </p:custDataLst>
          </p:nvPr>
        </p:nvSpPr>
        <p:spPr>
          <a:xfrm>
            <a:off x="923049" y="2325633"/>
            <a:ext cx="4770337" cy="1204541"/>
          </a:xfrm>
          <a:prstGeom prst="rect">
            <a:avLst/>
          </a:prstGeom>
          <a:solidFill>
            <a:srgbClr val="000000">
              <a:alpha val="0"/>
            </a:srgbClr>
          </a:solidFill>
        </p:spPr>
      </p:sp>
      <p:sp>
        <p:nvSpPr>
          <p:cNvPr id="21" name="Text 18"/>
          <p:cNvSpPr/>
          <p:nvPr>
            <p:custDataLst>
              <p:tags r:id="rId9"/>
            </p:custDataLst>
          </p:nvPr>
        </p:nvSpPr>
        <p:spPr>
          <a:xfrm>
            <a:off x="923049" y="2325633"/>
            <a:ext cx="4770337" cy="1204541"/>
          </a:xfrm>
          <a:prstGeom prst="rect">
            <a:avLst/>
          </a:prstGeom>
          <a:noFill/>
        </p:spPr>
        <p:txBody>
          <a:bodyPr wrap="square" lIns="0" tIns="0" rIns="0" bIns="0" rtlCol="0" anchor="t"/>
          <a:lstStyle/>
          <a:p>
            <a:pPr algn="just">
              <a:lnSpc>
                <a:spcPct val="150000"/>
              </a:lnSpc>
            </a:pPr>
            <a:r>
              <a:rPr lang="en-US" sz="1400" dirty="0">
                <a:solidFill>
                  <a:srgbClr val="262626"/>
                </a:solidFill>
                <a:latin typeface="Arial" panose="020B0604020202020204" pitchFamily="34" charset="0"/>
                <a:ea typeface="Arial" panose="020B0604020202020204" pitchFamily="34" charset="-122"/>
                <a:cs typeface="Arial" panose="020B0604020202020204" pitchFamily="34" charset="-120"/>
              </a:rPr>
              <a:t>PC端的数据管理模块提供图书CRUD操作、用户管理和借阅记录管理等功能。用户可以方便地进行图书的增删改查，管理不同角色的用户权限，以及查看和管理借阅记录，满足图书管理系统的基本业务需求。</a:t>
            </a:r>
            <a:endParaRPr lang="en-US" sz="1600" dirty="0"/>
          </a:p>
        </p:txBody>
      </p:sp>
      <p:sp>
        <p:nvSpPr>
          <p:cNvPr id="22" name="Text 19"/>
          <p:cNvSpPr/>
          <p:nvPr>
            <p:custDataLst>
              <p:tags r:id="rId10"/>
            </p:custDataLst>
          </p:nvPr>
        </p:nvSpPr>
        <p:spPr>
          <a:xfrm>
            <a:off x="6531602" y="1326083"/>
            <a:ext cx="4771751" cy="467006"/>
          </a:xfrm>
          <a:prstGeom prst="rect">
            <a:avLst/>
          </a:prstGeom>
          <a:noFill/>
        </p:spPr>
        <p:txBody>
          <a:bodyPr wrap="square" lIns="0" tIns="0" rIns="0" bIns="0" rtlCol="0" anchor="ctr"/>
          <a:lstStyle/>
          <a:p>
            <a:pPr>
              <a:lnSpc>
                <a:spcPct val="100000"/>
              </a:lnSpc>
            </a:pPr>
            <a:r>
              <a:rPr lang="en-US" sz="3200" b="1" dirty="0">
                <a:solidFill>
                  <a:srgbClr val="B5C7EA"/>
                </a:solidFill>
                <a:latin typeface="Arial" panose="020B0604020202020204" pitchFamily="34" charset="0"/>
                <a:ea typeface="Arial" panose="020B0604020202020204" pitchFamily="34" charset="-122"/>
                <a:cs typeface="Arial" panose="020B0604020202020204" pitchFamily="34" charset="-120"/>
              </a:rPr>
              <a:t>02</a:t>
            </a:r>
            <a:endParaRPr lang="en-US" sz="1600" dirty="0"/>
          </a:p>
        </p:txBody>
      </p:sp>
      <p:sp>
        <p:nvSpPr>
          <p:cNvPr id="23" name="Text 20"/>
          <p:cNvSpPr/>
          <p:nvPr>
            <p:custDataLst>
              <p:tags r:id="rId11"/>
            </p:custDataLst>
          </p:nvPr>
        </p:nvSpPr>
        <p:spPr>
          <a:xfrm>
            <a:off x="6531602" y="1905071"/>
            <a:ext cx="4772965" cy="368962"/>
          </a:xfrm>
          <a:prstGeom prst="rect">
            <a:avLst/>
          </a:prstGeom>
          <a:noFill/>
        </p:spPr>
        <p:txBody>
          <a:bodyPr wrap="square" lIns="0" tIns="0" rIns="0" bIns="0" rtlCol="0" anchor="b"/>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PC端同步监控模块</a:t>
            </a:r>
            <a:endParaRPr lang="en-US" sz="1600" dirty="0"/>
          </a:p>
        </p:txBody>
      </p:sp>
      <p:sp>
        <p:nvSpPr>
          <p:cNvPr id="24" name="Shape 21"/>
          <p:cNvSpPr/>
          <p:nvPr>
            <p:custDataLst>
              <p:tags r:id="rId12"/>
            </p:custDataLst>
          </p:nvPr>
        </p:nvSpPr>
        <p:spPr>
          <a:xfrm>
            <a:off x="6531602" y="2325633"/>
            <a:ext cx="4771367" cy="1204541"/>
          </a:xfrm>
          <a:prstGeom prst="rect">
            <a:avLst/>
          </a:prstGeom>
          <a:solidFill>
            <a:srgbClr val="000000">
              <a:alpha val="0"/>
            </a:srgbClr>
          </a:solidFill>
        </p:spPr>
      </p:sp>
      <p:sp>
        <p:nvSpPr>
          <p:cNvPr id="25" name="Text 22"/>
          <p:cNvSpPr/>
          <p:nvPr>
            <p:custDataLst>
              <p:tags r:id="rId13"/>
            </p:custDataLst>
          </p:nvPr>
        </p:nvSpPr>
        <p:spPr>
          <a:xfrm>
            <a:off x="6531602" y="2325633"/>
            <a:ext cx="4771367" cy="1204541"/>
          </a:xfrm>
          <a:prstGeom prst="rect">
            <a:avLst/>
          </a:prstGeom>
          <a:noFill/>
        </p:spPr>
        <p:txBody>
          <a:bodyPr wrap="square" lIns="0" tIns="0" rIns="0" bIns="0" rtlCol="0" anchor="t"/>
          <a:lstStyle/>
          <a:p>
            <a:pPr algn="just">
              <a:lnSpc>
                <a:spcPct val="150000"/>
              </a:lnSpc>
            </a:pPr>
            <a:r>
              <a:rPr lang="en-US" sz="1400" dirty="0">
                <a:solidFill>
                  <a:srgbClr val="404040"/>
                </a:solidFill>
                <a:latin typeface="Arial" panose="020B0604020202020204" pitchFamily="34" charset="0"/>
                <a:ea typeface="Arial" panose="020B0604020202020204" pitchFamily="34" charset="-122"/>
                <a:cs typeface="Arial" panose="020B0604020202020204" pitchFamily="34" charset="-120"/>
              </a:rPr>
              <a:t>同步监控模块包括实时同步状态仪表盘、定时任务管理界面和同步日志查询功能。实时同步状态仪表盘直观展示当前同步状态；定时任务管理界面允许管理员配置和管理定时同步任务；同步日志查询功能提供详细的同步日志记录，便于问题排查和监控。</a:t>
            </a:r>
            <a:endParaRPr lang="en-US" sz="1600" dirty="0"/>
          </a:p>
        </p:txBody>
      </p:sp>
      <p:sp>
        <p:nvSpPr>
          <p:cNvPr id="26" name="Text 23"/>
          <p:cNvSpPr/>
          <p:nvPr>
            <p:custDataLst>
              <p:tags r:id="rId14"/>
            </p:custDataLst>
          </p:nvPr>
        </p:nvSpPr>
        <p:spPr>
          <a:xfrm>
            <a:off x="922413" y="3917734"/>
            <a:ext cx="4771483" cy="467006"/>
          </a:xfrm>
          <a:prstGeom prst="rect">
            <a:avLst/>
          </a:prstGeom>
          <a:noFill/>
        </p:spPr>
        <p:txBody>
          <a:bodyPr wrap="square" lIns="0" tIns="0" rIns="0" bIns="0" rtlCol="0" anchor="ctr"/>
          <a:lstStyle/>
          <a:p>
            <a:pPr>
              <a:lnSpc>
                <a:spcPct val="100000"/>
              </a:lnSpc>
            </a:pPr>
            <a:r>
              <a:rPr lang="en-US" sz="3200" b="1" dirty="0">
                <a:solidFill>
                  <a:srgbClr val="B5C7EA"/>
                </a:solidFill>
                <a:latin typeface="Arial" panose="020B0604020202020204" pitchFamily="34" charset="0"/>
                <a:ea typeface="Arial" panose="020B0604020202020204" pitchFamily="34" charset="-122"/>
                <a:cs typeface="Arial" panose="020B0604020202020204" pitchFamily="34" charset="-120"/>
              </a:rPr>
              <a:t>03</a:t>
            </a:r>
            <a:endParaRPr lang="en-US" sz="1600" dirty="0"/>
          </a:p>
        </p:txBody>
      </p:sp>
      <p:sp>
        <p:nvSpPr>
          <p:cNvPr id="27" name="Text 24"/>
          <p:cNvSpPr/>
          <p:nvPr>
            <p:custDataLst>
              <p:tags r:id="rId15"/>
            </p:custDataLst>
          </p:nvPr>
        </p:nvSpPr>
        <p:spPr>
          <a:xfrm>
            <a:off x="922413" y="4496086"/>
            <a:ext cx="4772338" cy="368962"/>
          </a:xfrm>
          <a:prstGeom prst="rect">
            <a:avLst/>
          </a:prstGeom>
          <a:noFill/>
        </p:spPr>
        <p:txBody>
          <a:bodyPr wrap="square" lIns="0" tIns="0" rIns="0" bIns="0" rtlCol="0" anchor="b"/>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PC端冲突处理模块</a:t>
            </a:r>
            <a:endParaRPr lang="en-US" sz="1600" dirty="0"/>
          </a:p>
        </p:txBody>
      </p:sp>
      <p:sp>
        <p:nvSpPr>
          <p:cNvPr id="28" name="Shape 25"/>
          <p:cNvSpPr/>
          <p:nvPr>
            <p:custDataLst>
              <p:tags r:id="rId16"/>
            </p:custDataLst>
          </p:nvPr>
        </p:nvSpPr>
        <p:spPr>
          <a:xfrm>
            <a:off x="922413" y="4926192"/>
            <a:ext cx="4771751" cy="1204541"/>
          </a:xfrm>
          <a:prstGeom prst="rect">
            <a:avLst/>
          </a:prstGeom>
          <a:solidFill>
            <a:srgbClr val="000000">
              <a:alpha val="0"/>
            </a:srgbClr>
          </a:solidFill>
        </p:spPr>
      </p:sp>
      <p:sp>
        <p:nvSpPr>
          <p:cNvPr id="29" name="Text 26"/>
          <p:cNvSpPr/>
          <p:nvPr>
            <p:custDataLst>
              <p:tags r:id="rId17"/>
            </p:custDataLst>
          </p:nvPr>
        </p:nvSpPr>
        <p:spPr>
          <a:xfrm>
            <a:off x="922413" y="4926192"/>
            <a:ext cx="4771751" cy="1204541"/>
          </a:xfrm>
          <a:prstGeom prst="rect">
            <a:avLst/>
          </a:prstGeom>
          <a:noFill/>
        </p:spPr>
        <p:txBody>
          <a:bodyPr wrap="square" lIns="0" tIns="0" rIns="0" bIns="0" rtlCol="0" anchor="t"/>
          <a:lstStyle/>
          <a:p>
            <a:pPr algn="just">
              <a:lnSpc>
                <a:spcPct val="150000"/>
              </a:lnSpc>
            </a:pPr>
            <a:r>
              <a:rPr lang="en-US" sz="1400" dirty="0">
                <a:solidFill>
                  <a:srgbClr val="404040"/>
                </a:solidFill>
                <a:latin typeface="Arial" panose="020B0604020202020204" pitchFamily="34" charset="0"/>
                <a:ea typeface="Arial" panose="020B0604020202020204" pitchFamily="34" charset="-122"/>
                <a:cs typeface="Arial" panose="020B0604020202020204" pitchFamily="34" charset="-120"/>
              </a:rPr>
              <a:t>冲突处理模块提供冲突列表展示、手动解决界面和解决历史记录查询功能。冲突列表支持筛选和排序，帮助管理员快速定位冲突；手动解决界面允许管理员在三库数据对比的基础上进行冲突处理；解决历史记录查询功能记录冲突处理的详细信息，便于追溯和审计。</a:t>
            </a:r>
            <a:endParaRPr lang="en-US" sz="1600" dirty="0"/>
          </a:p>
        </p:txBody>
      </p:sp>
      <p:sp>
        <p:nvSpPr>
          <p:cNvPr id="30" name="Text 27"/>
          <p:cNvSpPr/>
          <p:nvPr>
            <p:custDataLst>
              <p:tags r:id="rId18"/>
            </p:custDataLst>
          </p:nvPr>
        </p:nvSpPr>
        <p:spPr>
          <a:xfrm>
            <a:off x="6531602" y="3917734"/>
            <a:ext cx="4771483" cy="467006"/>
          </a:xfrm>
          <a:prstGeom prst="rect">
            <a:avLst/>
          </a:prstGeom>
          <a:noFill/>
        </p:spPr>
        <p:txBody>
          <a:bodyPr wrap="square" lIns="0" tIns="0" rIns="0" bIns="0" rtlCol="0" anchor="ctr"/>
          <a:lstStyle/>
          <a:p>
            <a:pPr>
              <a:lnSpc>
                <a:spcPct val="100000"/>
              </a:lnSpc>
            </a:pPr>
            <a:r>
              <a:rPr lang="en-US" sz="3200" b="1" dirty="0">
                <a:solidFill>
                  <a:srgbClr val="B5C7EA"/>
                </a:solidFill>
                <a:latin typeface="Arial" panose="020B0604020202020204" pitchFamily="34" charset="0"/>
                <a:ea typeface="Arial" panose="020B0604020202020204" pitchFamily="34" charset="-122"/>
                <a:cs typeface="Arial" panose="020B0604020202020204" pitchFamily="34" charset="-120"/>
              </a:rPr>
              <a:t>04</a:t>
            </a:r>
            <a:endParaRPr lang="en-US" sz="1600" dirty="0"/>
          </a:p>
        </p:txBody>
      </p:sp>
      <p:sp>
        <p:nvSpPr>
          <p:cNvPr id="31" name="Text 28"/>
          <p:cNvSpPr/>
          <p:nvPr>
            <p:custDataLst>
              <p:tags r:id="rId19"/>
            </p:custDataLst>
          </p:nvPr>
        </p:nvSpPr>
        <p:spPr>
          <a:xfrm>
            <a:off x="6531602" y="4496086"/>
            <a:ext cx="4771750" cy="368962"/>
          </a:xfrm>
          <a:prstGeom prst="rect">
            <a:avLst/>
          </a:prstGeom>
          <a:noFill/>
        </p:spPr>
        <p:txBody>
          <a:bodyPr wrap="square" lIns="0" tIns="0" rIns="0" bIns="0" rtlCol="0" anchor="b"/>
          <a:lstStyle/>
          <a:p>
            <a:pPr>
              <a:lnSpc>
                <a:spcPct val="100000"/>
              </a:lnSpc>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移动端特色功能</a:t>
            </a:r>
            <a:endParaRPr lang="en-US" sz="1600" dirty="0"/>
          </a:p>
        </p:txBody>
      </p:sp>
      <p:sp>
        <p:nvSpPr>
          <p:cNvPr id="32" name="Shape 29"/>
          <p:cNvSpPr/>
          <p:nvPr>
            <p:custDataLst>
              <p:tags r:id="rId20"/>
            </p:custDataLst>
          </p:nvPr>
        </p:nvSpPr>
        <p:spPr>
          <a:xfrm>
            <a:off x="6531602" y="4926192"/>
            <a:ext cx="4771751" cy="1204541"/>
          </a:xfrm>
          <a:prstGeom prst="rect">
            <a:avLst/>
          </a:prstGeom>
          <a:solidFill>
            <a:srgbClr val="000000">
              <a:alpha val="0"/>
            </a:srgbClr>
          </a:solidFill>
        </p:spPr>
      </p:sp>
      <p:sp>
        <p:nvSpPr>
          <p:cNvPr id="33" name="Text 30"/>
          <p:cNvSpPr/>
          <p:nvPr>
            <p:custDataLst>
              <p:tags r:id="rId21"/>
            </p:custDataLst>
          </p:nvPr>
        </p:nvSpPr>
        <p:spPr>
          <a:xfrm>
            <a:off x="6531602" y="4926192"/>
            <a:ext cx="4771751" cy="1204541"/>
          </a:xfrm>
          <a:prstGeom prst="rect">
            <a:avLst/>
          </a:prstGeom>
          <a:noFill/>
        </p:spPr>
        <p:txBody>
          <a:bodyPr wrap="square" lIns="0" tIns="0" rIns="0" bIns="0" rtlCol="0" anchor="t"/>
          <a:lstStyle/>
          <a:p>
            <a:pPr algn="just">
              <a:lnSpc>
                <a:spcPct val="150000"/>
              </a:lnSpc>
            </a:pPr>
            <a:r>
              <a:rPr lang="en-US" sz="1400" dirty="0">
                <a:solidFill>
                  <a:srgbClr val="262626"/>
                </a:solidFill>
                <a:latin typeface="Arial" panose="020B0604020202020204" pitchFamily="34" charset="0"/>
                <a:ea typeface="Arial" panose="020B0604020202020204" pitchFamily="34" charset="-122"/>
                <a:cs typeface="Arial" panose="020B0604020202020204" pitchFamily="34" charset="-120"/>
              </a:rPr>
              <a:t>移动端采用响应式设计，自动适配不同屏幕尺寸。提供关键指标卡片，直观展示总冲突数、未解决冲突数和已解决冲突数等重要信息。同时，通过简洁的图表展示重点数据，如冲突趋势图和数据库性能报告，方便用户随时随地进行决策支持。</a:t>
            </a:r>
            <a:endParaRPr lang="en-US" sz="1600" dirty="0"/>
          </a:p>
        </p:txBody>
      </p:sp>
      <p:grpSp>
        <p:nvGrpSpPr>
          <p:cNvPr id="34" name="组合 33"/>
          <p:cNvGrpSpPr/>
          <p:nvPr/>
        </p:nvGrpSpPr>
        <p:grpSpPr>
          <a:xfrm>
            <a:off x="0" y="331470"/>
            <a:ext cx="6058535" cy="537845"/>
            <a:chOff x="0" y="522"/>
            <a:chExt cx="9541"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36" name="矩形 35"/>
            <p:cNvSpPr/>
            <p:nvPr/>
          </p:nvSpPr>
          <p:spPr>
            <a:xfrm>
              <a:off x="2898" y="547"/>
              <a:ext cx="6643" cy="822"/>
            </a:xfrm>
            <a:prstGeom prst="rect">
              <a:avLst/>
            </a:prstGeom>
          </p:spPr>
          <p:txBody>
            <a:bodyPr wrap="none">
              <a:spAutoFit/>
            </a:bodyPr>
            <a:lstStyle/>
            <a:p>
              <a:pPr algn="l">
                <a:lnSpc>
                  <a:spcPct val="100000"/>
                </a:lnSpc>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sym typeface="+mn-ea"/>
                </a:rPr>
                <a:t>PC与移动双平台功能拆解</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37" name="矩形 36"/>
            <p:cNvSpPr/>
            <p:nvPr/>
          </p:nvSpPr>
          <p:spPr>
            <a:xfrm>
              <a:off x="0" y="522"/>
              <a:ext cx="868"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04</a:t>
              </a:r>
              <a:endParaRPr lang="zh-CN" altLang="en-US" sz="2800" dirty="0">
                <a:solidFill>
                  <a:schemeClr val="bg1"/>
                </a:solidFill>
              </a:endParaRPr>
            </a:p>
          </p:txBody>
        </p:sp>
        <p:pic>
          <p:nvPicPr>
            <p:cNvPr id="38" name="图片 37" descr="微信图片_20200425233959"/>
            <p:cNvPicPr>
              <a:picLocks noChangeAspect="1"/>
            </p:cNvPicPr>
            <p:nvPr/>
          </p:nvPicPr>
          <p:blipFill>
            <a:blip r:embed="rId22">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2019-10-02 175824(1)"/>
          <p:cNvPicPr>
            <a:picLocks noChangeAspect="1"/>
          </p:cNvPicPr>
          <p:nvPr/>
        </p:nvPicPr>
        <p:blipFill>
          <a:blip r:embed="rId1"/>
          <a:srcRect l="3338" r="1766"/>
          <a:stretch>
            <a:fillRect/>
          </a:stretch>
        </p:blipFill>
        <p:spPr>
          <a:xfrm>
            <a:off x="0" y="1769745"/>
            <a:ext cx="5595620" cy="3316605"/>
          </a:xfrm>
          <a:prstGeom prst="rect">
            <a:avLst/>
          </a:prstGeom>
        </p:spPr>
      </p:pic>
      <p:sp>
        <p:nvSpPr>
          <p:cNvPr id="19" name="矩形 18"/>
          <p:cNvSpPr/>
          <p:nvPr/>
        </p:nvSpPr>
        <p:spPr>
          <a:xfrm rot="5400000">
            <a:off x="6116955" y="-436880"/>
            <a:ext cx="2588895" cy="7813040"/>
          </a:xfrm>
          <a:prstGeom prst="rect">
            <a:avLst/>
          </a:prstGeom>
          <a:solidFill>
            <a:srgbClr val="76BCD2">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3819868" y="2733598"/>
            <a:ext cx="1490345" cy="1568450"/>
          </a:xfrm>
          <a:prstGeom prst="rect">
            <a:avLst/>
          </a:prstGeom>
        </p:spPr>
        <p:txBody>
          <a:bodyPr wrap="none">
            <a:spAutoFit/>
          </a:bodyPr>
          <a:lstStyle/>
          <a:p>
            <a:r>
              <a:rPr lang="en-US" altLang="zh-CN" sz="9600" dirty="0">
                <a:solidFill>
                  <a:prstClr val="white"/>
                </a:solidFill>
                <a:latin typeface="Impact" panose="020B0806030902050204" pitchFamily="34" charset="0"/>
                <a:ea typeface="微软雅黑" panose="020B0503020204020204" charset="-122"/>
                <a:cs typeface="Gisha" panose="020B0502040204020203" pitchFamily="34" charset="-79"/>
              </a:rPr>
              <a:t>05</a:t>
            </a:r>
            <a:endParaRPr lang="zh-CN" altLang="en-US" sz="9600" dirty="0">
              <a:solidFill>
                <a:prstClr val="white"/>
              </a:solidFill>
            </a:endParaRPr>
          </a:p>
        </p:txBody>
      </p:sp>
      <p:sp>
        <p:nvSpPr>
          <p:cNvPr id="22" name="矩形 21"/>
          <p:cNvSpPr/>
          <p:nvPr/>
        </p:nvSpPr>
        <p:spPr>
          <a:xfrm>
            <a:off x="6403261" y="2733712"/>
            <a:ext cx="4274439" cy="706755"/>
          </a:xfrm>
          <a:prstGeom prst="rect">
            <a:avLst/>
          </a:prstGeom>
        </p:spPr>
        <p:txBody>
          <a:bodyPr wrap="square">
            <a:spAutoFit/>
          </a:bodyPr>
          <a:lstStyle/>
          <a:p>
            <a:pPr defTabSz="685800">
              <a:defRPr/>
            </a:pP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总</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结</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与</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展</a:t>
            </a:r>
            <a:r>
              <a:rPr lang="en-US" altLang="zh-CN" sz="4000" b="1" dirty="0">
                <a:solidFill>
                  <a:schemeClr val="bg1"/>
                </a:solidFill>
                <a:latin typeface="Arial" panose="020B0604020202020204"/>
                <a:ea typeface="微软雅黑" panose="020B0503020204020204" charset="-122"/>
                <a:cs typeface="Gisha" panose="020B0502040204020203" pitchFamily="34" charset="-79"/>
                <a:sym typeface="+mn-ea"/>
              </a:rPr>
              <a:t> </a:t>
            </a:r>
            <a:r>
              <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rPr>
              <a:t>望</a:t>
            </a:r>
            <a:endParaRPr lang="zh-CN" altLang="en-US" sz="4000" b="1" dirty="0">
              <a:solidFill>
                <a:schemeClr val="bg1"/>
              </a:solidFill>
              <a:latin typeface="Arial" panose="020B0604020202020204"/>
              <a:ea typeface="微软雅黑" panose="020B0503020204020204" charset="-122"/>
              <a:cs typeface="Gisha" panose="020B0502040204020203" pitchFamily="34" charset="-79"/>
              <a:sym typeface="+mn-ea"/>
            </a:endParaRPr>
          </a:p>
        </p:txBody>
      </p:sp>
      <p:grpSp>
        <p:nvGrpSpPr>
          <p:cNvPr id="8" name="组合 7"/>
          <p:cNvGrpSpPr/>
          <p:nvPr/>
        </p:nvGrpSpPr>
        <p:grpSpPr>
          <a:xfrm>
            <a:off x="5691146" y="3339029"/>
            <a:ext cx="4887760" cy="262538"/>
            <a:chOff x="5444484" y="3347558"/>
            <a:chExt cx="4887760" cy="262538"/>
          </a:xfrm>
        </p:grpSpPr>
        <p:sp>
          <p:nvSpPr>
            <p:cNvPr id="9" name="任意多边形 8"/>
            <p:cNvSpPr/>
            <p:nvPr/>
          </p:nvSpPr>
          <p:spPr>
            <a:xfrm flipV="1">
              <a:off x="5545778" y="3347558"/>
              <a:ext cx="4786466" cy="178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5444484" y="3443844"/>
              <a:ext cx="166252" cy="1662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5" name="图片 24"/>
          <p:cNvPicPr>
            <a:picLocks noChangeAspect="1"/>
          </p:cNvPicPr>
          <p:nvPr/>
        </p:nvPicPr>
        <p:blipFill>
          <a:blip r:embed="rId2"/>
          <a:stretch>
            <a:fillRect/>
          </a:stretch>
        </p:blipFill>
        <p:spPr>
          <a:xfrm>
            <a:off x="3048000" y="4131310"/>
            <a:ext cx="9144000" cy="1295400"/>
          </a:xfrm>
          <a:prstGeom prst="rect">
            <a:avLst/>
          </a:prstGeom>
        </p:spPr>
      </p:pic>
    </p:spTree>
    <p:custDataLst>
      <p:tags r:id="rId3"/>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000"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par>
                                <p:cTn id="8" presetID="22" presetClass="entr" presetSubtype="4" fill="hold" grpId="0" nodeType="withEffect">
                                  <p:stCondLst>
                                    <p:cond delay="0"/>
                                  </p:stCondLst>
                                  <p:childTnLst>
                                    <p:set>
                                      <p:cBhvr>
                                        <p:cTn id="9" dur="1000" fill="hold">
                                          <p:stCondLst>
                                            <p:cond delay="0"/>
                                          </p:stCondLst>
                                        </p:cTn>
                                        <p:tgtEl>
                                          <p:spTgt spid="20"/>
                                        </p:tgtEl>
                                        <p:attrNameLst>
                                          <p:attrName>style.visibility</p:attrName>
                                        </p:attrNameLst>
                                      </p:cBhvr>
                                      <p:to>
                                        <p:strVal val="visible"/>
                                      </p:to>
                                    </p:set>
                                    <p:animEffect transition="in" filter="wipe(down)">
                                      <p:cBhvr>
                                        <p:cTn id="10" dur="1000"/>
                                        <p:tgtEl>
                                          <p:spTgt spid="20"/>
                                        </p:tgtEl>
                                      </p:cBhvr>
                                    </p:animEffect>
                                  </p:childTnLst>
                                </p:cTn>
                              </p:par>
                              <p:par>
                                <p:cTn id="11" presetID="22" presetClass="entr" presetSubtype="4" fill="hold" grpId="0" nodeType="withEffect">
                                  <p:stCondLst>
                                    <p:cond delay="0"/>
                                  </p:stCondLst>
                                  <p:childTnLst>
                                    <p:set>
                                      <p:cBhvr>
                                        <p:cTn id="12" dur="1000" fill="hold">
                                          <p:stCondLst>
                                            <p:cond delay="0"/>
                                          </p:stCondLst>
                                        </p:cTn>
                                        <p:tgtEl>
                                          <p:spTgt spid="22"/>
                                        </p:tgtEl>
                                        <p:attrNameLst>
                                          <p:attrName>style.visibility</p:attrName>
                                        </p:attrNameLst>
                                      </p:cBhvr>
                                      <p:to>
                                        <p:strVal val="visible"/>
                                      </p:to>
                                    </p:set>
                                    <p:animEffect transition="in" filter="wipe(down)">
                                      <p:cBhvr>
                                        <p:cTn id="13" dur="1000"/>
                                        <p:tgtEl>
                                          <p:spTgt spid="22"/>
                                        </p:tgtEl>
                                      </p:cBhvr>
                                    </p:animEffect>
                                  </p:childTnLst>
                                </p:cTn>
                              </p:par>
                              <p:par>
                                <p:cTn id="14" presetID="22" presetClass="entr" presetSubtype="4" fill="hold" nodeType="withEffect">
                                  <p:stCondLst>
                                    <p:cond delay="0"/>
                                  </p:stCondLst>
                                  <p:childTnLst>
                                    <p:set>
                                      <p:cBhvr>
                                        <p:cTn id="15" dur="1000" fill="hold">
                                          <p:stCondLst>
                                            <p:cond delay="0"/>
                                          </p:stCondLst>
                                        </p:cTn>
                                        <p:tgtEl>
                                          <p:spTgt spid="8"/>
                                        </p:tgtEl>
                                        <p:attrNameLst>
                                          <p:attrName>style.visibility</p:attrName>
                                        </p:attrNameLst>
                                      </p:cBhvr>
                                      <p:to>
                                        <p:strVal val="visible"/>
                                      </p:to>
                                    </p:set>
                                    <p:animEffect transition="in" filter="wipe(down)">
                                      <p:cBhvr>
                                        <p:cTn id="16" dur="1000"/>
                                        <p:tgtEl>
                                          <p:spTgt spid="8"/>
                                        </p:tgtEl>
                                      </p:cBhvr>
                                    </p:animEffect>
                                  </p:childTnLst>
                                </p:cTn>
                              </p:par>
                              <p:par>
                                <p:cTn id="17" presetID="22" presetClass="entr" presetSubtype="4" fill="hold" nodeType="withEffect">
                                  <p:stCondLst>
                                    <p:cond delay="0"/>
                                  </p:stCondLst>
                                  <p:childTnLst>
                                    <p:set>
                                      <p:cBhvr>
                                        <p:cTn id="18" dur="1000" fill="hold">
                                          <p:stCondLst>
                                            <p:cond delay="0"/>
                                          </p:stCondLst>
                                        </p:cTn>
                                        <p:tgtEl>
                                          <p:spTgt spid="25"/>
                                        </p:tgtEl>
                                        <p:attrNameLst>
                                          <p:attrName>style.visibility</p:attrName>
                                        </p:attrNameLst>
                                      </p:cBhvr>
                                      <p:to>
                                        <p:strVal val="visible"/>
                                      </p:to>
                                    </p:set>
                                    <p:animEffect transition="in" filter="wipe(down)">
                                      <p:cBhvr>
                                        <p:cTn id="19"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20000"/>
          </a:schemeClr>
        </a:solidFill>
        <a:effectLst/>
      </p:bgPr>
    </p:bg>
    <p:spTree>
      <p:nvGrpSpPr>
        <p:cNvPr id="1" name=""/>
        <p:cNvGrpSpPr/>
        <p:nvPr/>
      </p:nvGrpSpPr>
      <p:grpSpPr>
        <a:xfrm>
          <a:off x="0" y="0"/>
          <a:ext cx="0" cy="0"/>
          <a:chOff x="0" y="0"/>
          <a:chExt cx="0" cy="0"/>
        </a:xfrm>
      </p:grpSpPr>
      <p:sp>
        <p:nvSpPr>
          <p:cNvPr id="2" name="Text 0"/>
          <p:cNvSpPr/>
          <p:nvPr/>
        </p:nvSpPr>
        <p:spPr>
          <a:xfrm>
            <a:off x="732790" y="1000125"/>
            <a:ext cx="6780530" cy="622935"/>
          </a:xfrm>
          <a:prstGeom prst="rect">
            <a:avLst/>
          </a:prstGeom>
          <a:noFill/>
        </p:spPr>
        <p:txBody>
          <a:bodyPr wrap="square" lIns="91440" tIns="45720" rIns="91440" bIns="45720" rtlCol="0" anchor="ctr"/>
          <a:lstStyle/>
          <a:p>
            <a:pPr>
              <a:lnSpc>
                <a:spcPct val="100000"/>
              </a:lnSpc>
            </a:pPr>
            <a:endParaRPr lang="en-US" sz="1600" dirty="0"/>
          </a:p>
        </p:txBody>
      </p:sp>
      <p:sp>
        <p:nvSpPr>
          <p:cNvPr id="4" name="Text 2"/>
          <p:cNvSpPr/>
          <p:nvPr/>
        </p:nvSpPr>
        <p:spPr>
          <a:xfrm>
            <a:off x="260985" y="163195"/>
            <a:ext cx="1071245" cy="553720"/>
          </a:xfrm>
          <a:prstGeom prst="rect">
            <a:avLst/>
          </a:prstGeom>
          <a:noFill/>
        </p:spPr>
        <p:txBody>
          <a:bodyPr wrap="square" lIns="45720" tIns="91440" rIns="91440" bIns="45720" rtlCol="0" anchor="ctr"/>
          <a:lstStyle/>
          <a:p>
            <a:pPr>
              <a:lnSpc>
                <a:spcPct val="100000"/>
              </a:lnSpc>
            </a:pPr>
            <a:endParaRPr lang="en-US" sz="1600" dirty="0"/>
          </a:p>
        </p:txBody>
      </p:sp>
      <p:pic>
        <p:nvPicPr>
          <p:cNvPr id="5" name="Image 0" descr="https://kimi-img.moonshot.cn/pub/slides/slides_tmpl/image/25-09-04-14:54:56-d2sjfg61bb2p4onbpvp0.png"/>
          <p:cNvPicPr>
            <a:picLocks noChangeAspect="1"/>
          </p:cNvPicPr>
          <p:nvPr/>
        </p:nvPicPr>
        <p:blipFill>
          <a:blip r:embed="rId1">
            <a:alphaModFix amt="74000"/>
          </a:blip>
          <a:srcRect l="128" t="53877" r="-128" b="-2787"/>
          <a:stretch>
            <a:fillRect/>
          </a:stretch>
        </p:blipFill>
        <p:spPr>
          <a:xfrm>
            <a:off x="5582285" y="20320"/>
            <a:ext cx="6927215" cy="1905635"/>
          </a:xfrm>
          <a:prstGeom prst="rect">
            <a:avLst/>
          </a:prstGeom>
        </p:spPr>
      </p:pic>
      <p:sp>
        <p:nvSpPr>
          <p:cNvPr id="6" name="Shape 3"/>
          <p:cNvSpPr/>
          <p:nvPr/>
        </p:nvSpPr>
        <p:spPr>
          <a:xfrm>
            <a:off x="114858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7" name="Text 4"/>
          <p:cNvSpPr/>
          <p:nvPr/>
        </p:nvSpPr>
        <p:spPr>
          <a:xfrm>
            <a:off x="114858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5"/>
          <p:cNvSpPr/>
          <p:nvPr/>
        </p:nvSpPr>
        <p:spPr>
          <a:xfrm>
            <a:off x="11816080" y="589915"/>
            <a:ext cx="134620" cy="134620"/>
          </a:xfrm>
          <a:prstGeom prst="ellipse">
            <a:avLst/>
          </a:prstGeom>
          <a:solidFill>
            <a:srgbClr val="000000">
              <a:alpha val="0"/>
            </a:srgbClr>
          </a:solidFill>
          <a:ln w="19050">
            <a:gradFill flip="none" rotWithShape="1">
              <a:gsLst>
                <a:gs pos="0">
                  <a:srgbClr val="4874CB"/>
                </a:gs>
                <a:gs pos="100000">
                  <a:srgbClr val="4874CB">
                    <a:alpha val="29000"/>
                  </a:srgbClr>
                </a:gs>
              </a:gsLst>
              <a:lin ang="2700000" scaled="1"/>
            </a:gradFill>
            <a:prstDash val="solid"/>
          </a:ln>
        </p:spPr>
      </p:sp>
      <p:sp>
        <p:nvSpPr>
          <p:cNvPr id="9" name="Text 6"/>
          <p:cNvSpPr/>
          <p:nvPr/>
        </p:nvSpPr>
        <p:spPr>
          <a:xfrm>
            <a:off x="118160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7"/>
          <p:cNvSpPr/>
          <p:nvPr/>
        </p:nvSpPr>
        <p:spPr>
          <a:xfrm>
            <a:off x="116509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1" name="Text 8"/>
          <p:cNvSpPr/>
          <p:nvPr/>
        </p:nvSpPr>
        <p:spPr>
          <a:xfrm>
            <a:off x="116509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9"/>
          <p:cNvSpPr/>
          <p:nvPr>
            <p:custDataLst>
              <p:tags r:id="rId2"/>
            </p:custDataLst>
          </p:nvPr>
        </p:nvSpPr>
        <p:spPr>
          <a:xfrm>
            <a:off x="673735" y="1407160"/>
            <a:ext cx="2693035" cy="4486275"/>
          </a:xfrm>
          <a:prstGeom prst="rect">
            <a:avLst/>
          </a:prstGeom>
          <a:gradFill flip="none" rotWithShape="1">
            <a:gsLst>
              <a:gs pos="0">
                <a:srgbClr val="FFFFFF">
                  <a:alpha val="28000"/>
                </a:srgbClr>
              </a:gs>
              <a:gs pos="14000">
                <a:srgbClr val="FFFFFF">
                  <a:alpha val="28000"/>
                </a:srgbClr>
              </a:gs>
              <a:gs pos="33000">
                <a:srgbClr val="FFFFFF">
                  <a:alpha val="55000"/>
                </a:srgbClr>
              </a:gs>
              <a:gs pos="56000">
                <a:srgbClr val="FFFFFF"/>
              </a:gs>
              <a:gs pos="74000">
                <a:srgbClr val="FFFFFF">
                  <a:alpha val="39000"/>
                </a:srgbClr>
              </a:gs>
              <a:gs pos="91000">
                <a:srgbClr val="FFFFFF">
                  <a:alpha val="44000"/>
                </a:srgbClr>
              </a:gs>
              <a:gs pos="100000">
                <a:srgbClr val="FFFFFF">
                  <a:alpha val="44000"/>
                </a:srgbClr>
              </a:gs>
            </a:gsLst>
            <a:lin ang="16200000" scaled="1"/>
          </a:gradFill>
        </p:spPr>
      </p:sp>
      <p:sp>
        <p:nvSpPr>
          <p:cNvPr id="13" name="Text 10"/>
          <p:cNvSpPr/>
          <p:nvPr/>
        </p:nvSpPr>
        <p:spPr>
          <a:xfrm>
            <a:off x="661035" y="1775460"/>
            <a:ext cx="2693035" cy="4486275"/>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1"/>
          <p:cNvSpPr/>
          <p:nvPr>
            <p:custDataLst>
              <p:tags r:id="rId3"/>
            </p:custDataLst>
          </p:nvPr>
        </p:nvSpPr>
        <p:spPr>
          <a:xfrm>
            <a:off x="3455670" y="1361440"/>
            <a:ext cx="2693035" cy="4531995"/>
          </a:xfrm>
          <a:prstGeom prst="rect">
            <a:avLst/>
          </a:prstGeom>
          <a:gradFill flip="none" rotWithShape="1">
            <a:gsLst>
              <a:gs pos="0">
                <a:srgbClr val="FFFFFF">
                  <a:alpha val="33000"/>
                </a:srgbClr>
              </a:gs>
              <a:gs pos="14000">
                <a:srgbClr val="FFFFFF">
                  <a:alpha val="33000"/>
                </a:srgbClr>
              </a:gs>
              <a:gs pos="33000">
                <a:srgbClr val="FFFFFF">
                  <a:alpha val="54000"/>
                </a:srgbClr>
              </a:gs>
              <a:gs pos="56000">
                <a:srgbClr val="FFFFFF"/>
              </a:gs>
              <a:gs pos="74000">
                <a:srgbClr val="FFFFFF">
                  <a:alpha val="39000"/>
                </a:srgbClr>
              </a:gs>
              <a:gs pos="91000">
                <a:srgbClr val="FFFFFF">
                  <a:alpha val="37000"/>
                </a:srgbClr>
              </a:gs>
              <a:gs pos="100000">
                <a:srgbClr val="FFFFFF">
                  <a:alpha val="37000"/>
                </a:srgbClr>
              </a:gs>
            </a:gsLst>
            <a:lin ang="16200000" scaled="1"/>
          </a:gradFill>
        </p:spPr>
      </p:sp>
      <p:sp>
        <p:nvSpPr>
          <p:cNvPr id="15" name="Text 12"/>
          <p:cNvSpPr/>
          <p:nvPr/>
        </p:nvSpPr>
        <p:spPr>
          <a:xfrm>
            <a:off x="3442970" y="1729740"/>
            <a:ext cx="2693035" cy="4531995"/>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3"/>
          <p:cNvSpPr/>
          <p:nvPr>
            <p:custDataLst>
              <p:tags r:id="rId4"/>
            </p:custDataLst>
          </p:nvPr>
        </p:nvSpPr>
        <p:spPr>
          <a:xfrm>
            <a:off x="6237605" y="1361440"/>
            <a:ext cx="2693035" cy="4531995"/>
          </a:xfrm>
          <a:prstGeom prst="rect">
            <a:avLst/>
          </a:prstGeom>
          <a:gradFill flip="none" rotWithShape="1">
            <a:gsLst>
              <a:gs pos="0">
                <a:srgbClr val="FFFFFF">
                  <a:alpha val="35000"/>
                </a:srgbClr>
              </a:gs>
              <a:gs pos="14000">
                <a:srgbClr val="FFFFFF">
                  <a:alpha val="35000"/>
                </a:srgbClr>
              </a:gs>
              <a:gs pos="33000">
                <a:srgbClr val="FFFFFF">
                  <a:alpha val="54000"/>
                </a:srgbClr>
              </a:gs>
              <a:gs pos="56000">
                <a:srgbClr val="FFFFFF"/>
              </a:gs>
              <a:gs pos="74000">
                <a:srgbClr val="FFFFFF">
                  <a:alpha val="33000"/>
                </a:srgbClr>
              </a:gs>
              <a:gs pos="91000">
                <a:srgbClr val="FFFFFF">
                  <a:alpha val="32000"/>
                </a:srgbClr>
              </a:gs>
              <a:gs pos="100000">
                <a:srgbClr val="FFFFFF">
                  <a:alpha val="32000"/>
                </a:srgbClr>
              </a:gs>
            </a:gsLst>
            <a:lin ang="16200000" scaled="1"/>
          </a:gradFill>
        </p:spPr>
      </p:sp>
      <p:sp>
        <p:nvSpPr>
          <p:cNvPr id="17" name="Text 14"/>
          <p:cNvSpPr/>
          <p:nvPr/>
        </p:nvSpPr>
        <p:spPr>
          <a:xfrm>
            <a:off x="6224905" y="1729740"/>
            <a:ext cx="2693035" cy="4531995"/>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5"/>
          <p:cNvSpPr/>
          <p:nvPr>
            <p:custDataLst>
              <p:tags r:id="rId5"/>
            </p:custDataLst>
          </p:nvPr>
        </p:nvSpPr>
        <p:spPr>
          <a:xfrm>
            <a:off x="9019540" y="1361440"/>
            <a:ext cx="2693035" cy="4531995"/>
          </a:xfrm>
          <a:prstGeom prst="rect">
            <a:avLst/>
          </a:prstGeom>
          <a:gradFill flip="none" rotWithShape="1">
            <a:gsLst>
              <a:gs pos="0">
                <a:srgbClr val="FFFFFF">
                  <a:alpha val="27000"/>
                </a:srgbClr>
              </a:gs>
              <a:gs pos="14000">
                <a:srgbClr val="FFFFFF">
                  <a:alpha val="27000"/>
                </a:srgbClr>
              </a:gs>
              <a:gs pos="33000">
                <a:srgbClr val="FFFFFF">
                  <a:alpha val="51000"/>
                </a:srgbClr>
              </a:gs>
              <a:gs pos="56000">
                <a:srgbClr val="FFFFFF"/>
              </a:gs>
              <a:gs pos="74000">
                <a:srgbClr val="FFFFFF">
                  <a:alpha val="20000"/>
                </a:srgbClr>
              </a:gs>
              <a:gs pos="90000">
                <a:srgbClr val="FFFFFF">
                  <a:alpha val="24000"/>
                </a:srgbClr>
              </a:gs>
              <a:gs pos="100000">
                <a:srgbClr val="FFFFFF">
                  <a:alpha val="24000"/>
                </a:srgbClr>
              </a:gs>
            </a:gsLst>
            <a:lin ang="16200000" scaled="1"/>
          </a:gradFill>
        </p:spPr>
      </p:sp>
      <p:sp>
        <p:nvSpPr>
          <p:cNvPr id="19" name="Text 16"/>
          <p:cNvSpPr/>
          <p:nvPr/>
        </p:nvSpPr>
        <p:spPr>
          <a:xfrm>
            <a:off x="9006840" y="1729740"/>
            <a:ext cx="2693035" cy="4531995"/>
          </a:xfrm>
          <a:prstGeom prst="rect">
            <a:avLst/>
          </a:prstGeom>
          <a:noFill/>
        </p:spPr>
        <p:txBody>
          <a:bodyPr wrap="square" lIns="45720" tIns="91440" rIns="91440" bIns="45720" rtlCol="0" anchor="ctr"/>
          <a:lstStyle/>
          <a:p>
            <a:pPr>
              <a:lnSpc>
                <a:spcPct val="100000"/>
              </a:lnSpc>
            </a:pPr>
            <a:endParaRPr lang="en-US" sz="1600" dirty="0"/>
          </a:p>
        </p:txBody>
      </p:sp>
      <p:pic>
        <p:nvPicPr>
          <p:cNvPr id="20" name="Image 1" descr="https://kimi-img.moonshot.cn/pub/slides/slides_tmpl/image/25-09-04-14:55:09-d2sjfje1bb2p4onbq0a0.png"/>
          <p:cNvPicPr>
            <a:picLocks noChangeAspect="1"/>
          </p:cNvPicPr>
          <p:nvPr>
            <p:custDataLst>
              <p:tags r:id="rId6"/>
            </p:custDataLst>
          </p:nvPr>
        </p:nvPicPr>
        <p:blipFill>
          <a:blip r:embed="rId7"/>
          <a:stretch>
            <a:fillRect/>
          </a:stretch>
        </p:blipFill>
        <p:spPr>
          <a:xfrm>
            <a:off x="786764" y="2634144"/>
            <a:ext cx="11103609" cy="190347"/>
          </a:xfrm>
          <a:prstGeom prst="rect">
            <a:avLst/>
          </a:prstGeom>
        </p:spPr>
      </p:pic>
      <p:sp>
        <p:nvSpPr>
          <p:cNvPr id="21" name="Shape 17"/>
          <p:cNvSpPr/>
          <p:nvPr>
            <p:custDataLst>
              <p:tags r:id="rId8"/>
            </p:custDataLst>
          </p:nvPr>
        </p:nvSpPr>
        <p:spPr>
          <a:xfrm>
            <a:off x="1677035" y="1036955"/>
            <a:ext cx="734060" cy="734060"/>
          </a:xfrm>
          <a:prstGeom prst="ellipse">
            <a:avLst/>
          </a:prstGeom>
          <a:solidFill>
            <a:srgbClr val="87A9FF">
              <a:alpha val="25098"/>
            </a:srgbClr>
          </a:solidFill>
        </p:spPr>
      </p:sp>
      <p:sp>
        <p:nvSpPr>
          <p:cNvPr id="22" name="Text 18"/>
          <p:cNvSpPr/>
          <p:nvPr/>
        </p:nvSpPr>
        <p:spPr>
          <a:xfrm>
            <a:off x="1664335" y="1405255"/>
            <a:ext cx="734060" cy="734060"/>
          </a:xfrm>
          <a:prstGeom prst="rect">
            <a:avLst/>
          </a:prstGeom>
          <a:noFill/>
        </p:spPr>
        <p:txBody>
          <a:bodyPr wrap="square" lIns="45720" tIns="91440" rIns="91440" bIns="45720" rtlCol="0" anchor="ctr"/>
          <a:lstStyle/>
          <a:p>
            <a:pPr>
              <a:lnSpc>
                <a:spcPct val="100000"/>
              </a:lnSpc>
            </a:pPr>
            <a:endParaRPr lang="en-US" sz="1600" dirty="0"/>
          </a:p>
        </p:txBody>
      </p:sp>
      <p:sp>
        <p:nvSpPr>
          <p:cNvPr id="23" name="Shape 19"/>
          <p:cNvSpPr/>
          <p:nvPr>
            <p:custDataLst>
              <p:tags r:id="rId9"/>
            </p:custDataLst>
          </p:nvPr>
        </p:nvSpPr>
        <p:spPr>
          <a:xfrm>
            <a:off x="1778000" y="1137920"/>
            <a:ext cx="532130" cy="532130"/>
          </a:xfrm>
          <a:prstGeom prst="ellipse">
            <a:avLst/>
          </a:prstGeom>
          <a:gradFill flip="none" rotWithShape="1">
            <a:gsLst>
              <a:gs pos="0">
                <a:srgbClr val="87A9FF"/>
              </a:gs>
              <a:gs pos="100000">
                <a:srgbClr val="4874CB">
                  <a:alpha val="91000"/>
                </a:srgbClr>
              </a:gs>
            </a:gsLst>
            <a:lin ang="2700000" scaled="1"/>
          </a:gradFill>
          <a:effectLst>
            <a:outerShdw blurRad="139700" dist="26941" dir="2700000" algn="bl" rotWithShape="0">
              <a:srgbClr val="0041E8">
                <a:alpha val="20000"/>
              </a:srgbClr>
            </a:outerShdw>
          </a:effectLst>
        </p:spPr>
      </p:sp>
      <p:sp>
        <p:nvSpPr>
          <p:cNvPr id="24" name="Text 20"/>
          <p:cNvSpPr/>
          <p:nvPr/>
        </p:nvSpPr>
        <p:spPr>
          <a:xfrm>
            <a:off x="1765300" y="1506220"/>
            <a:ext cx="532130" cy="532130"/>
          </a:xfrm>
          <a:prstGeom prst="rect">
            <a:avLst/>
          </a:prstGeom>
          <a:noFill/>
        </p:spPr>
        <p:txBody>
          <a:bodyPr wrap="square" lIns="45720" tIns="91440" rIns="91440" bIns="45720" rtlCol="0" anchor="ctr"/>
          <a:lstStyle/>
          <a:p>
            <a:pPr>
              <a:lnSpc>
                <a:spcPct val="100000"/>
              </a:lnSpc>
            </a:pPr>
            <a:endParaRPr lang="en-US" sz="1600" dirty="0"/>
          </a:p>
        </p:txBody>
      </p:sp>
      <p:sp>
        <p:nvSpPr>
          <p:cNvPr id="25" name="Text 21"/>
          <p:cNvSpPr/>
          <p:nvPr>
            <p:custDataLst>
              <p:tags r:id="rId10"/>
            </p:custDataLst>
          </p:nvPr>
        </p:nvSpPr>
        <p:spPr>
          <a:xfrm>
            <a:off x="1666875" y="1235075"/>
            <a:ext cx="762000" cy="337185"/>
          </a:xfrm>
          <a:prstGeom prst="rect">
            <a:avLst/>
          </a:prstGeom>
          <a:noFill/>
        </p:spPr>
        <p:txBody>
          <a:bodyPr wrap="square" lIns="91440" tIns="45720" rIns="91440" bIns="45720" rtlCol="0" anchor="t">
            <a:spAutoFit/>
          </a:bodyP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1600" dirty="0"/>
          </a:p>
        </p:txBody>
      </p:sp>
      <p:sp>
        <p:nvSpPr>
          <p:cNvPr id="26" name="Shape 22"/>
          <p:cNvSpPr/>
          <p:nvPr>
            <p:custDataLst>
              <p:tags r:id="rId11"/>
            </p:custDataLst>
          </p:nvPr>
        </p:nvSpPr>
        <p:spPr>
          <a:xfrm>
            <a:off x="4418965" y="1045210"/>
            <a:ext cx="734060" cy="734060"/>
          </a:xfrm>
          <a:prstGeom prst="ellipse">
            <a:avLst/>
          </a:prstGeom>
          <a:solidFill>
            <a:srgbClr val="87A9FF">
              <a:alpha val="25098"/>
            </a:srgbClr>
          </a:solidFill>
        </p:spPr>
      </p:sp>
      <p:sp>
        <p:nvSpPr>
          <p:cNvPr id="27" name="Text 23"/>
          <p:cNvSpPr/>
          <p:nvPr/>
        </p:nvSpPr>
        <p:spPr>
          <a:xfrm>
            <a:off x="4406265" y="1413510"/>
            <a:ext cx="734060" cy="734060"/>
          </a:xfrm>
          <a:prstGeom prst="rect">
            <a:avLst/>
          </a:prstGeom>
          <a:noFill/>
        </p:spPr>
        <p:txBody>
          <a:bodyPr wrap="square" lIns="45720" tIns="91440" rIns="91440" bIns="45720" rtlCol="0" anchor="ctr"/>
          <a:lstStyle/>
          <a:p>
            <a:pPr>
              <a:lnSpc>
                <a:spcPct val="100000"/>
              </a:lnSpc>
            </a:pPr>
            <a:endParaRPr lang="en-US" sz="1600" dirty="0"/>
          </a:p>
        </p:txBody>
      </p:sp>
      <p:sp>
        <p:nvSpPr>
          <p:cNvPr id="28" name="Shape 24"/>
          <p:cNvSpPr/>
          <p:nvPr>
            <p:custDataLst>
              <p:tags r:id="rId12"/>
            </p:custDataLst>
          </p:nvPr>
        </p:nvSpPr>
        <p:spPr>
          <a:xfrm>
            <a:off x="4519930" y="1146175"/>
            <a:ext cx="532130" cy="532130"/>
          </a:xfrm>
          <a:prstGeom prst="ellipse">
            <a:avLst/>
          </a:prstGeom>
          <a:gradFill flip="none" rotWithShape="1">
            <a:gsLst>
              <a:gs pos="0">
                <a:srgbClr val="87A9FF"/>
              </a:gs>
              <a:gs pos="100000">
                <a:srgbClr val="4874CB">
                  <a:alpha val="91000"/>
                </a:srgbClr>
              </a:gs>
            </a:gsLst>
            <a:lin ang="2700000" scaled="1"/>
          </a:gradFill>
          <a:effectLst>
            <a:outerShdw blurRad="139700" dist="26941" dir="2700000" algn="bl" rotWithShape="0">
              <a:srgbClr val="0041E8">
                <a:alpha val="20000"/>
              </a:srgbClr>
            </a:outerShdw>
          </a:effectLst>
        </p:spPr>
      </p:sp>
      <p:sp>
        <p:nvSpPr>
          <p:cNvPr id="29" name="Text 25"/>
          <p:cNvSpPr/>
          <p:nvPr/>
        </p:nvSpPr>
        <p:spPr>
          <a:xfrm>
            <a:off x="4507230" y="1514475"/>
            <a:ext cx="532130" cy="532130"/>
          </a:xfrm>
          <a:prstGeom prst="rect">
            <a:avLst/>
          </a:prstGeom>
          <a:noFill/>
        </p:spPr>
        <p:txBody>
          <a:bodyPr wrap="square" lIns="45720" tIns="91440" rIns="91440" bIns="45720" rtlCol="0" anchor="ctr"/>
          <a:lstStyle/>
          <a:p>
            <a:pPr>
              <a:lnSpc>
                <a:spcPct val="100000"/>
              </a:lnSpc>
            </a:pPr>
            <a:endParaRPr lang="en-US" sz="1600" dirty="0"/>
          </a:p>
        </p:txBody>
      </p:sp>
      <p:sp>
        <p:nvSpPr>
          <p:cNvPr id="30" name="Text 26"/>
          <p:cNvSpPr/>
          <p:nvPr>
            <p:custDataLst>
              <p:tags r:id="rId13"/>
            </p:custDataLst>
          </p:nvPr>
        </p:nvSpPr>
        <p:spPr>
          <a:xfrm>
            <a:off x="4408805" y="1243330"/>
            <a:ext cx="762000" cy="337185"/>
          </a:xfrm>
          <a:prstGeom prst="rect">
            <a:avLst/>
          </a:prstGeom>
          <a:noFill/>
        </p:spPr>
        <p:txBody>
          <a:bodyPr wrap="square" lIns="91440" tIns="45720" rIns="91440" bIns="45720" rtlCol="0" anchor="t">
            <a:spAutoFit/>
          </a:bodyP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1600" dirty="0"/>
          </a:p>
        </p:txBody>
      </p:sp>
      <p:sp>
        <p:nvSpPr>
          <p:cNvPr id="31" name="Shape 27"/>
          <p:cNvSpPr/>
          <p:nvPr>
            <p:custDataLst>
              <p:tags r:id="rId14"/>
            </p:custDataLst>
          </p:nvPr>
        </p:nvSpPr>
        <p:spPr>
          <a:xfrm>
            <a:off x="7212965" y="1045210"/>
            <a:ext cx="734060" cy="734060"/>
          </a:xfrm>
          <a:prstGeom prst="ellipse">
            <a:avLst/>
          </a:prstGeom>
          <a:solidFill>
            <a:srgbClr val="87A9FF">
              <a:alpha val="25098"/>
            </a:srgbClr>
          </a:solidFill>
        </p:spPr>
      </p:sp>
      <p:sp>
        <p:nvSpPr>
          <p:cNvPr id="32" name="Text 28"/>
          <p:cNvSpPr/>
          <p:nvPr/>
        </p:nvSpPr>
        <p:spPr>
          <a:xfrm>
            <a:off x="7200265" y="1413510"/>
            <a:ext cx="734060" cy="734060"/>
          </a:xfrm>
          <a:prstGeom prst="rect">
            <a:avLst/>
          </a:prstGeom>
          <a:noFill/>
        </p:spPr>
        <p:txBody>
          <a:bodyPr wrap="square" lIns="45720" tIns="91440" rIns="91440" bIns="45720" rtlCol="0" anchor="ctr"/>
          <a:lstStyle/>
          <a:p>
            <a:pPr>
              <a:lnSpc>
                <a:spcPct val="100000"/>
              </a:lnSpc>
            </a:pPr>
            <a:endParaRPr lang="en-US" sz="1600" dirty="0"/>
          </a:p>
        </p:txBody>
      </p:sp>
      <p:sp>
        <p:nvSpPr>
          <p:cNvPr id="33" name="Shape 29"/>
          <p:cNvSpPr/>
          <p:nvPr>
            <p:custDataLst>
              <p:tags r:id="rId15"/>
            </p:custDataLst>
          </p:nvPr>
        </p:nvSpPr>
        <p:spPr>
          <a:xfrm>
            <a:off x="7313930" y="1146175"/>
            <a:ext cx="532130" cy="532130"/>
          </a:xfrm>
          <a:prstGeom prst="ellipse">
            <a:avLst/>
          </a:prstGeom>
          <a:gradFill flip="none" rotWithShape="1">
            <a:gsLst>
              <a:gs pos="0">
                <a:srgbClr val="87A9FF"/>
              </a:gs>
              <a:gs pos="100000">
                <a:srgbClr val="4874CB">
                  <a:alpha val="91000"/>
                </a:srgbClr>
              </a:gs>
            </a:gsLst>
            <a:lin ang="2700000" scaled="1"/>
          </a:gradFill>
          <a:effectLst>
            <a:outerShdw blurRad="139700" dist="26941" dir="2700000" algn="bl" rotWithShape="0">
              <a:srgbClr val="0041E8">
                <a:alpha val="20000"/>
              </a:srgbClr>
            </a:outerShdw>
          </a:effectLst>
        </p:spPr>
      </p:sp>
      <p:sp>
        <p:nvSpPr>
          <p:cNvPr id="34" name="Text 30"/>
          <p:cNvSpPr/>
          <p:nvPr/>
        </p:nvSpPr>
        <p:spPr>
          <a:xfrm>
            <a:off x="7301230" y="1514475"/>
            <a:ext cx="532130" cy="532130"/>
          </a:xfrm>
          <a:prstGeom prst="rect">
            <a:avLst/>
          </a:prstGeom>
          <a:noFill/>
        </p:spPr>
        <p:txBody>
          <a:bodyPr wrap="square" lIns="45720" tIns="91440" rIns="91440" bIns="45720" rtlCol="0" anchor="ctr"/>
          <a:lstStyle/>
          <a:p>
            <a:pPr>
              <a:lnSpc>
                <a:spcPct val="100000"/>
              </a:lnSpc>
            </a:pPr>
            <a:endParaRPr lang="en-US" sz="1600" dirty="0"/>
          </a:p>
        </p:txBody>
      </p:sp>
      <p:sp>
        <p:nvSpPr>
          <p:cNvPr id="35" name="Text 31"/>
          <p:cNvSpPr/>
          <p:nvPr>
            <p:custDataLst>
              <p:tags r:id="rId16"/>
            </p:custDataLst>
          </p:nvPr>
        </p:nvSpPr>
        <p:spPr>
          <a:xfrm>
            <a:off x="7202805" y="1243330"/>
            <a:ext cx="762000" cy="337185"/>
          </a:xfrm>
          <a:prstGeom prst="rect">
            <a:avLst/>
          </a:prstGeom>
          <a:noFill/>
        </p:spPr>
        <p:txBody>
          <a:bodyPr wrap="square" lIns="91440" tIns="45720" rIns="91440" bIns="45720" rtlCol="0" anchor="t">
            <a:spAutoFit/>
          </a:bodyP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1600" dirty="0"/>
          </a:p>
        </p:txBody>
      </p:sp>
      <p:sp>
        <p:nvSpPr>
          <p:cNvPr id="36" name="Shape 32"/>
          <p:cNvSpPr/>
          <p:nvPr>
            <p:custDataLst>
              <p:tags r:id="rId17"/>
            </p:custDataLst>
          </p:nvPr>
        </p:nvSpPr>
        <p:spPr>
          <a:xfrm>
            <a:off x="10006965" y="1056640"/>
            <a:ext cx="734060" cy="734060"/>
          </a:xfrm>
          <a:prstGeom prst="ellipse">
            <a:avLst/>
          </a:prstGeom>
          <a:solidFill>
            <a:srgbClr val="87A9FF">
              <a:alpha val="25098"/>
            </a:srgbClr>
          </a:solidFill>
        </p:spPr>
      </p:sp>
      <p:sp>
        <p:nvSpPr>
          <p:cNvPr id="37" name="Text 33"/>
          <p:cNvSpPr/>
          <p:nvPr/>
        </p:nvSpPr>
        <p:spPr>
          <a:xfrm>
            <a:off x="9994265" y="1424940"/>
            <a:ext cx="734060" cy="734060"/>
          </a:xfrm>
          <a:prstGeom prst="rect">
            <a:avLst/>
          </a:prstGeom>
          <a:noFill/>
        </p:spPr>
        <p:txBody>
          <a:bodyPr wrap="square" lIns="45720" tIns="91440" rIns="91440" bIns="45720" rtlCol="0" anchor="ctr"/>
          <a:lstStyle/>
          <a:p>
            <a:pPr>
              <a:lnSpc>
                <a:spcPct val="100000"/>
              </a:lnSpc>
            </a:pPr>
            <a:endParaRPr lang="en-US" sz="1600" dirty="0"/>
          </a:p>
        </p:txBody>
      </p:sp>
      <p:sp>
        <p:nvSpPr>
          <p:cNvPr id="38" name="Shape 34"/>
          <p:cNvSpPr/>
          <p:nvPr>
            <p:custDataLst>
              <p:tags r:id="rId18"/>
            </p:custDataLst>
          </p:nvPr>
        </p:nvSpPr>
        <p:spPr>
          <a:xfrm>
            <a:off x="10107930" y="1157605"/>
            <a:ext cx="532130" cy="532130"/>
          </a:xfrm>
          <a:prstGeom prst="ellipse">
            <a:avLst/>
          </a:prstGeom>
          <a:gradFill flip="none" rotWithShape="1">
            <a:gsLst>
              <a:gs pos="0">
                <a:srgbClr val="87A9FF"/>
              </a:gs>
              <a:gs pos="100000">
                <a:srgbClr val="4874CB">
                  <a:alpha val="91000"/>
                </a:srgbClr>
              </a:gs>
            </a:gsLst>
            <a:lin ang="2700000" scaled="1"/>
          </a:gradFill>
          <a:effectLst>
            <a:outerShdw blurRad="139700" dist="26941" dir="2700000" algn="bl" rotWithShape="0">
              <a:srgbClr val="0041E8">
                <a:alpha val="20000"/>
              </a:srgbClr>
            </a:outerShdw>
          </a:effectLst>
        </p:spPr>
      </p:sp>
      <p:sp>
        <p:nvSpPr>
          <p:cNvPr id="39" name="Text 35"/>
          <p:cNvSpPr/>
          <p:nvPr/>
        </p:nvSpPr>
        <p:spPr>
          <a:xfrm>
            <a:off x="10095230" y="1525905"/>
            <a:ext cx="532130" cy="532130"/>
          </a:xfrm>
          <a:prstGeom prst="rect">
            <a:avLst/>
          </a:prstGeom>
          <a:noFill/>
        </p:spPr>
        <p:txBody>
          <a:bodyPr wrap="square" lIns="45720" tIns="91440" rIns="91440" bIns="45720" rtlCol="0" anchor="ctr"/>
          <a:lstStyle/>
          <a:p>
            <a:pPr>
              <a:lnSpc>
                <a:spcPct val="100000"/>
              </a:lnSpc>
            </a:pPr>
            <a:endParaRPr lang="en-US" sz="1600" dirty="0"/>
          </a:p>
        </p:txBody>
      </p:sp>
      <p:sp>
        <p:nvSpPr>
          <p:cNvPr id="40" name="Text 36"/>
          <p:cNvSpPr/>
          <p:nvPr>
            <p:custDataLst>
              <p:tags r:id="rId19"/>
            </p:custDataLst>
          </p:nvPr>
        </p:nvSpPr>
        <p:spPr>
          <a:xfrm>
            <a:off x="9996805" y="1254760"/>
            <a:ext cx="762000" cy="337185"/>
          </a:xfrm>
          <a:prstGeom prst="rect">
            <a:avLst/>
          </a:prstGeom>
          <a:noFill/>
        </p:spPr>
        <p:txBody>
          <a:bodyPr wrap="square" lIns="91440" tIns="45720" rIns="91440" bIns="45720" rtlCol="0" anchor="t">
            <a:spAutoFit/>
          </a:bodyPr>
          <a:lstStyle/>
          <a:p>
            <a:pPr algn="ctr">
              <a:lnSpc>
                <a:spcPct val="100000"/>
              </a:lnSpc>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04</a:t>
            </a:r>
            <a:endParaRPr lang="en-US" sz="1600" dirty="0"/>
          </a:p>
        </p:txBody>
      </p:sp>
      <p:sp>
        <p:nvSpPr>
          <p:cNvPr id="41" name="Shape 37"/>
          <p:cNvSpPr/>
          <p:nvPr>
            <p:custDataLst>
              <p:tags r:id="rId20"/>
            </p:custDataLst>
          </p:nvPr>
        </p:nvSpPr>
        <p:spPr>
          <a:xfrm>
            <a:off x="1920875" y="2597785"/>
            <a:ext cx="198755" cy="198755"/>
          </a:xfrm>
          <a:prstGeom prst="ellipse">
            <a:avLst/>
          </a:prstGeom>
          <a:solidFill>
            <a:srgbClr val="5A7DD4"/>
          </a:solidFill>
          <a:ln w="28575">
            <a:solidFill>
              <a:srgbClr val="FFFFFF"/>
            </a:solidFill>
            <a:prstDash val="solid"/>
          </a:ln>
        </p:spPr>
      </p:sp>
      <p:sp>
        <p:nvSpPr>
          <p:cNvPr id="42" name="Text 38"/>
          <p:cNvSpPr/>
          <p:nvPr/>
        </p:nvSpPr>
        <p:spPr>
          <a:xfrm>
            <a:off x="1908175" y="2966085"/>
            <a:ext cx="198755" cy="198755"/>
          </a:xfrm>
          <a:prstGeom prst="rect">
            <a:avLst/>
          </a:prstGeom>
          <a:noFill/>
        </p:spPr>
        <p:txBody>
          <a:bodyPr wrap="square" lIns="45720" tIns="91440" rIns="91440" bIns="45720" rtlCol="0" anchor="ctr"/>
          <a:lstStyle/>
          <a:p>
            <a:pPr>
              <a:lnSpc>
                <a:spcPct val="100000"/>
              </a:lnSpc>
            </a:pPr>
            <a:endParaRPr lang="en-US" sz="1600" dirty="0"/>
          </a:p>
        </p:txBody>
      </p:sp>
      <p:sp>
        <p:nvSpPr>
          <p:cNvPr id="43" name="Shape 39"/>
          <p:cNvSpPr/>
          <p:nvPr>
            <p:custDataLst>
              <p:tags r:id="rId21"/>
            </p:custDataLst>
          </p:nvPr>
        </p:nvSpPr>
        <p:spPr>
          <a:xfrm>
            <a:off x="4702810" y="2597785"/>
            <a:ext cx="198755" cy="198755"/>
          </a:xfrm>
          <a:prstGeom prst="ellipse">
            <a:avLst/>
          </a:prstGeom>
          <a:solidFill>
            <a:srgbClr val="5A7DD4"/>
          </a:solidFill>
          <a:ln w="28575">
            <a:solidFill>
              <a:srgbClr val="FFFFFF"/>
            </a:solidFill>
            <a:prstDash val="solid"/>
          </a:ln>
        </p:spPr>
      </p:sp>
      <p:sp>
        <p:nvSpPr>
          <p:cNvPr id="44" name="Text 40"/>
          <p:cNvSpPr/>
          <p:nvPr/>
        </p:nvSpPr>
        <p:spPr>
          <a:xfrm>
            <a:off x="4690110" y="2966085"/>
            <a:ext cx="198755" cy="198755"/>
          </a:xfrm>
          <a:prstGeom prst="rect">
            <a:avLst/>
          </a:prstGeom>
          <a:noFill/>
        </p:spPr>
        <p:txBody>
          <a:bodyPr wrap="square" lIns="45720" tIns="91440" rIns="91440" bIns="45720" rtlCol="0" anchor="ctr"/>
          <a:lstStyle/>
          <a:p>
            <a:pPr>
              <a:lnSpc>
                <a:spcPct val="100000"/>
              </a:lnSpc>
            </a:pPr>
            <a:endParaRPr lang="en-US" sz="1600" dirty="0"/>
          </a:p>
        </p:txBody>
      </p:sp>
      <p:sp>
        <p:nvSpPr>
          <p:cNvPr id="45" name="Shape 41"/>
          <p:cNvSpPr/>
          <p:nvPr>
            <p:custDataLst>
              <p:tags r:id="rId22"/>
            </p:custDataLst>
          </p:nvPr>
        </p:nvSpPr>
        <p:spPr>
          <a:xfrm>
            <a:off x="7484745" y="2604770"/>
            <a:ext cx="198755" cy="198755"/>
          </a:xfrm>
          <a:prstGeom prst="ellipse">
            <a:avLst/>
          </a:prstGeom>
          <a:solidFill>
            <a:srgbClr val="5A7DD4"/>
          </a:solidFill>
          <a:ln w="28575">
            <a:solidFill>
              <a:srgbClr val="FFFFFF"/>
            </a:solidFill>
            <a:prstDash val="solid"/>
          </a:ln>
        </p:spPr>
      </p:sp>
      <p:sp>
        <p:nvSpPr>
          <p:cNvPr id="46" name="Text 42"/>
          <p:cNvSpPr/>
          <p:nvPr/>
        </p:nvSpPr>
        <p:spPr>
          <a:xfrm>
            <a:off x="7472045" y="2973070"/>
            <a:ext cx="198755" cy="198755"/>
          </a:xfrm>
          <a:prstGeom prst="rect">
            <a:avLst/>
          </a:prstGeom>
          <a:noFill/>
        </p:spPr>
        <p:txBody>
          <a:bodyPr wrap="square" lIns="45720" tIns="91440" rIns="91440" bIns="45720" rtlCol="0" anchor="ctr"/>
          <a:lstStyle/>
          <a:p>
            <a:pPr>
              <a:lnSpc>
                <a:spcPct val="100000"/>
              </a:lnSpc>
            </a:pPr>
            <a:endParaRPr lang="en-US" sz="1600" dirty="0"/>
          </a:p>
        </p:txBody>
      </p:sp>
      <p:sp>
        <p:nvSpPr>
          <p:cNvPr id="47" name="Shape 43"/>
          <p:cNvSpPr/>
          <p:nvPr>
            <p:custDataLst>
              <p:tags r:id="rId23"/>
            </p:custDataLst>
          </p:nvPr>
        </p:nvSpPr>
        <p:spPr>
          <a:xfrm>
            <a:off x="10326370" y="2605405"/>
            <a:ext cx="198755" cy="198755"/>
          </a:xfrm>
          <a:prstGeom prst="ellipse">
            <a:avLst/>
          </a:prstGeom>
          <a:solidFill>
            <a:srgbClr val="5A7DD4"/>
          </a:solidFill>
          <a:ln w="28575">
            <a:solidFill>
              <a:srgbClr val="FFFFFF"/>
            </a:solidFill>
            <a:prstDash val="solid"/>
          </a:ln>
        </p:spPr>
      </p:sp>
      <p:sp>
        <p:nvSpPr>
          <p:cNvPr id="48" name="Text 44"/>
          <p:cNvSpPr/>
          <p:nvPr/>
        </p:nvSpPr>
        <p:spPr>
          <a:xfrm>
            <a:off x="10313670" y="2973705"/>
            <a:ext cx="198755" cy="198755"/>
          </a:xfrm>
          <a:prstGeom prst="rect">
            <a:avLst/>
          </a:prstGeom>
          <a:noFill/>
        </p:spPr>
        <p:txBody>
          <a:bodyPr wrap="square" lIns="45720" tIns="91440" rIns="91440" bIns="45720" rtlCol="0" anchor="ctr"/>
          <a:lstStyle/>
          <a:p>
            <a:pPr>
              <a:lnSpc>
                <a:spcPct val="100000"/>
              </a:lnSpc>
            </a:pPr>
            <a:endParaRPr lang="en-US" sz="1600" dirty="0"/>
          </a:p>
        </p:txBody>
      </p:sp>
      <p:sp>
        <p:nvSpPr>
          <p:cNvPr id="49" name="Text 45"/>
          <p:cNvSpPr/>
          <p:nvPr>
            <p:custDataLst>
              <p:tags r:id="rId24"/>
            </p:custDataLst>
          </p:nvPr>
        </p:nvSpPr>
        <p:spPr>
          <a:xfrm>
            <a:off x="1099820" y="5738495"/>
            <a:ext cx="1841500" cy="440055"/>
          </a:xfrm>
          <a:prstGeom prst="rect">
            <a:avLst/>
          </a:prstGeom>
          <a:noFill/>
        </p:spPr>
        <p:txBody>
          <a:bodyPr wrap="square" lIns="0" tIns="0" rIns="0" bIns="0" rtlCol="0" anchor="ctr"/>
          <a:lstStyle/>
          <a:p>
            <a:pPr algn="ctr">
              <a:lnSpc>
                <a:spcPct val="100000"/>
              </a:lnSpc>
            </a:pPr>
            <a:r>
              <a:rPr lang="en-US" sz="1400" b="1" dirty="0">
                <a:solidFill>
                  <a:srgbClr val="4874CB"/>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50" name="Text 46"/>
          <p:cNvSpPr/>
          <p:nvPr>
            <p:custDataLst>
              <p:tags r:id="rId25"/>
            </p:custDataLst>
          </p:nvPr>
        </p:nvSpPr>
        <p:spPr>
          <a:xfrm>
            <a:off x="3916680" y="5738495"/>
            <a:ext cx="1841500" cy="440055"/>
          </a:xfrm>
          <a:prstGeom prst="rect">
            <a:avLst/>
          </a:prstGeom>
          <a:noFill/>
        </p:spPr>
        <p:txBody>
          <a:bodyPr wrap="square" lIns="0" tIns="0" rIns="0" bIns="0" rtlCol="0" anchor="ctr"/>
          <a:lstStyle/>
          <a:p>
            <a:pPr algn="ctr">
              <a:lnSpc>
                <a:spcPct val="100000"/>
              </a:lnSpc>
            </a:pPr>
            <a:r>
              <a:rPr lang="en-US" sz="1400" b="1" dirty="0">
                <a:solidFill>
                  <a:srgbClr val="4874CB"/>
                </a:soli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
        <p:nvSpPr>
          <p:cNvPr id="51" name="Text 47"/>
          <p:cNvSpPr/>
          <p:nvPr>
            <p:custDataLst>
              <p:tags r:id="rId26"/>
            </p:custDataLst>
          </p:nvPr>
        </p:nvSpPr>
        <p:spPr>
          <a:xfrm>
            <a:off x="6663690" y="5738495"/>
            <a:ext cx="1841500" cy="440055"/>
          </a:xfrm>
          <a:prstGeom prst="rect">
            <a:avLst/>
          </a:prstGeom>
          <a:noFill/>
        </p:spPr>
        <p:txBody>
          <a:bodyPr wrap="square" lIns="0" tIns="0" rIns="0" bIns="0" rtlCol="0" anchor="ctr"/>
          <a:lstStyle/>
          <a:p>
            <a:pPr algn="ctr">
              <a:lnSpc>
                <a:spcPct val="100000"/>
              </a:lnSpc>
            </a:pPr>
            <a:r>
              <a:rPr lang="en-US" sz="1400" b="1" dirty="0">
                <a:solidFill>
                  <a:srgbClr val="4874CB"/>
                </a:solidFill>
                <a:latin typeface="MiSans" panose="00000500000000000000" pitchFamily="34" charset="-122"/>
                <a:ea typeface="MiSans" panose="00000500000000000000" pitchFamily="34" charset="-122"/>
                <a:cs typeface="MiSans" panose="00000500000000000000" pitchFamily="34" charset="-120"/>
              </a:rPr>
              <a:t>--03--</a:t>
            </a:r>
            <a:endParaRPr lang="en-US" sz="1600" dirty="0"/>
          </a:p>
        </p:txBody>
      </p:sp>
      <p:sp>
        <p:nvSpPr>
          <p:cNvPr id="52" name="Text 48"/>
          <p:cNvSpPr/>
          <p:nvPr>
            <p:custDataLst>
              <p:tags r:id="rId27"/>
            </p:custDataLst>
          </p:nvPr>
        </p:nvSpPr>
        <p:spPr>
          <a:xfrm>
            <a:off x="9457055" y="5821680"/>
            <a:ext cx="1841500" cy="440055"/>
          </a:xfrm>
          <a:prstGeom prst="rect">
            <a:avLst/>
          </a:prstGeom>
          <a:noFill/>
        </p:spPr>
        <p:txBody>
          <a:bodyPr wrap="square" lIns="0" tIns="0" rIns="0" bIns="0" rtlCol="0" anchor="ctr"/>
          <a:lstStyle/>
          <a:p>
            <a:pPr algn="ctr">
              <a:lnSpc>
                <a:spcPct val="100000"/>
              </a:lnSpc>
            </a:pPr>
            <a:r>
              <a:rPr lang="en-US" sz="1400" b="1" dirty="0">
                <a:solidFill>
                  <a:srgbClr val="4874CB"/>
                </a:solidFill>
                <a:latin typeface="MiSans" panose="00000500000000000000" pitchFamily="34" charset="-122"/>
                <a:ea typeface="MiSans" panose="00000500000000000000" pitchFamily="34" charset="-122"/>
                <a:cs typeface="MiSans" panose="00000500000000000000" pitchFamily="34" charset="-120"/>
              </a:rPr>
              <a:t>--04--</a:t>
            </a:r>
            <a:endParaRPr lang="en-US" sz="1600" dirty="0"/>
          </a:p>
        </p:txBody>
      </p:sp>
      <p:sp>
        <p:nvSpPr>
          <p:cNvPr id="53" name="Text 49"/>
          <p:cNvSpPr/>
          <p:nvPr>
            <p:custDataLst>
              <p:tags r:id="rId28"/>
            </p:custDataLst>
          </p:nvPr>
        </p:nvSpPr>
        <p:spPr>
          <a:xfrm>
            <a:off x="1127125" y="1995170"/>
            <a:ext cx="1841500" cy="440055"/>
          </a:xfrm>
          <a:prstGeom prst="rect">
            <a:avLst/>
          </a:prstGeom>
          <a:noFill/>
        </p:spPr>
        <p:txBody>
          <a:bodyPr wrap="square" lIns="0" tIns="0" rIns="0" bIns="0" rtlCol="0" anchor="ctr"/>
          <a:lstStyle/>
          <a:p>
            <a:pPr algn="ctr">
              <a:lnSpc>
                <a:spcPct val="100000"/>
              </a:lnSpc>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多数据库语法差异</a:t>
            </a:r>
            <a:endParaRPr lang="en-US" sz="1600" dirty="0"/>
          </a:p>
        </p:txBody>
      </p:sp>
      <p:sp>
        <p:nvSpPr>
          <p:cNvPr id="54" name="Text 50"/>
          <p:cNvSpPr/>
          <p:nvPr>
            <p:custDataLst>
              <p:tags r:id="rId29"/>
            </p:custDataLst>
          </p:nvPr>
        </p:nvSpPr>
        <p:spPr>
          <a:xfrm>
            <a:off x="880110" y="2926080"/>
            <a:ext cx="2280285" cy="2590165"/>
          </a:xfrm>
          <a:prstGeom prst="rect">
            <a:avLst/>
          </a:prstGeom>
          <a:noFill/>
        </p:spPr>
        <p:txBody>
          <a:bodyPr wrap="square" lIns="0" tIns="0" rIns="0" bIns="0" rtlCol="0" anchor="t"/>
          <a:lstStyle/>
          <a:p>
            <a:pPr algn="ct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面对多数据库之间的语法差异，我们设计了数据库方言适配层。通过统一SQL模板抽象，使用JPA屏蔽底层数据库的差异，并为关键操作提供数据库专属实现，确保系统在不同数据库环境下都能稳定运行，避免因语法差异导致的问题。</a:t>
            </a:r>
            <a:endParaRPr lang="en-US" sz="1600" dirty="0"/>
          </a:p>
        </p:txBody>
      </p:sp>
      <p:sp>
        <p:nvSpPr>
          <p:cNvPr id="55" name="Text 51"/>
          <p:cNvSpPr/>
          <p:nvPr>
            <p:custDataLst>
              <p:tags r:id="rId30"/>
            </p:custDataLst>
          </p:nvPr>
        </p:nvSpPr>
        <p:spPr>
          <a:xfrm>
            <a:off x="3865245" y="1987550"/>
            <a:ext cx="1841500" cy="440055"/>
          </a:xfrm>
          <a:prstGeom prst="rect">
            <a:avLst/>
          </a:prstGeom>
          <a:noFill/>
        </p:spPr>
        <p:txBody>
          <a:bodyPr wrap="square" lIns="0" tIns="0" rIns="0" bIns="0" rtlCol="0" anchor="ctr"/>
          <a:lstStyle/>
          <a:p>
            <a:pPr algn="ctr">
              <a:lnSpc>
                <a:spcPct val="100000"/>
              </a:lnSpc>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数据一致性保障</a:t>
            </a:r>
            <a:endParaRPr lang="en-US" sz="1600" dirty="0"/>
          </a:p>
        </p:txBody>
      </p:sp>
      <p:sp>
        <p:nvSpPr>
          <p:cNvPr id="56" name="Text 52"/>
          <p:cNvSpPr/>
          <p:nvPr>
            <p:custDataLst>
              <p:tags r:id="rId31"/>
            </p:custDataLst>
          </p:nvPr>
        </p:nvSpPr>
        <p:spPr>
          <a:xfrm>
            <a:off x="3662045" y="2908935"/>
            <a:ext cx="2280285" cy="2607310"/>
          </a:xfrm>
          <a:prstGeom prst="rect">
            <a:avLst/>
          </a:prstGeom>
          <a:noFill/>
        </p:spPr>
        <p:txBody>
          <a:bodyPr wrap="square" lIns="0" tIns="0" rIns="0" bIns="0" rtlCol="0" anchor="t"/>
          <a:lstStyle/>
          <a:p>
            <a:pPr algn="ct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为保障数据一致性，引入版本控制和乐观锁机制。在数据表中添加版本号字段，在更新操作前进行版本校验，确保数据的准确性。一旦发生冲突，系统自动回滚并重试，有效避免数据不一致的问题，提高系统的可靠性。</a:t>
            </a:r>
            <a:endParaRPr lang="en-US" sz="1600" dirty="0"/>
          </a:p>
        </p:txBody>
      </p:sp>
      <p:sp>
        <p:nvSpPr>
          <p:cNvPr id="57" name="Text 53"/>
          <p:cNvSpPr/>
          <p:nvPr>
            <p:custDataLst>
              <p:tags r:id="rId32"/>
            </p:custDataLst>
          </p:nvPr>
        </p:nvSpPr>
        <p:spPr>
          <a:xfrm>
            <a:off x="6663690" y="1987550"/>
            <a:ext cx="1841500" cy="440055"/>
          </a:xfrm>
          <a:prstGeom prst="rect">
            <a:avLst/>
          </a:prstGeom>
          <a:noFill/>
        </p:spPr>
        <p:txBody>
          <a:bodyPr wrap="square" lIns="0" tIns="0" rIns="0" bIns="0" rtlCol="0" anchor="ctr"/>
          <a:lstStyle/>
          <a:p>
            <a:pPr algn="ctr">
              <a:lnSpc>
                <a:spcPct val="100000"/>
              </a:lnSpc>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同步性能优化</a:t>
            </a:r>
            <a:endParaRPr lang="en-US" sz="1600" dirty="0"/>
          </a:p>
        </p:txBody>
      </p:sp>
      <p:sp>
        <p:nvSpPr>
          <p:cNvPr id="58" name="Text 54"/>
          <p:cNvSpPr/>
          <p:nvPr>
            <p:custDataLst>
              <p:tags r:id="rId33"/>
            </p:custDataLst>
          </p:nvPr>
        </p:nvSpPr>
        <p:spPr>
          <a:xfrm>
            <a:off x="6439535" y="2926080"/>
            <a:ext cx="2459990" cy="2590165"/>
          </a:xfrm>
          <a:prstGeom prst="rect">
            <a:avLst/>
          </a:prstGeom>
          <a:noFill/>
        </p:spPr>
        <p:txBody>
          <a:bodyPr wrap="square" lIns="0" tIns="0" rIns="0" bIns="0" rtlCol="0" anchor="t"/>
          <a:lstStyle/>
          <a:p>
            <a:pPr algn="ct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针对同步性能问题，采用连接池技术HikariCP，提高数据库连接的性能和稳定性。同时，利用@Async注解实现异步处理邮件通知，避免同步操作阻塞主线程。此外，对批量数据进行分页同步，进一步提升同步效率，确保系统在高并发场景下的高效运行。</a:t>
            </a:r>
            <a:endParaRPr lang="en-US" sz="1600" dirty="0"/>
          </a:p>
        </p:txBody>
      </p:sp>
      <p:sp>
        <p:nvSpPr>
          <p:cNvPr id="59" name="Text 55"/>
          <p:cNvSpPr/>
          <p:nvPr>
            <p:custDataLst>
              <p:tags r:id="rId34"/>
            </p:custDataLst>
          </p:nvPr>
        </p:nvSpPr>
        <p:spPr>
          <a:xfrm>
            <a:off x="9410065" y="1993265"/>
            <a:ext cx="1841500" cy="440055"/>
          </a:xfrm>
          <a:prstGeom prst="rect">
            <a:avLst/>
          </a:prstGeom>
          <a:noFill/>
        </p:spPr>
        <p:txBody>
          <a:bodyPr wrap="square" lIns="0" tIns="0" rIns="0" bIns="0" rtlCol="0" anchor="ctr"/>
          <a:lstStyle/>
          <a:p>
            <a:pPr algn="ctr">
              <a:lnSpc>
                <a:spcPct val="100000"/>
              </a:lnSpc>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冲突检测准确性</a:t>
            </a:r>
            <a:endParaRPr lang="en-US" sz="1600" dirty="0"/>
          </a:p>
        </p:txBody>
      </p:sp>
      <p:sp>
        <p:nvSpPr>
          <p:cNvPr id="60" name="Text 56"/>
          <p:cNvSpPr/>
          <p:nvPr>
            <p:custDataLst>
              <p:tags r:id="rId35"/>
            </p:custDataLst>
          </p:nvPr>
        </p:nvSpPr>
        <p:spPr>
          <a:xfrm>
            <a:off x="9225915" y="2908935"/>
            <a:ext cx="2280285" cy="2607310"/>
          </a:xfrm>
          <a:prstGeom prst="rect">
            <a:avLst/>
          </a:prstGeom>
          <a:noFill/>
        </p:spPr>
        <p:txBody>
          <a:bodyPr wrap="square" lIns="0" tIns="0" rIns="0" bIns="0" rtlCol="0" anchor="t"/>
          <a:lstStyle/>
          <a:p>
            <a:pPr algn="ct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为提高冲突检测的准确性，采用三库对比结合时间戳验证的方法。定期对三库数据进行全量对比，记录变更时间戳，并通过数据哈希值校验确保数据的一致性。这种多维度的检测机制，能够准确识别冲突，避免误报，提高系统的稳定性和可靠性。</a:t>
            </a:r>
            <a:endParaRPr lang="en-US" sz="1600" dirty="0"/>
          </a:p>
        </p:txBody>
      </p:sp>
      <p:grpSp>
        <p:nvGrpSpPr>
          <p:cNvPr id="61" name="组合 60"/>
          <p:cNvGrpSpPr/>
          <p:nvPr/>
        </p:nvGrpSpPr>
        <p:grpSpPr>
          <a:xfrm>
            <a:off x="0" y="331470"/>
            <a:ext cx="5941695" cy="537845"/>
            <a:chOff x="0" y="522"/>
            <a:chExt cx="9357" cy="847"/>
          </a:xfrm>
        </p:grpSpPr>
        <p:sp>
          <p:nvSpPr>
            <p:cNvPr id="62" name="任意多边形 61"/>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3" name="矩形 62"/>
            <p:cNvSpPr/>
            <p:nvPr/>
          </p:nvSpPr>
          <p:spPr>
            <a:xfrm>
              <a:off x="2898" y="547"/>
              <a:ext cx="6459" cy="822"/>
            </a:xfrm>
            <a:prstGeom prst="rect">
              <a:avLst/>
            </a:prstGeom>
          </p:spPr>
          <p:txBody>
            <a:bodyPr wrap="none">
              <a:spAutoFit/>
            </a:bodyPr>
            <a:lstStyle/>
            <a:p>
              <a:pPr algn="l">
                <a:lnSpc>
                  <a:spcPct val="100000"/>
                </a:lnSpc>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sym typeface="+mn-ea"/>
                </a:rPr>
                <a:t>四大技术挑战及解决方案</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64" name="矩形 63"/>
            <p:cNvSpPr/>
            <p:nvPr/>
          </p:nvSpPr>
          <p:spPr>
            <a:xfrm>
              <a:off x="0" y="522"/>
              <a:ext cx="885"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03</a:t>
              </a:r>
              <a:endParaRPr lang="zh-CN" altLang="en-US" sz="2800" dirty="0">
                <a:solidFill>
                  <a:schemeClr val="bg1"/>
                </a:solidFill>
              </a:endParaRPr>
            </a:p>
          </p:txBody>
        </p:sp>
        <p:pic>
          <p:nvPicPr>
            <p:cNvPr id="65" name="图片 64" descr="微信图片_20200425233959"/>
            <p:cNvPicPr>
              <a:picLocks noChangeAspect="1"/>
            </p:cNvPicPr>
            <p:nvPr/>
          </p:nvPicPr>
          <p:blipFill>
            <a:blip r:embed="rId36">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4621530" y="1461770"/>
            <a:ext cx="1546225" cy="1472565"/>
            <a:chOff x="6283" y="4534"/>
            <a:chExt cx="2974" cy="2974"/>
          </a:xfrm>
        </p:grpSpPr>
        <p:sp>
          <p:nvSpPr>
            <p:cNvPr id="15" name="任意多边形 14"/>
            <p:cNvSpPr/>
            <p:nvPr>
              <p:custDataLst>
                <p:tags r:id="rId2"/>
              </p:custDataLst>
            </p:nvPr>
          </p:nvSpPr>
          <p:spPr>
            <a:xfrm rot="16200000">
              <a:off x="6283" y="4534"/>
              <a:ext cx="2975" cy="2975"/>
            </a:xfrm>
            <a:custGeom>
              <a:avLst/>
              <a:gdLst>
                <a:gd name="connsiteX0" fmla="*/ 1996587 w 2909538"/>
                <a:gd name="connsiteY0" fmla="*/ 1454772 h 2909539"/>
                <a:gd name="connsiteX1" fmla="*/ 1454770 w 2909538"/>
                <a:gd name="connsiteY1" fmla="*/ 912955 h 2909539"/>
                <a:gd name="connsiteX2" fmla="*/ 1454770 w 2909538"/>
                <a:gd name="connsiteY2" fmla="*/ 912954 h 2909539"/>
                <a:gd name="connsiteX3" fmla="*/ 912952 w 2909538"/>
                <a:gd name="connsiteY3" fmla="*/ 1454771 h 2909539"/>
                <a:gd name="connsiteX4" fmla="*/ 1454770 w 2909538"/>
                <a:gd name="connsiteY4" fmla="*/ 1996587 h 2909539"/>
                <a:gd name="connsiteX5" fmla="*/ 1454770 w 2909538"/>
                <a:gd name="connsiteY5" fmla="*/ 1996588 h 2909539"/>
                <a:gd name="connsiteX6" fmla="*/ 1996587 w 2909538"/>
                <a:gd name="connsiteY6" fmla="*/ 1454772 h 2909539"/>
                <a:gd name="connsiteX7" fmla="*/ 2909538 w 2909538"/>
                <a:gd name="connsiteY7" fmla="*/ 1289658 h 2909539"/>
                <a:gd name="connsiteX8" fmla="*/ 2909538 w 2909538"/>
                <a:gd name="connsiteY8" fmla="*/ 1619886 h 2909539"/>
                <a:gd name="connsiteX9" fmla="*/ 2655937 w 2909538"/>
                <a:gd name="connsiteY9" fmla="*/ 1674245 h 2909539"/>
                <a:gd name="connsiteX10" fmla="*/ 2646038 w 2909538"/>
                <a:gd name="connsiteY10" fmla="*/ 1739107 h 2909539"/>
                <a:gd name="connsiteX11" fmla="*/ 2620429 w 2909538"/>
                <a:gd name="connsiteY11" fmla="*/ 1841324 h 2909539"/>
                <a:gd name="connsiteX12" fmla="*/ 2610396 w 2909538"/>
                <a:gd name="connsiteY12" fmla="*/ 1870388 h 2909539"/>
                <a:gd name="connsiteX13" fmla="*/ 2797195 w 2909538"/>
                <a:gd name="connsiteY13" fmla="*/ 2039165 h 2909539"/>
                <a:gd name="connsiteX14" fmla="*/ 2632080 w 2909538"/>
                <a:gd name="connsiteY14" fmla="*/ 2325149 h 2909539"/>
                <a:gd name="connsiteX15" fmla="*/ 2402524 w 2909538"/>
                <a:gd name="connsiteY15" fmla="*/ 2250996 h 2909539"/>
                <a:gd name="connsiteX16" fmla="*/ 2374224 w 2909538"/>
                <a:gd name="connsiteY16" fmla="*/ 2289810 h 2909539"/>
                <a:gd name="connsiteX17" fmla="*/ 2285766 w 2909538"/>
                <a:gd name="connsiteY17" fmla="*/ 2381766 h 2909539"/>
                <a:gd name="connsiteX18" fmla="*/ 2253166 w 2909538"/>
                <a:gd name="connsiteY18" fmla="*/ 2409244 h 2909539"/>
                <a:gd name="connsiteX19" fmla="*/ 2325148 w 2909538"/>
                <a:gd name="connsiteY19" fmla="*/ 2632081 h 2909539"/>
                <a:gd name="connsiteX20" fmla="*/ 2039161 w 2909538"/>
                <a:gd name="connsiteY20" fmla="*/ 2797195 h 2909539"/>
                <a:gd name="connsiteX21" fmla="*/ 1887358 w 2909538"/>
                <a:gd name="connsiteY21" fmla="*/ 2629184 h 2909539"/>
                <a:gd name="connsiteX22" fmla="*/ 1848293 w 2909538"/>
                <a:gd name="connsiteY22" fmla="*/ 2644931 h 2909539"/>
                <a:gd name="connsiteX23" fmla="*/ 1666770 w 2909538"/>
                <a:gd name="connsiteY23" fmla="*/ 2690801 h 2909539"/>
                <a:gd name="connsiteX24" fmla="*/ 1619884 w 2909538"/>
                <a:gd name="connsiteY24" fmla="*/ 2909539 h 2909539"/>
                <a:gd name="connsiteX25" fmla="*/ 1454770 w 2909538"/>
                <a:gd name="connsiteY25" fmla="*/ 2909539 h 2909539"/>
                <a:gd name="connsiteX26" fmla="*/ 1454770 w 2909538"/>
                <a:gd name="connsiteY26" fmla="*/ 2909538 h 2909539"/>
                <a:gd name="connsiteX27" fmla="*/ 1289653 w 2909538"/>
                <a:gd name="connsiteY27" fmla="*/ 2909538 h 2909539"/>
                <a:gd name="connsiteX28" fmla="*/ 1242670 w 2909538"/>
                <a:gd name="connsiteY28" fmla="*/ 2690345 h 2909539"/>
                <a:gd name="connsiteX29" fmla="*/ 1209707 w 2909538"/>
                <a:gd name="connsiteY29" fmla="*/ 2685314 h 2909539"/>
                <a:gd name="connsiteX30" fmla="*/ 1021870 w 2909538"/>
                <a:gd name="connsiteY30" fmla="*/ 2629527 h 2909539"/>
                <a:gd name="connsiteX31" fmla="*/ 870379 w 2909538"/>
                <a:gd name="connsiteY31" fmla="*/ 2797194 h 2909539"/>
                <a:gd name="connsiteX32" fmla="*/ 584391 w 2909538"/>
                <a:gd name="connsiteY32" fmla="*/ 2632080 h 2909539"/>
                <a:gd name="connsiteX33" fmla="*/ 655994 w 2909538"/>
                <a:gd name="connsiteY33" fmla="*/ 2410418 h 2909539"/>
                <a:gd name="connsiteX34" fmla="*/ 516464 w 2909538"/>
                <a:gd name="connsiteY34" fmla="*/ 2267515 h 2909539"/>
                <a:gd name="connsiteX35" fmla="*/ 505383 w 2909538"/>
                <a:gd name="connsiteY35" fmla="*/ 2251524 h 2909539"/>
                <a:gd name="connsiteX36" fmla="*/ 277459 w 2909538"/>
                <a:gd name="connsiteY36" fmla="*/ 2325148 h 2909539"/>
                <a:gd name="connsiteX37" fmla="*/ 112345 w 2909538"/>
                <a:gd name="connsiteY37" fmla="*/ 2039164 h 2909539"/>
                <a:gd name="connsiteX38" fmla="*/ 299278 w 2909538"/>
                <a:gd name="connsiteY38" fmla="*/ 1870265 h 2909539"/>
                <a:gd name="connsiteX39" fmla="*/ 280915 w 2909538"/>
                <a:gd name="connsiteY39" fmla="*/ 1812471 h 2909539"/>
                <a:gd name="connsiteX40" fmla="*/ 253098 w 2909538"/>
                <a:gd name="connsiteY40" fmla="*/ 1674136 h 2909539"/>
                <a:gd name="connsiteX41" fmla="*/ 0 w 2909538"/>
                <a:gd name="connsiteY41" fmla="*/ 1619885 h 2909539"/>
                <a:gd name="connsiteX42" fmla="*/ 0 w 2909538"/>
                <a:gd name="connsiteY42" fmla="*/ 1289657 h 2909539"/>
                <a:gd name="connsiteX43" fmla="*/ 268239 w 2909538"/>
                <a:gd name="connsiteY43" fmla="*/ 1232157 h 2909539"/>
                <a:gd name="connsiteX44" fmla="*/ 280915 w 2909538"/>
                <a:gd name="connsiteY44" fmla="*/ 1175620 h 2909539"/>
                <a:gd name="connsiteX45" fmla="*/ 321371 w 2909538"/>
                <a:gd name="connsiteY45" fmla="*/ 1059236 h 2909539"/>
                <a:gd name="connsiteX46" fmla="*/ 112345 w 2909538"/>
                <a:gd name="connsiteY46" fmla="*/ 870380 h 2909539"/>
                <a:gd name="connsiteX47" fmla="*/ 277459 w 2909538"/>
                <a:gd name="connsiteY47" fmla="*/ 584393 h 2909539"/>
                <a:gd name="connsiteX48" fmla="*/ 559365 w 2909538"/>
                <a:gd name="connsiteY48" fmla="*/ 675453 h 2909539"/>
                <a:gd name="connsiteX49" fmla="*/ 621115 w 2909538"/>
                <a:gd name="connsiteY49" fmla="*/ 608823 h 2909539"/>
                <a:gd name="connsiteX50" fmla="*/ 676684 w 2909538"/>
                <a:gd name="connsiteY50" fmla="*/ 563177 h 2909539"/>
                <a:gd name="connsiteX51" fmla="*/ 584391 w 2909538"/>
                <a:gd name="connsiteY51" fmla="*/ 277461 h 2909539"/>
                <a:gd name="connsiteX52" fmla="*/ 870378 w 2909538"/>
                <a:gd name="connsiteY52" fmla="*/ 112347 h 2909539"/>
                <a:gd name="connsiteX53" fmla="*/ 1076159 w 2909538"/>
                <a:gd name="connsiteY53" fmla="*/ 340104 h 2909539"/>
                <a:gd name="connsiteX54" fmla="*/ 1209707 w 2909538"/>
                <a:gd name="connsiteY54" fmla="*/ 302774 h 2909539"/>
                <a:gd name="connsiteX55" fmla="*/ 1225263 w 2909538"/>
                <a:gd name="connsiteY55" fmla="*/ 300402 h 2909539"/>
                <a:gd name="connsiteX56" fmla="*/ 1289653 w 2909538"/>
                <a:gd name="connsiteY56" fmla="*/ 0 h 2909539"/>
                <a:gd name="connsiteX57" fmla="*/ 1454770 w 2909538"/>
                <a:gd name="connsiteY57" fmla="*/ 0 h 2909539"/>
                <a:gd name="connsiteX58" fmla="*/ 1454770 w 2909538"/>
                <a:gd name="connsiteY58" fmla="*/ 1 h 2909539"/>
                <a:gd name="connsiteX59" fmla="*/ 1619884 w 2909538"/>
                <a:gd name="connsiteY59" fmla="*/ 1 h 2909539"/>
                <a:gd name="connsiteX60" fmla="*/ 1684274 w 2909538"/>
                <a:gd name="connsiteY60" fmla="*/ 300403 h 2909539"/>
                <a:gd name="connsiteX61" fmla="*/ 1699832 w 2909538"/>
                <a:gd name="connsiteY61" fmla="*/ 302775 h 2909539"/>
                <a:gd name="connsiteX62" fmla="*/ 1831714 w 2909538"/>
                <a:gd name="connsiteY62" fmla="*/ 341947 h 2909539"/>
                <a:gd name="connsiteX63" fmla="*/ 2039161 w 2909538"/>
                <a:gd name="connsiteY63" fmla="*/ 112348 h 2909539"/>
                <a:gd name="connsiteX64" fmla="*/ 2325148 w 2909538"/>
                <a:gd name="connsiteY64" fmla="*/ 277462 h 2909539"/>
                <a:gd name="connsiteX65" fmla="*/ 2233241 w 2909538"/>
                <a:gd name="connsiteY65" fmla="*/ 561983 h 2909539"/>
                <a:gd name="connsiteX66" fmla="*/ 2250533 w 2909538"/>
                <a:gd name="connsiteY66" fmla="*/ 574592 h 2909539"/>
                <a:gd name="connsiteX67" fmla="*/ 2342489 w 2909538"/>
                <a:gd name="connsiteY67" fmla="*/ 663051 h 2909539"/>
                <a:gd name="connsiteX68" fmla="*/ 2352353 w 2909538"/>
                <a:gd name="connsiteY68" fmla="*/ 674751 h 2909539"/>
                <a:gd name="connsiteX69" fmla="*/ 2632080 w 2909538"/>
                <a:gd name="connsiteY69" fmla="*/ 584394 h 2909539"/>
                <a:gd name="connsiteX70" fmla="*/ 2797195 w 2909538"/>
                <a:gd name="connsiteY70" fmla="*/ 870381 h 2909539"/>
                <a:gd name="connsiteX71" fmla="*/ 2588788 w 2909538"/>
                <a:gd name="connsiteY71" fmla="*/ 1058678 h 2909539"/>
                <a:gd name="connsiteX72" fmla="*/ 2605651 w 2909538"/>
                <a:gd name="connsiteY72" fmla="*/ 1100521 h 2909539"/>
                <a:gd name="connsiteX73" fmla="*/ 2638782 w 2909538"/>
                <a:gd name="connsiteY73" fmla="*/ 1231618 h 2909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09538" h="2909539">
                  <a:moveTo>
                    <a:pt x="1996587" y="1454772"/>
                  </a:moveTo>
                  <a:cubicBezTo>
                    <a:pt x="1996587" y="1155534"/>
                    <a:pt x="1754006" y="912955"/>
                    <a:pt x="1454770" y="912955"/>
                  </a:cubicBezTo>
                  <a:lnTo>
                    <a:pt x="1454770" y="912954"/>
                  </a:lnTo>
                  <a:cubicBezTo>
                    <a:pt x="1155533" y="912954"/>
                    <a:pt x="912952" y="1155533"/>
                    <a:pt x="912952" y="1454771"/>
                  </a:cubicBezTo>
                  <a:cubicBezTo>
                    <a:pt x="912952" y="1754008"/>
                    <a:pt x="1155533" y="1996587"/>
                    <a:pt x="1454770" y="1996587"/>
                  </a:cubicBezTo>
                  <a:lnTo>
                    <a:pt x="1454770" y="1996588"/>
                  </a:lnTo>
                  <a:cubicBezTo>
                    <a:pt x="1754006" y="1996588"/>
                    <a:pt x="1996587" y="1754009"/>
                    <a:pt x="1996587" y="1454772"/>
                  </a:cubicBezTo>
                  <a:close/>
                  <a:moveTo>
                    <a:pt x="2909538" y="1289658"/>
                  </a:moveTo>
                  <a:lnTo>
                    <a:pt x="2909538" y="1619886"/>
                  </a:lnTo>
                  <a:lnTo>
                    <a:pt x="2655937" y="1674245"/>
                  </a:lnTo>
                  <a:lnTo>
                    <a:pt x="2646038" y="1739107"/>
                  </a:lnTo>
                  <a:cubicBezTo>
                    <a:pt x="2638952" y="1773738"/>
                    <a:pt x="2630393" y="1807833"/>
                    <a:pt x="2620429" y="1841324"/>
                  </a:cubicBezTo>
                  <a:lnTo>
                    <a:pt x="2610396" y="1870388"/>
                  </a:lnTo>
                  <a:lnTo>
                    <a:pt x="2797195" y="2039165"/>
                  </a:lnTo>
                  <a:lnTo>
                    <a:pt x="2632080" y="2325149"/>
                  </a:lnTo>
                  <a:lnTo>
                    <a:pt x="2402524" y="2250996"/>
                  </a:lnTo>
                  <a:lnTo>
                    <a:pt x="2374224" y="2289810"/>
                  </a:lnTo>
                  <a:cubicBezTo>
                    <a:pt x="2346354" y="2321985"/>
                    <a:pt x="2316824" y="2352680"/>
                    <a:pt x="2285766" y="2381766"/>
                  </a:cubicBezTo>
                  <a:lnTo>
                    <a:pt x="2253166" y="2409244"/>
                  </a:lnTo>
                  <a:lnTo>
                    <a:pt x="2325148" y="2632081"/>
                  </a:lnTo>
                  <a:lnTo>
                    <a:pt x="2039161" y="2797195"/>
                  </a:lnTo>
                  <a:lnTo>
                    <a:pt x="1887358" y="2629184"/>
                  </a:lnTo>
                  <a:lnTo>
                    <a:pt x="1848293" y="2644931"/>
                  </a:lnTo>
                  <a:lnTo>
                    <a:pt x="1666770" y="2690801"/>
                  </a:lnTo>
                  <a:lnTo>
                    <a:pt x="1619884" y="2909539"/>
                  </a:lnTo>
                  <a:lnTo>
                    <a:pt x="1454770" y="2909539"/>
                  </a:lnTo>
                  <a:lnTo>
                    <a:pt x="1454770" y="2909538"/>
                  </a:lnTo>
                  <a:lnTo>
                    <a:pt x="1289653" y="2909538"/>
                  </a:lnTo>
                  <a:lnTo>
                    <a:pt x="1242670" y="2690345"/>
                  </a:lnTo>
                  <a:lnTo>
                    <a:pt x="1209707" y="2685314"/>
                  </a:lnTo>
                  <a:lnTo>
                    <a:pt x="1021870" y="2629527"/>
                  </a:lnTo>
                  <a:lnTo>
                    <a:pt x="870379" y="2797194"/>
                  </a:lnTo>
                  <a:lnTo>
                    <a:pt x="584391" y="2632080"/>
                  </a:lnTo>
                  <a:lnTo>
                    <a:pt x="655994" y="2410418"/>
                  </a:lnTo>
                  <a:lnTo>
                    <a:pt x="516464" y="2267515"/>
                  </a:lnTo>
                  <a:lnTo>
                    <a:pt x="505383" y="2251524"/>
                  </a:lnTo>
                  <a:lnTo>
                    <a:pt x="277459" y="2325148"/>
                  </a:lnTo>
                  <a:lnTo>
                    <a:pt x="112345" y="2039164"/>
                  </a:lnTo>
                  <a:lnTo>
                    <a:pt x="299278" y="1870265"/>
                  </a:lnTo>
                  <a:lnTo>
                    <a:pt x="280915" y="1812471"/>
                  </a:lnTo>
                  <a:lnTo>
                    <a:pt x="253098" y="1674136"/>
                  </a:lnTo>
                  <a:lnTo>
                    <a:pt x="0" y="1619885"/>
                  </a:lnTo>
                  <a:lnTo>
                    <a:pt x="0" y="1289657"/>
                  </a:lnTo>
                  <a:lnTo>
                    <a:pt x="268239" y="1232157"/>
                  </a:lnTo>
                  <a:lnTo>
                    <a:pt x="280915" y="1175620"/>
                  </a:lnTo>
                  <a:lnTo>
                    <a:pt x="321371" y="1059236"/>
                  </a:lnTo>
                  <a:lnTo>
                    <a:pt x="112345" y="870380"/>
                  </a:lnTo>
                  <a:lnTo>
                    <a:pt x="277459" y="584393"/>
                  </a:lnTo>
                  <a:lnTo>
                    <a:pt x="559365" y="675453"/>
                  </a:lnTo>
                  <a:lnTo>
                    <a:pt x="621115" y="608823"/>
                  </a:lnTo>
                  <a:lnTo>
                    <a:pt x="676684" y="563177"/>
                  </a:lnTo>
                  <a:lnTo>
                    <a:pt x="584391" y="277461"/>
                  </a:lnTo>
                  <a:lnTo>
                    <a:pt x="870378" y="112347"/>
                  </a:lnTo>
                  <a:lnTo>
                    <a:pt x="1076159" y="340104"/>
                  </a:lnTo>
                  <a:lnTo>
                    <a:pt x="1209707" y="302774"/>
                  </a:lnTo>
                  <a:lnTo>
                    <a:pt x="1225263" y="300402"/>
                  </a:lnTo>
                  <a:lnTo>
                    <a:pt x="1289653" y="0"/>
                  </a:lnTo>
                  <a:lnTo>
                    <a:pt x="1454770" y="0"/>
                  </a:lnTo>
                  <a:lnTo>
                    <a:pt x="1454770" y="1"/>
                  </a:lnTo>
                  <a:lnTo>
                    <a:pt x="1619884" y="1"/>
                  </a:lnTo>
                  <a:lnTo>
                    <a:pt x="1684274" y="300403"/>
                  </a:lnTo>
                  <a:lnTo>
                    <a:pt x="1699832" y="302775"/>
                  </a:lnTo>
                  <a:lnTo>
                    <a:pt x="1831714" y="341947"/>
                  </a:lnTo>
                  <a:lnTo>
                    <a:pt x="2039161" y="112348"/>
                  </a:lnTo>
                  <a:lnTo>
                    <a:pt x="2325148" y="277462"/>
                  </a:lnTo>
                  <a:lnTo>
                    <a:pt x="2233241" y="561983"/>
                  </a:lnTo>
                  <a:lnTo>
                    <a:pt x="2250533" y="574592"/>
                  </a:lnTo>
                  <a:cubicBezTo>
                    <a:pt x="2282708" y="602462"/>
                    <a:pt x="2313404" y="631991"/>
                    <a:pt x="2342489" y="663051"/>
                  </a:cubicBezTo>
                  <a:lnTo>
                    <a:pt x="2352353" y="674751"/>
                  </a:lnTo>
                  <a:lnTo>
                    <a:pt x="2632080" y="584394"/>
                  </a:lnTo>
                  <a:lnTo>
                    <a:pt x="2797195" y="870381"/>
                  </a:lnTo>
                  <a:lnTo>
                    <a:pt x="2588788" y="1058678"/>
                  </a:lnTo>
                  <a:lnTo>
                    <a:pt x="2605651" y="1100521"/>
                  </a:lnTo>
                  <a:lnTo>
                    <a:pt x="2638782" y="123161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椭圆 15"/>
            <p:cNvSpPr/>
            <p:nvPr>
              <p:custDataLst>
                <p:tags r:id="rId3"/>
              </p:custDataLst>
            </p:nvPr>
          </p:nvSpPr>
          <p:spPr>
            <a:xfrm>
              <a:off x="6621" y="4872"/>
              <a:ext cx="2299" cy="2299"/>
            </a:xfrm>
            <a:prstGeom prst="ellipse">
              <a:avLst/>
            </a:prstGeom>
            <a:solidFill>
              <a:srgbClr val="293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32" name="组合 31"/>
            <p:cNvGrpSpPr/>
            <p:nvPr/>
          </p:nvGrpSpPr>
          <p:grpSpPr>
            <a:xfrm>
              <a:off x="7282" y="5565"/>
              <a:ext cx="860" cy="851"/>
              <a:chOff x="4270293" y="4090633"/>
              <a:chExt cx="390570" cy="386543"/>
            </a:xfrm>
            <a:solidFill>
              <a:schemeClr val="bg1"/>
            </a:solidFill>
          </p:grpSpPr>
          <p:sp>
            <p:nvSpPr>
              <p:cNvPr id="33" name="Freeform 136"/>
              <p:cNvSpPr/>
              <p:nvPr>
                <p:custDataLst>
                  <p:tags r:id="rId4"/>
                </p:custDataLst>
              </p:nvPr>
            </p:nvSpPr>
            <p:spPr bwMode="auto">
              <a:xfrm>
                <a:off x="4270293" y="4307258"/>
                <a:ext cx="390570" cy="169918"/>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sp>
            <p:nvSpPr>
              <p:cNvPr id="34" name="Freeform 137"/>
              <p:cNvSpPr>
                <a:spLocks noEditPoints="1"/>
              </p:cNvSpPr>
              <p:nvPr>
                <p:custDataLst>
                  <p:tags r:id="rId5"/>
                </p:custDataLst>
              </p:nvPr>
            </p:nvSpPr>
            <p:spPr bwMode="auto">
              <a:xfrm>
                <a:off x="4270293" y="4090633"/>
                <a:ext cx="390570" cy="224678"/>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grpSp>
      </p:grpSp>
      <p:sp>
        <p:nvSpPr>
          <p:cNvPr id="4" name="Rectangle 5"/>
          <p:cNvSpPr/>
          <p:nvPr>
            <p:custDataLst>
              <p:tags r:id="rId6"/>
            </p:custDataLst>
          </p:nvPr>
        </p:nvSpPr>
        <p:spPr>
          <a:xfrm>
            <a:off x="8608150" y="4553625"/>
            <a:ext cx="3583669" cy="755015"/>
          </a:xfrm>
          <a:prstGeom prst="rect">
            <a:avLst/>
          </a:prstGeom>
        </p:spPr>
        <p:txBody>
          <a:bodyPr wrap="square">
            <a:spAutoFit/>
          </a:bodyPr>
          <a:lstStyle/>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配置驱动的功能开关</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完整的监控审计日志</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清晰的代码分层结构</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5" name="文本框 4"/>
          <p:cNvSpPr txBox="1"/>
          <p:nvPr>
            <p:custDataLst>
              <p:tags r:id="rId7"/>
            </p:custDataLst>
          </p:nvPr>
        </p:nvSpPr>
        <p:spPr>
          <a:xfrm>
            <a:off x="8608060" y="4277360"/>
            <a:ext cx="1974215" cy="337185"/>
          </a:xfrm>
          <a:prstGeom prst="rect">
            <a:avLst/>
          </a:prstGeom>
          <a:noFill/>
        </p:spPr>
        <p:txBody>
          <a:bodyPr wrap="square" rtlCol="0">
            <a:spAutoFit/>
          </a:bodyPr>
          <a:lstStyle/>
          <a:p>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a:t>
            </a:r>
            <a:r>
              <a:rPr lang="en-US" altLang="zh-CN"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 </a:t>
            </a:r>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工程化最佳实践</a:t>
            </a:r>
            <a:endPar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endParaRPr>
          </a:p>
        </p:txBody>
      </p:sp>
      <p:sp>
        <p:nvSpPr>
          <p:cNvPr id="2" name="Rectangle 5"/>
          <p:cNvSpPr/>
          <p:nvPr>
            <p:custDataLst>
              <p:tags r:id="rId8"/>
            </p:custDataLst>
          </p:nvPr>
        </p:nvSpPr>
        <p:spPr>
          <a:xfrm>
            <a:off x="8608150" y="2235875"/>
            <a:ext cx="3583669" cy="533400"/>
          </a:xfrm>
          <a:prstGeom prst="rect">
            <a:avLst/>
          </a:prstGeom>
        </p:spPr>
        <p:txBody>
          <a:bodyPr wrap="square">
            <a:spAutoFit/>
          </a:bodyPr>
          <a:lstStyle/>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邮件异步发送不阻塞业务</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连接池优化与查询索引</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3" name="文本框 2"/>
          <p:cNvSpPr txBox="1"/>
          <p:nvPr>
            <p:custDataLst>
              <p:tags r:id="rId9"/>
            </p:custDataLst>
          </p:nvPr>
        </p:nvSpPr>
        <p:spPr>
          <a:xfrm>
            <a:off x="8608060" y="1925955"/>
            <a:ext cx="2202815" cy="337185"/>
          </a:xfrm>
          <a:prstGeom prst="rect">
            <a:avLst/>
          </a:prstGeom>
          <a:noFill/>
        </p:spPr>
        <p:txBody>
          <a:bodyPr wrap="square" rtlCol="0">
            <a:spAutoFit/>
          </a:bodyPr>
          <a:lstStyle/>
          <a:p>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a:t>
            </a:r>
            <a:r>
              <a:rPr lang="en-US" altLang="zh-CN"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 </a:t>
            </a:r>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异步化与性能优化</a:t>
            </a:r>
            <a:endPar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endParaRPr>
          </a:p>
        </p:txBody>
      </p:sp>
      <p:sp>
        <p:nvSpPr>
          <p:cNvPr id="47" name="Rectangle 5"/>
          <p:cNvSpPr/>
          <p:nvPr>
            <p:custDataLst>
              <p:tags r:id="rId10"/>
            </p:custDataLst>
          </p:nvPr>
        </p:nvSpPr>
        <p:spPr>
          <a:xfrm>
            <a:off x="819875" y="4553625"/>
            <a:ext cx="3583669" cy="533400"/>
          </a:xfrm>
          <a:prstGeom prst="rect">
            <a:avLst/>
          </a:prstGeom>
        </p:spPr>
        <p:txBody>
          <a:bodyPr wrap="square">
            <a:spAutoFit/>
          </a:bodyPr>
          <a:lstStyle/>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双库</a:t>
            </a: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a:t>
            </a: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三库冲突智能识别</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基于时间戳的自动解决建议</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48" name="文本框 47"/>
          <p:cNvSpPr txBox="1"/>
          <p:nvPr>
            <p:custDataLst>
              <p:tags r:id="rId11"/>
            </p:custDataLst>
          </p:nvPr>
        </p:nvSpPr>
        <p:spPr>
          <a:xfrm>
            <a:off x="819785" y="4175760"/>
            <a:ext cx="2291715" cy="337185"/>
          </a:xfrm>
          <a:prstGeom prst="rect">
            <a:avLst/>
          </a:prstGeom>
          <a:noFill/>
        </p:spPr>
        <p:txBody>
          <a:bodyPr wrap="square" rtlCol="0">
            <a:spAutoFit/>
          </a:bodyPr>
          <a:lstStyle/>
          <a:p>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a:t>
            </a:r>
            <a:r>
              <a:rPr lang="en-US" altLang="zh-CN"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 </a:t>
            </a:r>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智能三库冲突处理</a:t>
            </a:r>
            <a:endPar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endParaRPr>
          </a:p>
        </p:txBody>
      </p:sp>
      <p:sp>
        <p:nvSpPr>
          <p:cNvPr id="49" name="Rectangle 5"/>
          <p:cNvSpPr/>
          <p:nvPr>
            <p:custDataLst>
              <p:tags r:id="rId12"/>
            </p:custDataLst>
          </p:nvPr>
        </p:nvSpPr>
        <p:spPr>
          <a:xfrm>
            <a:off x="769075" y="2235875"/>
            <a:ext cx="3583669" cy="533400"/>
          </a:xfrm>
          <a:prstGeom prst="rect">
            <a:avLst/>
          </a:prstGeom>
        </p:spPr>
        <p:txBody>
          <a:bodyPr wrap="square">
            <a:spAutoFit/>
          </a:bodyPr>
          <a:lstStyle/>
          <a:p>
            <a:pPr>
              <a:lnSpc>
                <a:spcPct val="120000"/>
              </a:lnSpc>
            </a:pP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 HTML</a:t>
            </a: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邮件</a:t>
            </a: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 </a:t>
            </a:r>
            <a:r>
              <a:rPr kumimoji="0" lang="en-US"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a:t>
            </a: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 </a:t>
            </a: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文本邮件</a:t>
            </a: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 </a:t>
            </a:r>
            <a:r>
              <a:rPr kumimoji="0" lang="en-US"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a:t>
            </a: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 </a:t>
            </a: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日志记录</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a:lnSpc>
                <a:spcPct val="120000"/>
              </a:lnSpc>
            </a:pP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 </a:t>
            </a: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确保通知</a:t>
            </a:r>
            <a:r>
              <a:rPr kumimoji="0" lang="en-US" altLang="zh-CN"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100%</a:t>
            </a:r>
            <a:r>
              <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rPr>
              <a:t>可达</a:t>
            </a:r>
            <a:endParaRPr kumimoji="0" lang="zh-CN" altLang="en-US" sz="1200" b="0" i="0" u="none" strike="noStrike" kern="1200" cap="none" spc="0" normalizeH="0" baseline="0" noProof="0">
              <a:ln>
                <a:noFill/>
              </a:ln>
              <a:solidFill>
                <a:prstClr val="black">
                  <a:lumMod val="75000"/>
                  <a:lumOff val="25000"/>
                </a:prstClr>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50" name="文本框 49"/>
          <p:cNvSpPr txBox="1"/>
          <p:nvPr>
            <p:custDataLst>
              <p:tags r:id="rId13"/>
            </p:custDataLst>
          </p:nvPr>
        </p:nvSpPr>
        <p:spPr>
          <a:xfrm>
            <a:off x="819785" y="1781810"/>
            <a:ext cx="2240280" cy="337185"/>
          </a:xfrm>
          <a:prstGeom prst="rect">
            <a:avLst/>
          </a:prstGeom>
          <a:noFill/>
        </p:spPr>
        <p:txBody>
          <a:bodyPr wrap="square" rtlCol="0">
            <a:spAutoFit/>
          </a:bodyPr>
          <a:lstStyle/>
          <a:p>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a:t>
            </a:r>
            <a:r>
              <a:rPr lang="en-US" altLang="zh-CN"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 </a:t>
            </a:r>
            <a:r>
              <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rPr>
              <a:t>三级邮件降级策略</a:t>
            </a:r>
            <a:endParaRPr lang="zh-CN" altLang="en-US" sz="1600">
              <a:solidFill>
                <a:schemeClr val="tx1">
                  <a:lumMod val="85000"/>
                  <a:lumOff val="15000"/>
                </a:schemeClr>
              </a:solidFill>
              <a:latin typeface="Century Gothic" panose="020B0502020202020204" pitchFamily="34" charset="0"/>
              <a:ea typeface="微软雅黑" panose="020B0503020204020204" charset="-122"/>
              <a:sym typeface="Century Gothic" panose="020B0502020202020204" pitchFamily="34" charset="0"/>
            </a:endParaRPr>
          </a:p>
        </p:txBody>
      </p:sp>
      <p:pic>
        <p:nvPicPr>
          <p:cNvPr id="7" name="图片 6"/>
          <p:cNvPicPr>
            <a:picLocks noChangeAspect="1"/>
          </p:cNvPicPr>
          <p:nvPr>
            <p:custDataLst>
              <p:tags r:id="rId14"/>
            </p:custDataLst>
          </p:nvPr>
        </p:nvPicPr>
        <p:blipFill>
          <a:blip r:embed="rId15"/>
          <a:stretch>
            <a:fillRect/>
          </a:stretch>
        </p:blipFill>
        <p:spPr>
          <a:xfrm>
            <a:off x="6229350" y="1214120"/>
            <a:ext cx="1472565" cy="1472565"/>
          </a:xfrm>
          <a:prstGeom prst="rect">
            <a:avLst/>
          </a:prstGeom>
        </p:spPr>
      </p:pic>
      <p:pic>
        <p:nvPicPr>
          <p:cNvPr id="14" name="图片 13"/>
          <p:cNvPicPr>
            <a:picLocks noChangeAspect="1"/>
          </p:cNvPicPr>
          <p:nvPr>
            <p:custDataLst>
              <p:tags r:id="rId16"/>
            </p:custDataLst>
          </p:nvPr>
        </p:nvPicPr>
        <p:blipFill>
          <a:blip r:embed="rId17"/>
          <a:stretch>
            <a:fillRect/>
          </a:stretch>
        </p:blipFill>
        <p:spPr>
          <a:xfrm>
            <a:off x="4580890" y="4347845"/>
            <a:ext cx="1567180" cy="1532255"/>
          </a:xfrm>
          <a:prstGeom prst="rect">
            <a:avLst/>
          </a:prstGeom>
        </p:spPr>
      </p:pic>
      <p:pic>
        <p:nvPicPr>
          <p:cNvPr id="36" name="图片 35"/>
          <p:cNvPicPr>
            <a:picLocks noChangeAspect="1"/>
          </p:cNvPicPr>
          <p:nvPr>
            <p:custDataLst>
              <p:tags r:id="rId18"/>
            </p:custDataLst>
          </p:nvPr>
        </p:nvPicPr>
        <p:blipFill>
          <a:blip r:embed="rId19"/>
          <a:stretch>
            <a:fillRect/>
          </a:stretch>
        </p:blipFill>
        <p:spPr>
          <a:xfrm>
            <a:off x="6229350" y="4684395"/>
            <a:ext cx="1472565" cy="1472565"/>
          </a:xfrm>
          <a:prstGeom prst="rect">
            <a:avLst/>
          </a:prstGeom>
        </p:spPr>
      </p:pic>
      <p:pic>
        <p:nvPicPr>
          <p:cNvPr id="39" name="图片 38" descr="微信图片_20200425233959"/>
          <p:cNvPicPr>
            <a:picLocks noChangeAspect="1"/>
          </p:cNvPicPr>
          <p:nvPr>
            <p:custDataLst>
              <p:tags r:id="rId20"/>
            </p:custDataLst>
          </p:nvPr>
        </p:nvPicPr>
        <p:blipFill>
          <a:blip r:embed="rId21"/>
          <a:srcRect l="2540" t="2824" r="70739" b="3037"/>
          <a:stretch>
            <a:fillRect/>
          </a:stretch>
        </p:blipFill>
        <p:spPr>
          <a:xfrm>
            <a:off x="3639820" y="2797810"/>
            <a:ext cx="1501140" cy="1550035"/>
          </a:xfrm>
          <a:prstGeom prst="ellipse">
            <a:avLst/>
          </a:prstGeom>
        </p:spPr>
      </p:pic>
      <p:grpSp>
        <p:nvGrpSpPr>
          <p:cNvPr id="41" name="组合 40"/>
          <p:cNvGrpSpPr/>
          <p:nvPr/>
        </p:nvGrpSpPr>
        <p:grpSpPr>
          <a:xfrm>
            <a:off x="0" y="331470"/>
            <a:ext cx="5579110" cy="537845"/>
            <a:chOff x="0" y="522"/>
            <a:chExt cx="8786" cy="847"/>
          </a:xfrm>
        </p:grpSpPr>
        <p:sp>
          <p:nvSpPr>
            <p:cNvPr id="42" name="任意多边形 41"/>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4D67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prstClr val="white"/>
                  </a:solidFill>
                </a:rPr>
                <a:t>716 022 614</a:t>
              </a:r>
              <a:endParaRPr lang="zh-CN" altLang="en-US">
                <a:solidFill>
                  <a:prstClr val="white"/>
                </a:solidFill>
              </a:endParaRPr>
            </a:p>
          </p:txBody>
        </p:sp>
        <p:sp>
          <p:nvSpPr>
            <p:cNvPr id="43" name="矩形 42"/>
            <p:cNvSpPr/>
            <p:nvPr/>
          </p:nvSpPr>
          <p:spPr>
            <a:xfrm>
              <a:off x="2898" y="547"/>
              <a:ext cx="588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项目超越性设计与创新</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44" name="矩形 43"/>
            <p:cNvSpPr/>
            <p:nvPr/>
          </p:nvSpPr>
          <p:spPr>
            <a:xfrm>
              <a:off x="0" y="522"/>
              <a:ext cx="889" cy="822"/>
            </a:xfrm>
            <a:prstGeom prst="rect">
              <a:avLst/>
            </a:prstGeom>
            <a:solidFill>
              <a:srgbClr val="4D677C"/>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05</a:t>
              </a:r>
              <a:endParaRPr lang="en-US" sz="2800" dirty="0">
                <a:solidFill>
                  <a:schemeClr val="bg1"/>
                </a:solidFill>
              </a:endParaRPr>
            </a:p>
          </p:txBody>
        </p:sp>
        <p:pic>
          <p:nvPicPr>
            <p:cNvPr id="45" name="图片 44" descr="微信图片_20200425233959"/>
            <p:cNvPicPr>
              <a:picLocks noChangeAspect="1"/>
            </p:cNvPicPr>
            <p:nvPr/>
          </p:nvPicPr>
          <p:blipFill>
            <a:blip r:embed="rId21">
              <a:clrChange>
                <a:clrFrom>
                  <a:srgbClr val="FFFFFF">
                    <a:alpha val="100000"/>
                  </a:srgbClr>
                </a:clrFrom>
                <a:clrTo>
                  <a:srgbClr val="FFFFFF">
                    <a:alpha val="100000"/>
                    <a:alpha val="0"/>
                  </a:srgbClr>
                </a:clrTo>
              </a:clrChange>
              <a:lum bright="24000" contrast="-48000"/>
            </a:blip>
            <a:srcRect r="67071" b="4474"/>
            <a:stretch>
              <a:fillRect/>
            </a:stretch>
          </p:blipFill>
          <p:spPr>
            <a:xfrm>
              <a:off x="2022" y="561"/>
              <a:ext cx="876" cy="745"/>
            </a:xfrm>
            <a:prstGeom prst="rect">
              <a:avLst/>
            </a:prstGeom>
          </p:spPr>
        </p:pic>
      </p:grpSp>
    </p:spTree>
    <p:custDataLst>
      <p:tags r:id="rId22"/>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1000"/>
                                        <p:tgtEl>
                                          <p:spTgt spid="47"/>
                                        </p:tgtEl>
                                      </p:cBhvr>
                                    </p:animEffect>
                                    <p:anim calcmode="lin" valueType="num">
                                      <p:cBhvr>
                                        <p:cTn id="28" dur="1000" fill="hold"/>
                                        <p:tgtEl>
                                          <p:spTgt spid="47"/>
                                        </p:tgtEl>
                                        <p:attrNameLst>
                                          <p:attrName>ppt_x</p:attrName>
                                        </p:attrNameLst>
                                      </p:cBhvr>
                                      <p:tavLst>
                                        <p:tav tm="0">
                                          <p:val>
                                            <p:strVal val="#ppt_x"/>
                                          </p:val>
                                        </p:tav>
                                        <p:tav tm="100000">
                                          <p:val>
                                            <p:strVal val="#ppt_x"/>
                                          </p:val>
                                        </p:tav>
                                      </p:tavLst>
                                    </p:anim>
                                    <p:anim calcmode="lin" valueType="num">
                                      <p:cBhvr>
                                        <p:cTn id="29" dur="1000" fill="hold"/>
                                        <p:tgtEl>
                                          <p:spTgt spid="4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1000"/>
                                        <p:tgtEl>
                                          <p:spTgt spid="48"/>
                                        </p:tgtEl>
                                      </p:cBhvr>
                                    </p:animEffect>
                                    <p:anim calcmode="lin" valueType="num">
                                      <p:cBhvr>
                                        <p:cTn id="33" dur="1000" fill="hold"/>
                                        <p:tgtEl>
                                          <p:spTgt spid="48"/>
                                        </p:tgtEl>
                                        <p:attrNameLst>
                                          <p:attrName>ppt_x</p:attrName>
                                        </p:attrNameLst>
                                      </p:cBhvr>
                                      <p:tavLst>
                                        <p:tav tm="0">
                                          <p:val>
                                            <p:strVal val="#ppt_x"/>
                                          </p:val>
                                        </p:tav>
                                        <p:tav tm="100000">
                                          <p:val>
                                            <p:strVal val="#ppt_x"/>
                                          </p:val>
                                        </p:tav>
                                      </p:tavLst>
                                    </p:anim>
                                    <p:anim calcmode="lin" valueType="num">
                                      <p:cBhvr>
                                        <p:cTn id="34" dur="1000" fill="hold"/>
                                        <p:tgtEl>
                                          <p:spTgt spid="4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1000"/>
                                        <p:tgtEl>
                                          <p:spTgt spid="49"/>
                                        </p:tgtEl>
                                      </p:cBhvr>
                                    </p:animEffect>
                                    <p:anim calcmode="lin" valueType="num">
                                      <p:cBhvr>
                                        <p:cTn id="38" dur="1000" fill="hold"/>
                                        <p:tgtEl>
                                          <p:spTgt spid="49"/>
                                        </p:tgtEl>
                                        <p:attrNameLst>
                                          <p:attrName>ppt_x</p:attrName>
                                        </p:attrNameLst>
                                      </p:cBhvr>
                                      <p:tavLst>
                                        <p:tav tm="0">
                                          <p:val>
                                            <p:strVal val="#ppt_x"/>
                                          </p:val>
                                        </p:tav>
                                        <p:tav tm="100000">
                                          <p:val>
                                            <p:strVal val="#ppt_x"/>
                                          </p:val>
                                        </p:tav>
                                      </p:tavLst>
                                    </p:anim>
                                    <p:anim calcmode="lin" valueType="num">
                                      <p:cBhvr>
                                        <p:cTn id="39" dur="1000" fill="hold"/>
                                        <p:tgtEl>
                                          <p:spTgt spid="4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1000"/>
                                        <p:tgtEl>
                                          <p:spTgt spid="50"/>
                                        </p:tgtEl>
                                      </p:cBhvr>
                                    </p:animEffect>
                                    <p:anim calcmode="lin" valueType="num">
                                      <p:cBhvr>
                                        <p:cTn id="43" dur="1000" fill="hold"/>
                                        <p:tgtEl>
                                          <p:spTgt spid="50"/>
                                        </p:tgtEl>
                                        <p:attrNameLst>
                                          <p:attrName>ppt_x</p:attrName>
                                        </p:attrNameLst>
                                      </p:cBhvr>
                                      <p:tavLst>
                                        <p:tav tm="0">
                                          <p:val>
                                            <p:strVal val="#ppt_x"/>
                                          </p:val>
                                        </p:tav>
                                        <p:tav tm="100000">
                                          <p:val>
                                            <p:strVal val="#ppt_x"/>
                                          </p:val>
                                        </p:tav>
                                      </p:tavLst>
                                    </p:anim>
                                    <p:anim calcmode="lin" valueType="num">
                                      <p:cBhvr>
                                        <p:cTn id="44" dur="1000" fill="hold"/>
                                        <p:tgtEl>
                                          <p:spTgt spid="5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1000"/>
                                        <p:tgtEl>
                                          <p:spTgt spid="41"/>
                                        </p:tgtEl>
                                      </p:cBhvr>
                                    </p:animEffect>
                                    <p:anim calcmode="lin" valueType="num">
                                      <p:cBhvr>
                                        <p:cTn id="48" dur="1000" fill="hold"/>
                                        <p:tgtEl>
                                          <p:spTgt spid="41"/>
                                        </p:tgtEl>
                                        <p:attrNameLst>
                                          <p:attrName>ppt_x</p:attrName>
                                        </p:attrNameLst>
                                      </p:cBhvr>
                                      <p:tavLst>
                                        <p:tav tm="0">
                                          <p:val>
                                            <p:strVal val="#ppt_x"/>
                                          </p:val>
                                        </p:tav>
                                        <p:tav tm="100000">
                                          <p:val>
                                            <p:strVal val="#ppt_x"/>
                                          </p:val>
                                        </p:tav>
                                      </p:tavLst>
                                    </p:anim>
                                    <p:anim calcmode="lin" valueType="num">
                                      <p:cBhvr>
                                        <p:cTn id="4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3" grpId="0"/>
      <p:bldP spid="47" grpId="0"/>
      <p:bldP spid="48" grpId="0"/>
      <p:bldP spid="49" grpId="0"/>
      <p:bldP spid="5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5223510" cy="537845"/>
            <a:chOff x="0" y="522"/>
            <a:chExt cx="822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矩形 6"/>
            <p:cNvSpPr/>
            <p:nvPr/>
          </p:nvSpPr>
          <p:spPr>
            <a:xfrm>
              <a:off x="2898" y="547"/>
              <a:ext cx="5328"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项目总结与个人收获</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89"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05</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pic>
        <p:nvPicPr>
          <p:cNvPr id="12" name="图片 11"/>
          <p:cNvPicPr>
            <a:picLocks noChangeAspect="1"/>
          </p:cNvPicPr>
          <p:nvPr>
            <p:custDataLst>
              <p:tags r:id="rId4"/>
            </p:custDataLst>
          </p:nvPr>
        </p:nvPicPr>
        <p:blipFill>
          <a:blip r:embed="rId2"/>
          <a:srcRect r="48620" b="-868"/>
          <a:stretch>
            <a:fillRect/>
          </a:stretch>
        </p:blipFill>
        <p:spPr>
          <a:xfrm>
            <a:off x="9662795" y="1339215"/>
            <a:ext cx="2529205" cy="4572635"/>
          </a:xfrm>
          <a:prstGeom prst="rect">
            <a:avLst/>
          </a:prstGeom>
        </p:spPr>
      </p:pic>
      <p:sp>
        <p:nvSpPr>
          <p:cNvPr id="4" name="文本框 3"/>
          <p:cNvSpPr txBox="1"/>
          <p:nvPr/>
        </p:nvSpPr>
        <p:spPr>
          <a:xfrm>
            <a:off x="2619375" y="1484630"/>
            <a:ext cx="2190750" cy="460375"/>
          </a:xfrm>
          <a:prstGeom prst="rect">
            <a:avLst/>
          </a:prstGeom>
          <a:noFill/>
        </p:spPr>
        <p:txBody>
          <a:bodyPr wrap="square" rtlCol="0">
            <a:spAutoFit/>
          </a:bodyPr>
          <a:p>
            <a:r>
              <a:rPr lang="zh-CN" altLang="en-US" sz="2400">
                <a:solidFill>
                  <a:srgbClr val="00B0F0"/>
                </a:solidFill>
              </a:rPr>
              <a:t>已实现功能</a:t>
            </a:r>
            <a:endParaRPr lang="zh-CN" altLang="en-US" sz="2400">
              <a:solidFill>
                <a:srgbClr val="00B0F0"/>
              </a:solidFill>
            </a:endParaRPr>
          </a:p>
        </p:txBody>
      </p:sp>
      <p:sp>
        <p:nvSpPr>
          <p:cNvPr id="3" name="文本框 2"/>
          <p:cNvSpPr txBox="1"/>
          <p:nvPr/>
        </p:nvSpPr>
        <p:spPr>
          <a:xfrm>
            <a:off x="1663700" y="2002155"/>
            <a:ext cx="4781550" cy="3415030"/>
          </a:xfrm>
          <a:prstGeom prst="rect">
            <a:avLst/>
          </a:prstGeom>
        </p:spPr>
        <p:txBody>
          <a:bodyPr wrap="square">
            <a:spAutoFit/>
          </a:bodyPr>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三数据库（</a:t>
            </a:r>
            <a:r>
              <a:rPr lang="en-US" altLang="zh-CN">
                <a:latin typeface="Calibri" panose="020F0502020204030204"/>
                <a:ea typeface="宋体" panose="02010600030101010101" pitchFamily="2" charset="-122"/>
              </a:rPr>
              <a:t>MySQL/PostgreSQL/SQL Server</a:t>
            </a:r>
            <a:r>
              <a:rPr lang="zh-CN" altLang="en-US">
                <a:latin typeface="Calibri" panose="020F0502020204030204"/>
                <a:ea typeface="宋体" panose="02010600030101010101" pitchFamily="2" charset="-122"/>
              </a:rPr>
              <a:t>）</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zh-CN" altLang="en-US">
                <a:latin typeface="Calibri" panose="020F0502020204030204"/>
                <a:ea typeface="宋体" panose="02010600030101010101" pitchFamily="2" charset="-122"/>
              </a:rPr>
              <a:t> </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实时同步</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独立数据源模式</a:t>
            </a:r>
            <a:r>
              <a:rPr lang="en-US" altLang="zh-CN">
                <a:latin typeface="Calibri" panose="020F0502020204030204"/>
                <a:ea typeface="宋体" panose="02010600030101010101" pitchFamily="2" charset="-122"/>
              </a:rPr>
              <a:t> + </a:t>
            </a:r>
            <a:r>
              <a:rPr lang="zh-CN" altLang="en-US">
                <a:latin typeface="Calibri" panose="020F0502020204030204"/>
                <a:ea typeface="宋体" panose="02010600030101010101" pitchFamily="2" charset="-122"/>
              </a:rPr>
              <a:t>原生</a:t>
            </a:r>
            <a:r>
              <a:rPr lang="en-US" altLang="zh-CN">
                <a:latin typeface="Calibri" panose="020F0502020204030204"/>
                <a:ea typeface="宋体" panose="02010600030101010101" pitchFamily="2" charset="-122"/>
              </a:rPr>
              <a:t>SQL</a:t>
            </a:r>
            <a:r>
              <a:rPr lang="zh-CN" altLang="en-US">
                <a:latin typeface="Calibri" panose="020F0502020204030204"/>
                <a:ea typeface="宋体" panose="02010600030101010101" pitchFamily="2" charset="-122"/>
              </a:rPr>
              <a:t>跨库操作</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冲突自动检测与邮件通知系统</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管理员手动解决冲突界面</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PC</a:t>
            </a:r>
            <a:r>
              <a:rPr lang="zh-CN" altLang="en-US">
                <a:latin typeface="Calibri" panose="020F0502020204030204"/>
                <a:ea typeface="宋体" panose="02010600030101010101" pitchFamily="2" charset="-122"/>
              </a:rPr>
              <a:t>端</a:t>
            </a:r>
            <a:r>
              <a:rPr lang="en-US" altLang="zh-CN">
                <a:latin typeface="Calibri" panose="020F0502020204030204"/>
                <a:ea typeface="宋体" panose="02010600030101010101" pitchFamily="2" charset="-122"/>
              </a:rPr>
              <a:t>+</a:t>
            </a:r>
            <a:r>
              <a:rPr lang="zh-CN" altLang="en-US">
                <a:latin typeface="Calibri" panose="020F0502020204030204"/>
                <a:ea typeface="宋体" panose="02010600030101010101" pitchFamily="2" charset="-122"/>
              </a:rPr>
              <a:t>移动端双平台可视化报表</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完整的用户权限管理体系</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en-US">
                <a:latin typeface="Calibri" panose="020F0502020204030204"/>
                <a:ea typeface="宋体" panose="02010600030101010101" pitchFamily="2" charset="-122"/>
              </a:rPr>
              <a:t>✅</a:t>
            </a: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定时同步任务调度机制</a:t>
            </a:r>
            <a:endParaRPr lang="zh-CN" altLang="en-US">
              <a:latin typeface="Calibri" panose="020F0502020204030204"/>
              <a:ea typeface="宋体" panose="02010600030101010101" pitchFamily="2" charset="-122"/>
            </a:endParaRPr>
          </a:p>
        </p:txBody>
      </p:sp>
      <p:sp>
        <p:nvSpPr>
          <p:cNvPr id="6" name="文本框 5"/>
          <p:cNvSpPr txBox="1"/>
          <p:nvPr/>
        </p:nvSpPr>
        <p:spPr>
          <a:xfrm>
            <a:off x="7940675" y="1450340"/>
            <a:ext cx="2190750" cy="460375"/>
          </a:xfrm>
          <a:prstGeom prst="rect">
            <a:avLst/>
          </a:prstGeom>
          <a:noFill/>
        </p:spPr>
        <p:txBody>
          <a:bodyPr wrap="square" rtlCol="0">
            <a:spAutoFit/>
          </a:bodyPr>
          <a:p>
            <a:r>
              <a:rPr lang="zh-CN" altLang="en-US" sz="2400">
                <a:solidFill>
                  <a:srgbClr val="00B0F0"/>
                </a:solidFill>
              </a:rPr>
              <a:t>完整技术栈</a:t>
            </a:r>
            <a:endParaRPr lang="zh-CN" altLang="en-US" sz="2400">
              <a:solidFill>
                <a:srgbClr val="00B0F0"/>
              </a:solidFill>
            </a:endParaRPr>
          </a:p>
        </p:txBody>
      </p:sp>
      <p:sp>
        <p:nvSpPr>
          <p:cNvPr id="11" name="文本框 10"/>
          <p:cNvSpPr txBox="1"/>
          <p:nvPr/>
        </p:nvSpPr>
        <p:spPr>
          <a:xfrm>
            <a:off x="6795135" y="1945005"/>
            <a:ext cx="5232400" cy="3415030"/>
          </a:xfrm>
          <a:prstGeom prst="rect">
            <a:avLst/>
          </a:prstGeom>
        </p:spPr>
        <p:txBody>
          <a:bodyPr wrap="square">
            <a:spAutoFit/>
          </a:bodyPr>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后端：</a:t>
            </a:r>
            <a:endParaRPr lang="zh-CN" altLang="en-US">
              <a:latin typeface="Calibri" panose="020F0502020204030204"/>
              <a:ea typeface="宋体" panose="02010600030101010101" pitchFamily="2" charset="-122"/>
            </a:endParaRPr>
          </a:p>
          <a:p>
            <a:pPr indent="0" algn="r" defTabSz="266700" fontAlgn="auto">
              <a:lnSpc>
                <a:spcPct val="150000"/>
              </a:lnSpc>
              <a:spcBef>
                <a:spcPct val="0"/>
              </a:spcBef>
              <a:spcAft>
                <a:spcPct val="0"/>
              </a:spcAft>
            </a:pPr>
            <a:r>
              <a:rPr lang="en-US" altLang="zh-CN">
                <a:latin typeface="Calibri" panose="020F0502020204030204"/>
                <a:ea typeface="Calibri" panose="020F0502020204030204"/>
              </a:rPr>
              <a:t>Spring Boot 3.x + Spring Security + Spring Data JPA</a:t>
            </a:r>
            <a:endParaRPr lang="en-US" altLang="zh-CN">
              <a:latin typeface="Calibri" panose="020F0502020204030204"/>
              <a:ea typeface="Calibri" panose="020F0502020204030204"/>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前端：</a:t>
            </a:r>
            <a:r>
              <a:rPr lang="en-US" altLang="zh-CN">
                <a:latin typeface="Calibri" panose="020F0502020204030204"/>
                <a:ea typeface="Calibri" panose="020F0502020204030204"/>
              </a:rPr>
              <a:t>Thymeleaf + Bootstrap 5 + Chart.js</a:t>
            </a:r>
            <a:endParaRPr lang="en-US" altLang="zh-CN">
              <a:latin typeface="Calibri" panose="020F0502020204030204"/>
              <a:ea typeface="Calibri" panose="020F0502020204030204"/>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数据库：</a:t>
            </a:r>
            <a:endParaRPr lang="zh-CN" altLang="en-US">
              <a:latin typeface="Calibri" panose="020F0502020204030204"/>
              <a:ea typeface="宋体" panose="02010600030101010101" pitchFamily="2" charset="-122"/>
            </a:endParaRPr>
          </a:p>
          <a:p>
            <a:pPr indent="0" algn="r" defTabSz="266700" fontAlgn="auto">
              <a:lnSpc>
                <a:spcPct val="150000"/>
              </a:lnSpc>
              <a:spcBef>
                <a:spcPct val="0"/>
              </a:spcBef>
              <a:spcAft>
                <a:spcPct val="0"/>
              </a:spcAft>
            </a:pPr>
            <a:r>
              <a:rPr lang="en-US" altLang="zh-CN">
                <a:latin typeface="Calibri" panose="020F0502020204030204"/>
                <a:ea typeface="Calibri" panose="020F0502020204030204"/>
              </a:rPr>
              <a:t>MySQL 8 + PostgreSQL 15 + SQL Server 2019</a:t>
            </a:r>
            <a:endParaRPr lang="en-US" altLang="zh-CN">
              <a:latin typeface="Calibri" panose="020F0502020204030204"/>
              <a:ea typeface="Calibri" panose="020F0502020204030204"/>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消息：</a:t>
            </a:r>
            <a:r>
              <a:rPr lang="en-US" altLang="zh-CN">
                <a:latin typeface="Calibri" panose="020F0502020204030204"/>
                <a:ea typeface="Calibri" panose="020F0502020204030204"/>
              </a:rPr>
              <a:t>JavaMail + Thymeleaf</a:t>
            </a:r>
            <a:r>
              <a:rPr lang="zh-CN" altLang="en-US">
                <a:latin typeface="Calibri" panose="020F0502020204030204"/>
                <a:ea typeface="宋体" panose="02010600030101010101" pitchFamily="2" charset="-122"/>
              </a:rPr>
              <a:t>邮件模板</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调度：</a:t>
            </a:r>
            <a:r>
              <a:rPr lang="en-US" altLang="zh-CN">
                <a:latin typeface="Calibri" panose="020F0502020204030204"/>
                <a:ea typeface="Calibri" panose="020F0502020204030204"/>
              </a:rPr>
              <a:t>Spring @Scheduled</a:t>
            </a:r>
            <a:r>
              <a:rPr lang="zh-CN" altLang="en-US">
                <a:latin typeface="Calibri" panose="020F0502020204030204"/>
                <a:ea typeface="宋体" panose="02010600030101010101" pitchFamily="2" charset="-122"/>
              </a:rPr>
              <a:t>定时任务</a:t>
            </a:r>
            <a:endParaRPr lang="zh-CN" altLang="en-US">
              <a:latin typeface="Calibri" panose="020F0502020204030204"/>
              <a:ea typeface="宋体" panose="02010600030101010101" pitchFamily="2" charset="-122"/>
            </a:endParaRPr>
          </a:p>
          <a:p>
            <a:pPr indent="0" algn="just" defTabSz="266700" fontAlgn="auto">
              <a:lnSpc>
                <a:spcPct val="150000"/>
              </a:lnSpc>
              <a:spcBef>
                <a:spcPct val="0"/>
              </a:spcBef>
              <a:spcAft>
                <a:spcPct val="0"/>
              </a:spcAft>
            </a:pPr>
            <a:r>
              <a:rPr lang="en-US" altLang="zh-CN">
                <a:latin typeface="Calibri" panose="020F0502020204030204"/>
                <a:ea typeface="宋体" panose="02010600030101010101" pitchFamily="2" charset="-122"/>
              </a:rPr>
              <a:t>• </a:t>
            </a:r>
            <a:r>
              <a:rPr lang="zh-CN" altLang="en-US">
                <a:latin typeface="Calibri" panose="020F0502020204030204"/>
                <a:ea typeface="宋体" panose="02010600030101010101" pitchFamily="2" charset="-122"/>
              </a:rPr>
              <a:t>工具：</a:t>
            </a:r>
            <a:r>
              <a:rPr lang="en-US" altLang="zh-CN">
                <a:latin typeface="Calibri" panose="020F0502020204030204"/>
                <a:ea typeface="Calibri" panose="020F0502020204030204"/>
              </a:rPr>
              <a:t>Maven + Git + IntelliJ IDEA</a:t>
            </a:r>
            <a:endParaRPr lang="en-US" altLang="zh-CN">
              <a:latin typeface="Calibri" panose="020F0502020204030204"/>
              <a:ea typeface="Calibri" panose="020F0502020204030204"/>
            </a:endParaRPr>
          </a:p>
        </p:txBody>
      </p:sp>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custDataLst>
              <p:tags r:id="rId1"/>
            </p:custDataLst>
          </p:nvPr>
        </p:nvPicPr>
        <p:blipFill>
          <a:blip r:embed="rId2"/>
          <a:srcRect l="46788" t="-1606" r="-37486" b="441"/>
          <a:stretch>
            <a:fillRect/>
          </a:stretch>
        </p:blipFill>
        <p:spPr>
          <a:xfrm>
            <a:off x="0" y="1450340"/>
            <a:ext cx="4464685" cy="4518660"/>
          </a:xfrm>
          <a:prstGeom prst="rect">
            <a:avLst/>
          </a:prstGeom>
        </p:spPr>
      </p:pic>
      <p:grpSp>
        <p:nvGrpSpPr>
          <p:cNvPr id="2" name="组合 1"/>
          <p:cNvGrpSpPr/>
          <p:nvPr/>
        </p:nvGrpSpPr>
        <p:grpSpPr>
          <a:xfrm>
            <a:off x="0" y="331470"/>
            <a:ext cx="5816600" cy="537845"/>
            <a:chOff x="0" y="522"/>
            <a:chExt cx="9160"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矩形 6"/>
            <p:cNvSpPr/>
            <p:nvPr/>
          </p:nvSpPr>
          <p:spPr>
            <a:xfrm>
              <a:off x="2898" y="547"/>
              <a:ext cx="6262" cy="822"/>
            </a:xfrm>
            <a:prstGeom prst="rect">
              <a:avLst/>
            </a:prstGeom>
          </p:spPr>
          <p:txBody>
            <a:bodyPr wrap="none">
              <a:spAutoFit/>
            </a:bodyPr>
            <a:lstStyle/>
            <a:p>
              <a:pPr algn="l" defTabSz="685800">
                <a:defRPr/>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项目</a:t>
              </a:r>
              <a:r>
                <a:rPr lang="en-US" altLang="zh-CN" sz="2800" b="1" dirty="0">
                  <a:solidFill>
                    <a:srgbClr val="293C54"/>
                  </a:solidFill>
                  <a:latin typeface="Arial" panose="020B0604020202020204"/>
                  <a:ea typeface="微软雅黑" panose="020B0503020204020204" charset="-122"/>
                  <a:cs typeface="Gisha" panose="020B0502040204020203" pitchFamily="34" charset="-79"/>
                  <a:sym typeface="+mn-ea"/>
                </a:rPr>
                <a:t> vs </a:t>
              </a: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评分标准对应表</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8" name="矩形 7"/>
            <p:cNvSpPr/>
            <p:nvPr/>
          </p:nvSpPr>
          <p:spPr>
            <a:xfrm>
              <a:off x="0" y="522"/>
              <a:ext cx="889"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05</a:t>
              </a:r>
              <a:endParaRPr lang="zh-CN" altLang="en-US" sz="2800" dirty="0">
                <a:solidFill>
                  <a:schemeClr val="bg1"/>
                </a:solidFill>
              </a:endParaRPr>
            </a:p>
          </p:txBody>
        </p:sp>
        <p:pic>
          <p:nvPicPr>
            <p:cNvPr id="9" name="图片 8" descr="微信图片_20200425233959"/>
            <p:cNvPicPr>
              <a:picLocks noChangeAspect="1"/>
            </p:cNvPicPr>
            <p:nvPr/>
          </p:nvPicPr>
          <p:blipFill>
            <a:blip r:embed="rId3">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pic>
        <p:nvPicPr>
          <p:cNvPr id="12" name="图片 11"/>
          <p:cNvPicPr>
            <a:picLocks noChangeAspect="1"/>
          </p:cNvPicPr>
          <p:nvPr>
            <p:custDataLst>
              <p:tags r:id="rId4"/>
            </p:custDataLst>
          </p:nvPr>
        </p:nvPicPr>
        <p:blipFill>
          <a:blip r:embed="rId2"/>
          <a:srcRect r="48620" b="-868"/>
          <a:stretch>
            <a:fillRect/>
          </a:stretch>
        </p:blipFill>
        <p:spPr>
          <a:xfrm>
            <a:off x="9662795" y="1339215"/>
            <a:ext cx="2529205" cy="4572635"/>
          </a:xfrm>
          <a:prstGeom prst="rect">
            <a:avLst/>
          </a:prstGeom>
        </p:spPr>
      </p:pic>
      <p:graphicFrame>
        <p:nvGraphicFramePr>
          <p:cNvPr id="10" name="表格 9"/>
          <p:cNvGraphicFramePr/>
          <p:nvPr/>
        </p:nvGraphicFramePr>
        <p:xfrm>
          <a:off x="6477635" y="250825"/>
          <a:ext cx="5155565" cy="6356350"/>
        </p:xfrm>
        <a:graphic>
          <a:graphicData uri="http://schemas.openxmlformats.org/drawingml/2006/table">
            <a:tbl>
              <a:tblPr/>
              <a:tblGrid>
                <a:gridCol w="1239520"/>
                <a:gridCol w="971550"/>
                <a:gridCol w="1579880"/>
                <a:gridCol w="1364615"/>
              </a:tblGrid>
              <a:tr h="673735">
                <a:tc rowSpan="4">
                  <a:txBody>
                    <a:bodyPr/>
                    <a:p>
                      <a:pPr marL="0" indent="0" algn="ctr">
                        <a:lnSpc>
                          <a:spcPts val="1250"/>
                        </a:lnSpc>
                      </a:pPr>
                      <a:r>
                        <a:rPr lang="zh-CN" altLang="en-US" sz="1400" b="1" i="0">
                          <a:solidFill>
                            <a:srgbClr val="0F1115"/>
                          </a:solidFill>
                          <a:latin typeface="宋体" panose="02010600030101010101" pitchFamily="2" charset="-122"/>
                          <a:ea typeface="宋体" panose="02010600030101010101" pitchFamily="2" charset="-122"/>
                        </a:rPr>
                        <a:t>前端交互与权限控制 </a:t>
                      </a:r>
                      <a:r>
                        <a:rPr lang="en-US" altLang="zh-CN" sz="1400" b="1" i="0">
                          <a:solidFill>
                            <a:srgbClr val="0F1115"/>
                          </a:solidFill>
                          <a:latin typeface="宋体" panose="02010600030101010101" pitchFamily="2" charset="-122"/>
                          <a:ea typeface="宋体" panose="02010600030101010101" pitchFamily="2" charset="-122"/>
                        </a:rPr>
                        <a:t>(6</a:t>
                      </a:r>
                      <a:r>
                        <a:rPr lang="zh-CN" altLang="en-US" sz="1400" b="1" i="0">
                          <a:solidFill>
                            <a:srgbClr val="0F1115"/>
                          </a:solidFill>
                          <a:latin typeface="宋体" panose="02010600030101010101" pitchFamily="2" charset="-122"/>
                          <a:ea typeface="宋体" panose="02010600030101010101" pitchFamily="2" charset="-122"/>
                        </a:rPr>
                        <a:t>分</a:t>
                      </a:r>
                      <a:r>
                        <a:rPr lang="en-US" altLang="zh-CN" sz="1400" b="1" i="0">
                          <a:solidFill>
                            <a:srgbClr val="0F1115"/>
                          </a:solidFill>
                          <a:latin typeface="宋体" panose="02010600030101010101" pitchFamily="2" charset="-122"/>
                          <a:ea typeface="宋体" panose="02010600030101010101" pitchFamily="2" charset="-122"/>
                        </a:rPr>
                        <a:t>)</a:t>
                      </a:r>
                      <a:endParaRPr lang="en-US" altLang="zh-CN" sz="1400" b="1"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txBody>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完整的前端交互功能</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Thymeleaf+Bootstrap 5</a:t>
                      </a:r>
                      <a:r>
                        <a:rPr lang="zh-CN" altLang="en-US" sz="1000" b="1" i="0">
                          <a:solidFill>
                            <a:srgbClr val="0F1115"/>
                          </a:solidFill>
                          <a:latin typeface="宋体" panose="02010600030101010101" pitchFamily="2" charset="-122"/>
                          <a:ea typeface="宋体" panose="02010600030101010101" pitchFamily="2" charset="-122"/>
                        </a:rPr>
                        <a:t>，完整</a:t>
                      </a:r>
                      <a:r>
                        <a:rPr lang="en-US" altLang="zh-CN" sz="1000" b="1" i="0">
                          <a:solidFill>
                            <a:srgbClr val="0F1115"/>
                          </a:solidFill>
                          <a:latin typeface="宋体" panose="02010600030101010101" pitchFamily="2" charset="-122"/>
                          <a:ea typeface="宋体" panose="02010600030101010101" pitchFamily="2" charset="-122"/>
                        </a:rPr>
                        <a:t>CRUD</a:t>
                      </a:r>
                      <a:r>
                        <a:rPr lang="zh-CN" altLang="en-US" sz="1000" b="1" i="0">
                          <a:solidFill>
                            <a:srgbClr val="0F1115"/>
                          </a:solidFill>
                          <a:latin typeface="宋体" panose="02010600030101010101" pitchFamily="2" charset="-122"/>
                          <a:ea typeface="宋体" panose="02010600030101010101" pitchFamily="2" charset="-122"/>
                        </a:rPr>
                        <a:t>操作</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BookController</a:t>
                      </a:r>
                      <a:r>
                        <a:rPr lang="zh-CN" altLang="en-US" sz="1000" b="1" i="0">
                          <a:solidFill>
                            <a:srgbClr val="0F1115"/>
                          </a:solidFill>
                          <a:latin typeface="宋体" panose="02010600030101010101" pitchFamily="2" charset="-122"/>
                          <a:ea typeface="宋体" panose="02010600030101010101" pitchFamily="2" charset="-122"/>
                        </a:rPr>
                        <a:t>、前端页面</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965200">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角色权限控制机制</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三角色：系统管理员</a:t>
                      </a:r>
                      <a:r>
                        <a:rPr lang="en-US" altLang="zh-CN" sz="1000" b="1" i="0">
                          <a:solidFill>
                            <a:srgbClr val="0F1115"/>
                          </a:solidFill>
                          <a:latin typeface="宋体" panose="02010600030101010101" pitchFamily="2" charset="-122"/>
                          <a:ea typeface="宋体" panose="02010600030101010101" pitchFamily="2" charset="-122"/>
                        </a:rPr>
                        <a:t>(SYS_ADMIN)</a:t>
                      </a:r>
                      <a:r>
                        <a:rPr lang="zh-CN" altLang="en-US" sz="1000" b="1" i="0">
                          <a:solidFill>
                            <a:srgbClr val="0F1115"/>
                          </a:solidFill>
                          <a:latin typeface="宋体" panose="02010600030101010101" pitchFamily="2" charset="-122"/>
                          <a:ea typeface="宋体" panose="02010600030101010101" pitchFamily="2" charset="-122"/>
                        </a:rPr>
                        <a:t>、分馆管理员</a:t>
                      </a:r>
                      <a:r>
                        <a:rPr lang="en-US" altLang="zh-CN" sz="1000" b="1" i="0">
                          <a:solidFill>
                            <a:srgbClr val="0F1115"/>
                          </a:solidFill>
                          <a:latin typeface="宋体" panose="02010600030101010101" pitchFamily="2" charset="-122"/>
                          <a:ea typeface="宋体" panose="02010600030101010101" pitchFamily="2" charset="-122"/>
                        </a:rPr>
                        <a:t>(LIB_ADMIN)</a:t>
                      </a:r>
                      <a:r>
                        <a:rPr lang="zh-CN" altLang="en-US" sz="1000" b="1" i="0">
                          <a:solidFill>
                            <a:srgbClr val="0F1115"/>
                          </a:solidFill>
                          <a:latin typeface="宋体" panose="02010600030101010101" pitchFamily="2" charset="-122"/>
                          <a:ea typeface="宋体" panose="02010600030101010101" pitchFamily="2" charset="-122"/>
                        </a:rPr>
                        <a:t>、读者</a:t>
                      </a:r>
                      <a:r>
                        <a:rPr lang="en-US" altLang="zh-CN" sz="1000" b="1" i="0">
                          <a:solidFill>
                            <a:srgbClr val="0F1115"/>
                          </a:solidFill>
                          <a:latin typeface="宋体" panose="02010600030101010101" pitchFamily="2" charset="-122"/>
                          <a:ea typeface="宋体" panose="02010600030101010101" pitchFamily="2" charset="-122"/>
                        </a:rPr>
                        <a:t>(READER)</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SecurityConfig</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@PreAuthorize</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673735">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权限区分合理</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读者：仅查询；馆员：管理图书；管理员：全权限</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权限矩阵表</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497205">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数据验证机制完善</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@Valid</a:t>
                      </a:r>
                      <a:r>
                        <a:rPr lang="zh-CN" altLang="en-US" sz="1000" b="1" i="0">
                          <a:solidFill>
                            <a:srgbClr val="0F1115"/>
                          </a:solidFill>
                          <a:latin typeface="宋体" panose="02010600030101010101" pitchFamily="2" charset="-122"/>
                          <a:ea typeface="宋体" panose="02010600030101010101" pitchFamily="2" charset="-122"/>
                        </a:rPr>
                        <a:t>注解</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前端</a:t>
                      </a:r>
                      <a:r>
                        <a:rPr lang="en-US" altLang="zh-CN" sz="1000" b="1" i="0">
                          <a:solidFill>
                            <a:srgbClr val="0F1115"/>
                          </a:solidFill>
                          <a:latin typeface="宋体" panose="02010600030101010101" pitchFamily="2" charset="-122"/>
                          <a:ea typeface="宋体" panose="02010600030101010101" pitchFamily="2" charset="-122"/>
                        </a:rPr>
                        <a:t>JS</a:t>
                      </a:r>
                      <a:r>
                        <a:rPr lang="zh-CN" altLang="en-US" sz="1000" b="1" i="0">
                          <a:solidFill>
                            <a:srgbClr val="0F1115"/>
                          </a:solidFill>
                          <a:latin typeface="宋体" panose="02010600030101010101" pitchFamily="2" charset="-122"/>
                          <a:ea typeface="宋体" panose="02010600030101010101" pitchFamily="2" charset="-122"/>
                        </a:rPr>
                        <a:t>验证</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数据库约束</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Book</a:t>
                      </a:r>
                      <a:r>
                        <a:rPr lang="zh-CN" altLang="en-US" sz="1000" b="1" i="0">
                          <a:solidFill>
                            <a:srgbClr val="0F1115"/>
                          </a:solidFill>
                          <a:latin typeface="宋体" panose="02010600030101010101" pitchFamily="2" charset="-122"/>
                          <a:ea typeface="宋体" panose="02010600030101010101" pitchFamily="2" charset="-122"/>
                        </a:rPr>
                        <a:t>实体注解、前端</a:t>
                      </a:r>
                      <a:r>
                        <a:rPr lang="en-US" altLang="zh-CN" sz="1000" b="1" i="0">
                          <a:solidFill>
                            <a:srgbClr val="0F1115"/>
                          </a:solidFill>
                          <a:latin typeface="宋体" panose="02010600030101010101" pitchFamily="2" charset="-122"/>
                          <a:ea typeface="宋体" panose="02010600030101010101" pitchFamily="2" charset="-122"/>
                        </a:rPr>
                        <a:t>JS</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673735">
                <a:tc rowSpan="3">
                  <a:txBody>
                    <a:bodyPr/>
                    <a:p>
                      <a:pPr marL="0" indent="0" algn="ctr">
                        <a:lnSpc>
                          <a:spcPts val="1250"/>
                        </a:lnSpc>
                      </a:pPr>
                      <a:r>
                        <a:rPr lang="zh-CN" altLang="en-US" sz="1400" b="1" i="0">
                          <a:solidFill>
                            <a:srgbClr val="0F1115"/>
                          </a:solidFill>
                          <a:latin typeface="宋体" panose="02010600030101010101" pitchFamily="2" charset="-122"/>
                          <a:ea typeface="宋体" panose="02010600030101010101" pitchFamily="2" charset="-122"/>
                        </a:rPr>
                        <a:t>报表与数据管理功能 </a:t>
                      </a:r>
                      <a:r>
                        <a:rPr lang="en-US" altLang="zh-CN" sz="1400" b="1" i="0">
                          <a:solidFill>
                            <a:srgbClr val="0F1115"/>
                          </a:solidFill>
                          <a:latin typeface="宋体" panose="02010600030101010101" pitchFamily="2" charset="-122"/>
                          <a:ea typeface="宋体" panose="02010600030101010101" pitchFamily="2" charset="-122"/>
                        </a:rPr>
                        <a:t>(4</a:t>
                      </a:r>
                      <a:r>
                        <a:rPr lang="zh-CN" altLang="en-US" sz="1400" b="1" i="0">
                          <a:solidFill>
                            <a:srgbClr val="0F1115"/>
                          </a:solidFill>
                          <a:latin typeface="宋体" panose="02010600030101010101" pitchFamily="2" charset="-122"/>
                          <a:ea typeface="宋体" panose="02010600030101010101" pitchFamily="2" charset="-122"/>
                        </a:rPr>
                        <a:t>分</a:t>
                      </a:r>
                      <a:r>
                        <a:rPr lang="en-US" altLang="zh-CN" sz="1400" b="1" i="0">
                          <a:solidFill>
                            <a:srgbClr val="0F1115"/>
                          </a:solidFill>
                          <a:latin typeface="宋体" panose="02010600030101010101" pitchFamily="2" charset="-122"/>
                          <a:ea typeface="宋体" panose="02010600030101010101" pitchFamily="2" charset="-122"/>
                        </a:rPr>
                        <a:t>)</a:t>
                      </a:r>
                      <a:endParaRPr lang="en-US" altLang="zh-CN" sz="1400" b="1"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txBody>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数据增删改查、多条件检索</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图书管理页面支持多字段搜索、分页</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BookController.search()</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673735">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支持复杂</a:t>
                      </a:r>
                      <a:r>
                        <a:rPr lang="en-US" altLang="zh-CN" sz="1000" b="1" i="0">
                          <a:solidFill>
                            <a:srgbClr val="0F1115"/>
                          </a:solidFill>
                          <a:latin typeface="宋体" panose="02010600030101010101" pitchFamily="2" charset="-122"/>
                          <a:ea typeface="宋体" panose="02010600030101010101" pitchFamily="2" charset="-122"/>
                        </a:rPr>
                        <a:t>SQL</a:t>
                      </a:r>
                      <a:r>
                        <a:rPr lang="zh-CN" altLang="en-US" sz="1000" b="1" i="0">
                          <a:solidFill>
                            <a:srgbClr val="0F1115"/>
                          </a:solidFill>
                          <a:latin typeface="宋体" panose="02010600030101010101" pitchFamily="2" charset="-122"/>
                          <a:ea typeface="宋体" panose="02010600030101010101" pitchFamily="2" charset="-122"/>
                        </a:rPr>
                        <a:t>查询优化</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多表连接、子查询、聚合查询</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BookRepository</a:t>
                      </a:r>
                      <a:r>
                        <a:rPr lang="zh-CN" altLang="en-US" sz="1000" b="1" i="0">
                          <a:solidFill>
                            <a:srgbClr val="0F1115"/>
                          </a:solidFill>
                          <a:latin typeface="宋体" panose="02010600030101010101" pitchFamily="2" charset="-122"/>
                          <a:ea typeface="宋体" panose="02010600030101010101" pitchFamily="2" charset="-122"/>
                        </a:rPr>
                        <a:t>复杂查询方法</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673735">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移动端同步统计与异常报表</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响应式设计</a:t>
                      </a:r>
                      <a:r>
                        <a:rPr lang="en-US" altLang="zh-CN" sz="1000" b="1" i="0">
                          <a:solidFill>
                            <a:srgbClr val="0F1115"/>
                          </a:solidFill>
                          <a:latin typeface="宋体" panose="02010600030101010101" pitchFamily="2" charset="-122"/>
                          <a:ea typeface="宋体" panose="02010600030101010101" pitchFamily="2" charset="-122"/>
                        </a:rPr>
                        <a:t>+Chart.js</a:t>
                      </a:r>
                      <a:r>
                        <a:rPr lang="zh-CN" altLang="en-US" sz="1000" b="1" i="0">
                          <a:solidFill>
                            <a:srgbClr val="0F1115"/>
                          </a:solidFill>
                          <a:latin typeface="宋体" panose="02010600030101010101" pitchFamily="2" charset="-122"/>
                          <a:ea typeface="宋体" panose="02010600030101010101" pitchFamily="2" charset="-122"/>
                        </a:rPr>
                        <a:t>，移动端适配</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ReportController</a:t>
                      </a:r>
                      <a:r>
                        <a:rPr lang="zh-CN" altLang="en-US" sz="1000" b="1" i="0">
                          <a:solidFill>
                            <a:srgbClr val="0F1115"/>
                          </a:solidFill>
                          <a:latin typeface="宋体" panose="02010600030101010101" pitchFamily="2" charset="-122"/>
                          <a:ea typeface="宋体" panose="02010600030101010101" pitchFamily="2" charset="-122"/>
                        </a:rPr>
                        <a:t>、移动端</a:t>
                      </a:r>
                      <a:r>
                        <a:rPr lang="en-US" altLang="zh-CN" sz="1000" b="1" i="0">
                          <a:solidFill>
                            <a:srgbClr val="0F1115"/>
                          </a:solidFill>
                          <a:latin typeface="宋体" panose="02010600030101010101" pitchFamily="2" charset="-122"/>
                          <a:ea typeface="宋体" panose="02010600030101010101" pitchFamily="2" charset="-122"/>
                        </a:rPr>
                        <a:t>CSS</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673735">
                <a:tc rowSpan="2">
                  <a:txBody>
                    <a:bodyPr/>
                    <a:p>
                      <a:pPr marL="0" indent="0" algn="ctr">
                        <a:lnSpc>
                          <a:spcPts val="1250"/>
                        </a:lnSpc>
                      </a:pPr>
                      <a:r>
                        <a:rPr lang="zh-CN" altLang="en-US" sz="1400" b="1" i="0">
                          <a:solidFill>
                            <a:srgbClr val="0F1115"/>
                          </a:solidFill>
                          <a:latin typeface="宋体" panose="02010600030101010101" pitchFamily="2" charset="-122"/>
                          <a:ea typeface="宋体" panose="02010600030101010101" pitchFamily="2" charset="-122"/>
                        </a:rPr>
                        <a:t>代码规范与稳定性 </a:t>
                      </a:r>
                      <a:r>
                        <a:rPr lang="en-US" altLang="zh-CN" sz="1400" b="1" i="0">
                          <a:solidFill>
                            <a:srgbClr val="0F1115"/>
                          </a:solidFill>
                          <a:latin typeface="宋体" panose="02010600030101010101" pitchFamily="2" charset="-122"/>
                          <a:ea typeface="宋体" panose="02010600030101010101" pitchFamily="2" charset="-122"/>
                        </a:rPr>
                        <a:t>(2</a:t>
                      </a:r>
                      <a:r>
                        <a:rPr lang="zh-CN" altLang="en-US" sz="1400" b="1" i="0">
                          <a:solidFill>
                            <a:srgbClr val="0F1115"/>
                          </a:solidFill>
                          <a:latin typeface="宋体" panose="02010600030101010101" pitchFamily="2" charset="-122"/>
                          <a:ea typeface="宋体" panose="02010600030101010101" pitchFamily="2" charset="-122"/>
                        </a:rPr>
                        <a:t>分</a:t>
                      </a:r>
                      <a:r>
                        <a:rPr lang="en-US" altLang="zh-CN" sz="1400" b="1" i="0">
                          <a:solidFill>
                            <a:srgbClr val="0F1115"/>
                          </a:solidFill>
                          <a:latin typeface="宋体" panose="02010600030101010101" pitchFamily="2" charset="-122"/>
                          <a:ea typeface="宋体" panose="02010600030101010101" pitchFamily="2" charset="-122"/>
                        </a:rPr>
                        <a:t>)</a:t>
                      </a:r>
                      <a:endParaRPr lang="en-US" altLang="zh-CN" sz="1400" b="1"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txBody>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源代码结构清晰、注释详细</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符合</a:t>
                      </a:r>
                      <a:r>
                        <a:rPr lang="en-US" altLang="zh-CN" sz="1000" b="1" i="0">
                          <a:solidFill>
                            <a:srgbClr val="0F1115"/>
                          </a:solidFill>
                          <a:latin typeface="宋体" panose="02010600030101010101" pitchFamily="2" charset="-122"/>
                          <a:ea typeface="宋体" panose="02010600030101010101" pitchFamily="2" charset="-122"/>
                        </a:rPr>
                        <a:t>Google</a:t>
                      </a:r>
                      <a:r>
                        <a:rPr lang="zh-CN" altLang="en-US" sz="1000" b="1" i="0">
                          <a:solidFill>
                            <a:srgbClr val="0F1115"/>
                          </a:solidFill>
                          <a:latin typeface="宋体" panose="02010600030101010101" pitchFamily="2" charset="-122"/>
                          <a:ea typeface="宋体" panose="02010600030101010101" pitchFamily="2" charset="-122"/>
                        </a:rPr>
                        <a:t>代码规范，关键方法有注释</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所有</a:t>
                      </a:r>
                      <a:r>
                        <a:rPr lang="en-US" altLang="zh-CN" sz="1000" b="1" i="0">
                          <a:solidFill>
                            <a:srgbClr val="0F1115"/>
                          </a:solidFill>
                          <a:latin typeface="宋体" panose="02010600030101010101" pitchFamily="2" charset="-122"/>
                          <a:ea typeface="宋体" panose="02010600030101010101" pitchFamily="2" charset="-122"/>
                        </a:rPr>
                        <a:t>Java</a:t>
                      </a:r>
                      <a:r>
                        <a:rPr lang="zh-CN" altLang="en-US" sz="1000" b="1" i="0">
                          <a:solidFill>
                            <a:srgbClr val="0F1115"/>
                          </a:solidFill>
                          <a:latin typeface="宋体" panose="02010600030101010101" pitchFamily="2" charset="-122"/>
                          <a:ea typeface="宋体" panose="02010600030101010101" pitchFamily="2" charset="-122"/>
                        </a:rPr>
                        <a:t>文件</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851535">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系统运行稳定、错误处理完善</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全局异常处理</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事务回滚</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日志记录</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GlobalExceptionHandler</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@Transactional</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bl>
          </a:graphicData>
        </a:graphic>
      </p:graphicFrame>
      <p:graphicFrame>
        <p:nvGraphicFramePr>
          <p:cNvPr id="14" name="表格 13"/>
          <p:cNvGraphicFramePr/>
          <p:nvPr/>
        </p:nvGraphicFramePr>
        <p:xfrm>
          <a:off x="940435" y="1282700"/>
          <a:ext cx="5155565" cy="4406265"/>
        </p:xfrm>
        <a:graphic>
          <a:graphicData uri="http://schemas.openxmlformats.org/drawingml/2006/table">
            <a:tbl>
              <a:tblPr/>
              <a:tblGrid>
                <a:gridCol w="1004570"/>
                <a:gridCol w="1085850"/>
                <a:gridCol w="1662430"/>
                <a:gridCol w="1402715"/>
              </a:tblGrid>
              <a:tr h="581660">
                <a:tc>
                  <a:txBody>
                    <a:bodyPr/>
                    <a:p>
                      <a:pPr marL="0" indent="0" algn="ctr">
                        <a:lnSpc>
                          <a:spcPts val="1250"/>
                        </a:lnSpc>
                        <a:spcBef>
                          <a:spcPct val="0"/>
                        </a:spcBef>
                        <a:spcAft>
                          <a:spcPct val="0"/>
                        </a:spcAft>
                      </a:pPr>
                      <a:r>
                        <a:rPr lang="zh-CN" altLang="en-US" sz="1600" b="1" i="0">
                          <a:solidFill>
                            <a:srgbClr val="0F1115"/>
                          </a:solidFill>
                          <a:latin typeface="宋体" panose="02010600030101010101" pitchFamily="2" charset="-122"/>
                          <a:ea typeface="宋体" panose="02010600030101010101" pitchFamily="2" charset="-122"/>
                        </a:rPr>
                        <a:t>评分大项</a:t>
                      </a:r>
                      <a:endParaRPr lang="zh-CN" altLang="en-US" sz="1600" b="1" i="0">
                        <a:solidFill>
                          <a:srgbClr val="0F1115"/>
                        </a:solidFill>
                        <a:latin typeface="宋体" panose="02010600030101010101" pitchFamily="2" charset="-122"/>
                        <a:ea typeface="宋体" panose="02010600030101010101" pitchFamily="2" charset="-122"/>
                      </a:endParaRPr>
                    </a:p>
                  </a:txBody>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600" b="1" i="0">
                          <a:solidFill>
                            <a:srgbClr val="0F1115"/>
                          </a:solidFill>
                          <a:latin typeface="宋体" panose="02010600030101010101" pitchFamily="2" charset="-122"/>
                          <a:ea typeface="宋体" panose="02010600030101010101" pitchFamily="2" charset="-122"/>
                        </a:rPr>
                        <a:t>评分细项</a:t>
                      </a:r>
                      <a:endParaRPr lang="zh-CN" altLang="en-US" sz="16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600" b="1" i="0">
                          <a:solidFill>
                            <a:srgbClr val="0F1115"/>
                          </a:solidFill>
                          <a:latin typeface="宋体" panose="02010600030101010101" pitchFamily="2" charset="-122"/>
                          <a:ea typeface="宋体" panose="02010600030101010101" pitchFamily="2" charset="-122"/>
                        </a:rPr>
                        <a:t>本项目实现情况</a:t>
                      </a:r>
                      <a:endParaRPr lang="zh-CN" altLang="en-US" sz="16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600" b="1" i="0">
                          <a:solidFill>
                            <a:srgbClr val="0F1115"/>
                          </a:solidFill>
                          <a:latin typeface="宋体" panose="02010600030101010101" pitchFamily="2" charset="-122"/>
                          <a:ea typeface="宋体" panose="02010600030101010101" pitchFamily="2" charset="-122"/>
                        </a:rPr>
                        <a:t>技术实现位置</a:t>
                      </a:r>
                      <a:endParaRPr lang="zh-CN" altLang="en-US" sz="16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798830">
                <a:tc rowSpan="4">
                  <a:txBody>
                    <a:bodyPr/>
                    <a:p>
                      <a:pPr marL="0" indent="0" algn="ctr">
                        <a:lnSpc>
                          <a:spcPts val="1250"/>
                        </a:lnSpc>
                      </a:pPr>
                      <a:r>
                        <a:rPr lang="zh-CN" altLang="en-US" sz="1400" b="1" i="0">
                          <a:solidFill>
                            <a:srgbClr val="0F1115"/>
                          </a:solidFill>
                          <a:latin typeface="宋体" panose="02010600030101010101" pitchFamily="2" charset="-122"/>
                          <a:ea typeface="宋体" panose="02010600030101010101" pitchFamily="2" charset="-122"/>
                        </a:rPr>
                        <a:t>多数据库设计与同步实现 </a:t>
                      </a:r>
                      <a:r>
                        <a:rPr lang="en-US" altLang="zh-CN" sz="1400" b="1" i="0">
                          <a:solidFill>
                            <a:srgbClr val="0F1115"/>
                          </a:solidFill>
                          <a:latin typeface="宋体" panose="02010600030101010101" pitchFamily="2" charset="-122"/>
                          <a:ea typeface="宋体" panose="02010600030101010101" pitchFamily="2" charset="-122"/>
                        </a:rPr>
                        <a:t>(8</a:t>
                      </a:r>
                      <a:r>
                        <a:rPr lang="zh-CN" altLang="en-US" sz="1400" b="1" i="0">
                          <a:solidFill>
                            <a:srgbClr val="0F1115"/>
                          </a:solidFill>
                          <a:latin typeface="宋体" panose="02010600030101010101" pitchFamily="2" charset="-122"/>
                          <a:ea typeface="宋体" panose="02010600030101010101" pitchFamily="2" charset="-122"/>
                        </a:rPr>
                        <a:t>分</a:t>
                      </a:r>
                      <a:r>
                        <a:rPr lang="en-US" altLang="zh-CN" sz="1400" b="1" i="0">
                          <a:solidFill>
                            <a:srgbClr val="0F1115"/>
                          </a:solidFill>
                          <a:latin typeface="宋体" panose="02010600030101010101" pitchFamily="2" charset="-122"/>
                          <a:ea typeface="宋体" panose="02010600030101010101" pitchFamily="2" charset="-122"/>
                        </a:rPr>
                        <a:t>)</a:t>
                      </a:r>
                      <a:endParaRPr lang="en-US" altLang="zh-CN" sz="1400" b="1"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1400" i="0">
                          <a:solidFill>
                            <a:srgbClr val="0F1115"/>
                          </a:solidFill>
                          <a:latin typeface="宋体" panose="02010600030101010101" pitchFamily="2" charset="-122"/>
                          <a:ea typeface="宋体" panose="02010600030101010101" pitchFamily="2" charset="-122"/>
                        </a:rPr>
                        <a:t> </a:t>
                      </a:r>
                      <a:endParaRPr lang="en-US" altLang="zh-CN" sz="1400" i="0">
                        <a:solidFill>
                          <a:srgbClr val="0F1115"/>
                        </a:solidFill>
                        <a:latin typeface="宋体" panose="02010600030101010101" pitchFamily="2" charset="-122"/>
                        <a:ea typeface="宋体" panose="02010600030101010101" pitchFamily="2" charset="-122"/>
                      </a:endParaRPr>
                    </a:p>
                  </a:txBody>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支持不少于三种数据库</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MySQL 8.0 + PostgreSQL 15 + SQL Server 2019</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DataSourceConfig</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MultiDatabaseService</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1218565">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表结构一致（</a:t>
                      </a:r>
                      <a:r>
                        <a:rPr lang="en-US" altLang="zh-CN" sz="1000" b="1" i="0">
                          <a:solidFill>
                            <a:srgbClr val="0F1115"/>
                          </a:solidFill>
                          <a:latin typeface="宋体" panose="02010600030101010101" pitchFamily="2" charset="-122"/>
                          <a:ea typeface="宋体" panose="02010600030101010101" pitchFamily="2" charset="-122"/>
                        </a:rPr>
                        <a:t>≥5</a:t>
                      </a:r>
                      <a:r>
                        <a:rPr lang="zh-CN" altLang="en-US" sz="1000" b="1" i="0">
                          <a:solidFill>
                            <a:srgbClr val="0F1115"/>
                          </a:solidFill>
                          <a:latin typeface="宋体" panose="02010600030101010101" pitchFamily="2" charset="-122"/>
                          <a:ea typeface="宋体" panose="02010600030101010101" pitchFamily="2" charset="-122"/>
                        </a:rPr>
                        <a:t>张表）</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books</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book_copies</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borrow_records</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users</a:t>
                      </a:r>
                      <a:r>
                        <a:rPr lang="zh-CN" altLang="en-US" sz="1000" b="1" i="0">
                          <a:solidFill>
                            <a:srgbClr val="0F1115"/>
                          </a:solidFill>
                          <a:latin typeface="宋体" panose="02010600030101010101" pitchFamily="2" charset="-122"/>
                          <a:ea typeface="宋体" panose="02010600030101010101" pitchFamily="2" charset="-122"/>
                        </a:rPr>
                        <a:t>、</a:t>
                      </a:r>
                      <a:r>
                        <a:rPr lang="en-US" altLang="zh-CN" sz="1000" b="1" i="0">
                          <a:solidFill>
                            <a:srgbClr val="0F1115"/>
                          </a:solidFill>
                          <a:latin typeface="宋体" panose="02010600030101010101" pitchFamily="2" charset="-122"/>
                          <a:ea typeface="宋体" panose="02010600030101010101" pitchFamily="2" charset="-122"/>
                        </a:rPr>
                        <a:t>sync_logs</a:t>
                      </a:r>
                      <a:r>
                        <a:rPr lang="zh-CN" altLang="en-US" sz="1000" b="1" i="0">
                          <a:solidFill>
                            <a:srgbClr val="0F1115"/>
                          </a:solidFill>
                          <a:latin typeface="宋体" panose="02010600030101010101" pitchFamily="2" charset="-122"/>
                          <a:ea typeface="宋体" panose="02010600030101010101" pitchFamily="2" charset="-122"/>
                        </a:rPr>
                        <a:t>等</a:t>
                      </a:r>
                      <a:r>
                        <a:rPr lang="en-US" altLang="zh-CN" sz="1000" b="1" i="0">
                          <a:solidFill>
                            <a:srgbClr val="0F1115"/>
                          </a:solidFill>
                          <a:latin typeface="宋体" panose="02010600030101010101" pitchFamily="2" charset="-122"/>
                          <a:ea typeface="宋体" panose="02010600030101010101" pitchFamily="2" charset="-122"/>
                        </a:rPr>
                        <a:t>7</a:t>
                      </a:r>
                      <a:r>
                        <a:rPr lang="zh-CN" altLang="en-US" sz="1000" b="1" i="0">
                          <a:solidFill>
                            <a:srgbClr val="0F1115"/>
                          </a:solidFill>
                          <a:latin typeface="宋体" panose="02010600030101010101" pitchFamily="2" charset="-122"/>
                          <a:ea typeface="宋体" panose="02010600030101010101" pitchFamily="2" charset="-122"/>
                        </a:rPr>
                        <a:t>张表</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数据库设计文档</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798830">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跨库数据同步</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实时同步（增删改）</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定时任务（</a:t>
                      </a:r>
                      <a:r>
                        <a:rPr lang="en-US" altLang="zh-CN" sz="1000" b="1" i="0">
                          <a:solidFill>
                            <a:srgbClr val="0F1115"/>
                          </a:solidFill>
                          <a:latin typeface="宋体" panose="02010600030101010101" pitchFamily="2" charset="-122"/>
                          <a:ea typeface="宋体" panose="02010600030101010101" pitchFamily="2" charset="-122"/>
                        </a:rPr>
                        <a:t>@Scheduled</a:t>
                      </a:r>
                      <a:r>
                        <a:rPr lang="zh-CN" altLang="en-US" sz="1000" b="1" i="0">
                          <a:solidFill>
                            <a:srgbClr val="0F1115"/>
                          </a:solidFill>
                          <a:latin typeface="宋体" panose="02010600030101010101" pitchFamily="2" charset="-122"/>
                          <a:ea typeface="宋体" panose="02010600030101010101" pitchFamily="2" charset="-122"/>
                        </a:rPr>
                        <a:t>）</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MultiDatabaseService.insertOrUpdateBookToAllDatabases()</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r h="1008380">
                <a:tc vMerge="1">
                  <a:tcPr marL="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zh-CN" altLang="en-US" sz="1000" b="1" i="0">
                          <a:solidFill>
                            <a:srgbClr val="0F1115"/>
                          </a:solidFill>
                          <a:latin typeface="宋体" panose="02010600030101010101" pitchFamily="2" charset="-122"/>
                          <a:ea typeface="宋体" panose="02010600030101010101" pitchFamily="2" charset="-122"/>
                        </a:rPr>
                        <a:t>同步逻辑正确，冲突处理完整</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 </a:t>
                      </a:r>
                      <a:r>
                        <a:rPr lang="zh-CN" altLang="en-US" sz="1000" b="1" i="0">
                          <a:solidFill>
                            <a:srgbClr val="0F1115"/>
                          </a:solidFill>
                          <a:latin typeface="宋体" panose="02010600030101010101" pitchFamily="2" charset="-122"/>
                          <a:ea typeface="宋体" panose="02010600030101010101" pitchFamily="2" charset="-122"/>
                        </a:rPr>
                        <a:t>自动检测</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邮件通知</a:t>
                      </a:r>
                      <a:r>
                        <a:rPr lang="en-US" altLang="zh-CN" sz="1000" b="1" i="0">
                          <a:solidFill>
                            <a:srgbClr val="0F1115"/>
                          </a:solidFill>
                          <a:latin typeface="宋体" panose="02010600030101010101" pitchFamily="2" charset="-122"/>
                          <a:ea typeface="宋体" panose="02010600030101010101" pitchFamily="2" charset="-122"/>
                        </a:rPr>
                        <a:t>+</a:t>
                      </a:r>
                      <a:r>
                        <a:rPr lang="zh-CN" altLang="en-US" sz="1000" b="1" i="0">
                          <a:solidFill>
                            <a:srgbClr val="0F1115"/>
                          </a:solidFill>
                          <a:latin typeface="宋体" panose="02010600030101010101" pitchFamily="2" charset="-122"/>
                          <a:ea typeface="宋体" panose="02010600030101010101" pitchFamily="2" charset="-122"/>
                        </a:rPr>
                        <a:t>手动解决</a:t>
                      </a:r>
                      <a:endParaRPr lang="zh-CN" altLang="en-US"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a:txBody>
                    <a:bodyPr/>
                    <a:p>
                      <a:pPr marL="0" indent="0" algn="ctr">
                        <a:lnSpc>
                          <a:spcPts val="1250"/>
                        </a:lnSpc>
                        <a:spcBef>
                          <a:spcPct val="0"/>
                        </a:spcBef>
                        <a:spcAft>
                          <a:spcPct val="0"/>
                        </a:spcAft>
                      </a:pPr>
                      <a:r>
                        <a:rPr lang="en-US" altLang="zh-CN" sz="1000" b="1" i="0">
                          <a:solidFill>
                            <a:srgbClr val="0F1115"/>
                          </a:solidFill>
                          <a:latin typeface="宋体" panose="02010600030101010101" pitchFamily="2" charset="-122"/>
                          <a:ea typeface="宋体" panose="02010600030101010101" pitchFamily="2" charset="-122"/>
                        </a:rPr>
                        <a:t>detectAllConflicts() + resolveDataConflict()</a:t>
                      </a:r>
                      <a:endParaRPr lang="en-US" altLang="zh-CN" sz="1000" b="1" i="0">
                        <a:solidFill>
                          <a:srgbClr val="0F1115"/>
                        </a:solidFill>
                        <a:latin typeface="宋体" panose="02010600030101010101" pitchFamily="2" charset="-122"/>
                        <a:ea typeface="宋体" panose="02010600030101010101" pitchFamily="2" charset="-122"/>
                      </a:endParaRPr>
                    </a:p>
                  </a:txBody>
                  <a:tcPr marL="101600" marR="101600" marT="63500" marB="635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r>
            </a:tbl>
          </a:graphicData>
        </a:graphic>
      </p:graphicFrame>
    </p:spTree>
    <p:custDataLst>
      <p:tags r:id="rId5"/>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20000"/>
          </a:schemeClr>
        </a:solidFill>
        <a:effectLst/>
      </p:bgPr>
    </p:bg>
    <p:spTree>
      <p:nvGrpSpPr>
        <p:cNvPr id="1" name=""/>
        <p:cNvGrpSpPr/>
        <p:nvPr/>
      </p:nvGrpSpPr>
      <p:grpSpPr>
        <a:xfrm>
          <a:off x="0" y="0"/>
          <a:ext cx="0" cy="0"/>
          <a:chOff x="0" y="0"/>
          <a:chExt cx="0" cy="0"/>
        </a:xfrm>
      </p:grpSpPr>
      <p:sp>
        <p:nvSpPr>
          <p:cNvPr id="4" name="Text 2"/>
          <p:cNvSpPr/>
          <p:nvPr/>
        </p:nvSpPr>
        <p:spPr>
          <a:xfrm>
            <a:off x="260985" y="163195"/>
            <a:ext cx="1071245" cy="553720"/>
          </a:xfrm>
          <a:prstGeom prst="rect">
            <a:avLst/>
          </a:prstGeom>
          <a:noFill/>
        </p:spPr>
        <p:txBody>
          <a:bodyPr wrap="square" lIns="45720" tIns="91440" rIns="91440" bIns="45720" rtlCol="0" anchor="ctr"/>
          <a:lstStyle/>
          <a:p>
            <a:pPr>
              <a:lnSpc>
                <a:spcPct val="100000"/>
              </a:lnSpc>
            </a:pPr>
            <a:endParaRPr lang="en-US" sz="1600" dirty="0"/>
          </a:p>
        </p:txBody>
      </p:sp>
      <p:sp>
        <p:nvSpPr>
          <p:cNvPr id="5" name="Shape 3"/>
          <p:cNvSpPr/>
          <p:nvPr/>
        </p:nvSpPr>
        <p:spPr>
          <a:xfrm>
            <a:off x="114858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6" name="Text 4"/>
          <p:cNvSpPr/>
          <p:nvPr/>
        </p:nvSpPr>
        <p:spPr>
          <a:xfrm>
            <a:off x="114858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5"/>
          <p:cNvSpPr/>
          <p:nvPr/>
        </p:nvSpPr>
        <p:spPr>
          <a:xfrm>
            <a:off x="11816080" y="589915"/>
            <a:ext cx="134620" cy="134620"/>
          </a:xfrm>
          <a:prstGeom prst="ellipse">
            <a:avLst/>
          </a:prstGeom>
          <a:solidFill>
            <a:srgbClr val="000000">
              <a:alpha val="0"/>
            </a:srgbClr>
          </a:solidFill>
          <a:ln w="19050">
            <a:gradFill flip="none" rotWithShape="1">
              <a:gsLst>
                <a:gs pos="0">
                  <a:srgbClr val="4874CB"/>
                </a:gs>
                <a:gs pos="100000">
                  <a:srgbClr val="4874CB">
                    <a:alpha val="29000"/>
                  </a:srgbClr>
                </a:gs>
              </a:gsLst>
              <a:lin ang="2700000" scaled="1"/>
            </a:gradFill>
            <a:prstDash val="solid"/>
          </a:ln>
        </p:spPr>
      </p:sp>
      <p:sp>
        <p:nvSpPr>
          <p:cNvPr id="8" name="Text 6"/>
          <p:cNvSpPr/>
          <p:nvPr/>
        </p:nvSpPr>
        <p:spPr>
          <a:xfrm>
            <a:off x="118160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a:off x="11650980" y="589915"/>
            <a:ext cx="134620" cy="134620"/>
          </a:xfrm>
          <a:prstGeom prst="ellipse">
            <a:avLst/>
          </a:prstGeom>
          <a:gradFill flip="none" rotWithShape="1">
            <a:gsLst>
              <a:gs pos="0">
                <a:srgbClr val="4874CB">
                  <a:alpha val="84000"/>
                </a:srgbClr>
              </a:gs>
              <a:gs pos="20000">
                <a:srgbClr val="4874CB">
                  <a:alpha val="84000"/>
                </a:srgbClr>
              </a:gs>
              <a:gs pos="43000">
                <a:srgbClr val="4874CB">
                  <a:alpha val="72000"/>
                </a:srgbClr>
              </a:gs>
              <a:gs pos="63000">
                <a:srgbClr val="4874CB">
                  <a:alpha val="47000"/>
                </a:srgbClr>
              </a:gs>
              <a:gs pos="100000">
                <a:srgbClr val="FFFFFF">
                  <a:alpha val="48000"/>
                </a:srgbClr>
              </a:gs>
            </a:gsLst>
            <a:lin ang="0" scaled="1"/>
          </a:gradFill>
        </p:spPr>
      </p:sp>
      <p:sp>
        <p:nvSpPr>
          <p:cNvPr id="10" name="Text 8"/>
          <p:cNvSpPr/>
          <p:nvPr/>
        </p:nvSpPr>
        <p:spPr>
          <a:xfrm>
            <a:off x="11650980" y="589915"/>
            <a:ext cx="134620" cy="134620"/>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custDataLst>
              <p:tags r:id="rId1"/>
            </p:custDataLst>
          </p:nvPr>
        </p:nvSpPr>
        <p:spPr>
          <a:xfrm>
            <a:off x="659765" y="1196340"/>
            <a:ext cx="2510155" cy="5302250"/>
          </a:xfrm>
          <a:prstGeom prst="roundRect">
            <a:avLst>
              <a:gd name="adj" fmla="val 50000"/>
            </a:avLst>
          </a:prstGeom>
          <a:solidFill>
            <a:srgbClr val="FFFFFF">
              <a:alpha val="5098"/>
            </a:srgbClr>
          </a:solidFill>
          <a:ln w="19050">
            <a:gradFill flip="none" rotWithShape="1">
              <a:gsLst>
                <a:gs pos="0">
                  <a:srgbClr val="FFFFFF">
                    <a:alpha val="25000"/>
                  </a:srgbClr>
                </a:gs>
                <a:gs pos="40000">
                  <a:srgbClr val="FFFFFF">
                    <a:alpha val="76000"/>
                  </a:srgbClr>
                </a:gs>
                <a:gs pos="100000">
                  <a:srgbClr val="FFFFFF">
                    <a:alpha val="76000"/>
                  </a:srgbClr>
                </a:gs>
              </a:gsLst>
              <a:path path="circle">
                <a:fillToRect l="50000" t="50000" r="50000" b="50000"/>
              </a:path>
            </a:gradFill>
            <a:prstDash val="solid"/>
          </a:ln>
          <a:effectLst>
            <a:outerShdw blurRad="50800" dist="26941" dir="2700000" algn="bl" rotWithShape="0">
              <a:srgbClr val="3869A6">
                <a:alpha val="78824"/>
              </a:srgbClr>
            </a:outerShdw>
          </a:effectLst>
        </p:spPr>
      </p:sp>
      <p:sp>
        <p:nvSpPr>
          <p:cNvPr id="12" name="Text 10"/>
          <p:cNvSpPr/>
          <p:nvPr/>
        </p:nvSpPr>
        <p:spPr>
          <a:xfrm>
            <a:off x="659765" y="1196340"/>
            <a:ext cx="2510155" cy="5302250"/>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custDataLst>
              <p:tags r:id="rId2"/>
            </p:custDataLst>
          </p:nvPr>
        </p:nvSpPr>
        <p:spPr>
          <a:xfrm>
            <a:off x="3423285" y="1196340"/>
            <a:ext cx="2510155" cy="5302250"/>
          </a:xfrm>
          <a:prstGeom prst="roundRect">
            <a:avLst>
              <a:gd name="adj" fmla="val 50000"/>
            </a:avLst>
          </a:prstGeom>
          <a:gradFill flip="none" rotWithShape="1">
            <a:gsLst>
              <a:gs pos="0">
                <a:srgbClr val="678DD3">
                  <a:alpha val="85000"/>
                </a:srgbClr>
              </a:gs>
              <a:gs pos="50000">
                <a:srgbClr val="678DD3">
                  <a:alpha val="70000"/>
                </a:srgbClr>
              </a:gs>
              <a:gs pos="94000">
                <a:srgbClr val="678DD3">
                  <a:alpha val="43000"/>
                </a:srgbClr>
              </a:gs>
              <a:gs pos="100000">
                <a:srgbClr val="678DD3">
                  <a:alpha val="43000"/>
                </a:srgbClr>
              </a:gs>
            </a:gsLst>
            <a:lin ang="6960000" scaled="1"/>
          </a:gradFill>
          <a:ln w="12700">
            <a:gradFill flip="none" rotWithShape="1">
              <a:gsLst>
                <a:gs pos="0">
                  <a:srgbClr val="FFFFFF">
                    <a:alpha val="59000"/>
                  </a:srgbClr>
                </a:gs>
                <a:gs pos="65000">
                  <a:srgbClr val="FFFFFF">
                    <a:alpha val="59000"/>
                  </a:srgbClr>
                </a:gs>
                <a:gs pos="100000">
                  <a:srgbClr val="FFFFFF">
                    <a:alpha val="11000"/>
                  </a:srgbClr>
                </a:gs>
              </a:gsLst>
              <a:path path="circle">
                <a:fillToRect l="50000" t="50000" r="50000" b="50000"/>
              </a:path>
            </a:gradFill>
            <a:prstDash val="solid"/>
          </a:ln>
          <a:effectLst>
            <a:outerShdw blurRad="63500" dist="26941" dir="2700000" algn="bl" rotWithShape="0">
              <a:srgbClr val="1E386B">
                <a:alpha val="54118"/>
              </a:srgbClr>
            </a:outerShdw>
          </a:effectLst>
        </p:spPr>
      </p:sp>
      <p:sp>
        <p:nvSpPr>
          <p:cNvPr id="14" name="Text 12"/>
          <p:cNvSpPr/>
          <p:nvPr/>
        </p:nvSpPr>
        <p:spPr>
          <a:xfrm>
            <a:off x="3423285" y="1196340"/>
            <a:ext cx="2510155" cy="5302250"/>
          </a:xfrm>
          <a:prstGeom prst="rect">
            <a:avLst/>
          </a:prstGeom>
          <a:noFill/>
        </p:spPr>
        <p:txBody>
          <a:bodyPr wrap="square" lIns="45720" tIns="91440" rIns="91440" bIns="45720" rtlCol="0" anchor="ctr"/>
          <a:lstStyle/>
          <a:p>
            <a:pPr>
              <a:lnSpc>
                <a:spcPct val="100000"/>
              </a:lnSpc>
            </a:pPr>
            <a:endParaRPr lang="en-US" sz="1600" dirty="0"/>
          </a:p>
        </p:txBody>
      </p:sp>
      <p:sp>
        <p:nvSpPr>
          <p:cNvPr id="15" name="Shape 13"/>
          <p:cNvSpPr/>
          <p:nvPr>
            <p:custDataLst>
              <p:tags r:id="rId3"/>
            </p:custDataLst>
          </p:nvPr>
        </p:nvSpPr>
        <p:spPr>
          <a:xfrm>
            <a:off x="6186805" y="1196340"/>
            <a:ext cx="2510155" cy="5302250"/>
          </a:xfrm>
          <a:prstGeom prst="roundRect">
            <a:avLst>
              <a:gd name="adj" fmla="val 50000"/>
            </a:avLst>
          </a:prstGeom>
          <a:solidFill>
            <a:srgbClr val="FFFFFF">
              <a:alpha val="5098"/>
            </a:srgbClr>
          </a:solidFill>
          <a:ln w="19050">
            <a:gradFill flip="none" rotWithShape="1">
              <a:gsLst>
                <a:gs pos="0">
                  <a:srgbClr val="FFFFFF">
                    <a:alpha val="25000"/>
                  </a:srgbClr>
                </a:gs>
                <a:gs pos="40000">
                  <a:srgbClr val="FFFFFF">
                    <a:alpha val="76000"/>
                  </a:srgbClr>
                </a:gs>
                <a:gs pos="100000">
                  <a:srgbClr val="FFFFFF">
                    <a:alpha val="76000"/>
                  </a:srgbClr>
                </a:gs>
              </a:gsLst>
              <a:path path="circle">
                <a:fillToRect l="50000" t="50000" r="50000" b="50000"/>
              </a:path>
            </a:gradFill>
            <a:prstDash val="solid"/>
          </a:ln>
          <a:effectLst>
            <a:outerShdw blurRad="50800" dist="26941" dir="2700000" algn="bl" rotWithShape="0">
              <a:srgbClr val="3869A6">
                <a:alpha val="78824"/>
              </a:srgbClr>
            </a:outerShdw>
          </a:effectLst>
        </p:spPr>
      </p:sp>
      <p:sp>
        <p:nvSpPr>
          <p:cNvPr id="16" name="Text 14"/>
          <p:cNvSpPr/>
          <p:nvPr/>
        </p:nvSpPr>
        <p:spPr>
          <a:xfrm>
            <a:off x="6186805" y="1196340"/>
            <a:ext cx="2510155" cy="5302250"/>
          </a:xfrm>
          <a:prstGeom prst="rect">
            <a:avLst/>
          </a:prstGeom>
          <a:noFill/>
        </p:spPr>
        <p:txBody>
          <a:bodyPr wrap="square" lIns="45720" tIns="91440" rIns="91440" bIns="45720" rtlCol="0" anchor="ctr"/>
          <a:lstStyle/>
          <a:p>
            <a:pPr>
              <a:lnSpc>
                <a:spcPct val="100000"/>
              </a:lnSpc>
            </a:pPr>
            <a:endParaRPr lang="en-US" sz="1600" dirty="0"/>
          </a:p>
        </p:txBody>
      </p:sp>
      <p:sp>
        <p:nvSpPr>
          <p:cNvPr id="17" name="Shape 15"/>
          <p:cNvSpPr/>
          <p:nvPr>
            <p:custDataLst>
              <p:tags r:id="rId4"/>
            </p:custDataLst>
          </p:nvPr>
        </p:nvSpPr>
        <p:spPr>
          <a:xfrm>
            <a:off x="8950325" y="1196340"/>
            <a:ext cx="2510155" cy="5302250"/>
          </a:xfrm>
          <a:prstGeom prst="roundRect">
            <a:avLst>
              <a:gd name="adj" fmla="val 50000"/>
            </a:avLst>
          </a:prstGeom>
          <a:gradFill flip="none" rotWithShape="1">
            <a:gsLst>
              <a:gs pos="0">
                <a:srgbClr val="678DD3">
                  <a:alpha val="85000"/>
                </a:srgbClr>
              </a:gs>
              <a:gs pos="50000">
                <a:srgbClr val="678DD3">
                  <a:alpha val="70000"/>
                </a:srgbClr>
              </a:gs>
              <a:gs pos="94000">
                <a:srgbClr val="678DD3">
                  <a:alpha val="43000"/>
                </a:srgbClr>
              </a:gs>
              <a:gs pos="100000">
                <a:srgbClr val="678DD3">
                  <a:alpha val="43000"/>
                </a:srgbClr>
              </a:gs>
            </a:gsLst>
            <a:lin ang="6960000" scaled="1"/>
          </a:gradFill>
          <a:ln w="12700">
            <a:gradFill flip="none" rotWithShape="1">
              <a:gsLst>
                <a:gs pos="0">
                  <a:srgbClr val="FFFFFF">
                    <a:alpha val="59000"/>
                  </a:srgbClr>
                </a:gs>
                <a:gs pos="65000">
                  <a:srgbClr val="FFFFFF">
                    <a:alpha val="59000"/>
                  </a:srgbClr>
                </a:gs>
                <a:gs pos="100000">
                  <a:srgbClr val="FFFFFF">
                    <a:alpha val="11000"/>
                  </a:srgbClr>
                </a:gs>
              </a:gsLst>
              <a:path path="circle">
                <a:fillToRect l="50000" t="50000" r="50000" b="50000"/>
              </a:path>
            </a:gradFill>
            <a:prstDash val="solid"/>
          </a:ln>
          <a:effectLst>
            <a:outerShdw blurRad="63500" dist="26941" dir="2700000" algn="bl" rotWithShape="0">
              <a:srgbClr val="1E386B">
                <a:alpha val="54118"/>
              </a:srgbClr>
            </a:outerShdw>
          </a:effectLst>
        </p:spPr>
      </p:sp>
      <p:sp>
        <p:nvSpPr>
          <p:cNvPr id="18" name="Text 16"/>
          <p:cNvSpPr/>
          <p:nvPr/>
        </p:nvSpPr>
        <p:spPr>
          <a:xfrm>
            <a:off x="8950325" y="1196340"/>
            <a:ext cx="2510155" cy="5302250"/>
          </a:xfrm>
          <a:prstGeom prst="rect">
            <a:avLst/>
          </a:prstGeom>
          <a:noFill/>
        </p:spPr>
        <p:txBody>
          <a:bodyPr wrap="square" lIns="45720" tIns="91440" rIns="91440" bIns="45720" rtlCol="0" anchor="ctr"/>
          <a:lstStyle/>
          <a:p>
            <a:pPr>
              <a:lnSpc>
                <a:spcPct val="100000"/>
              </a:lnSpc>
            </a:pPr>
            <a:endParaRPr lang="en-US" sz="1600" dirty="0"/>
          </a:p>
        </p:txBody>
      </p:sp>
      <p:pic>
        <p:nvPicPr>
          <p:cNvPr id="19" name="Image 0" descr="https://kimi-img.moonshot.cn/pub/slides/slides_tmpl/image/25-09-04-14:54:56-d2sjfg61bb2p4onbpvp0.png"/>
          <p:cNvPicPr>
            <a:picLocks noChangeAspect="1"/>
          </p:cNvPicPr>
          <p:nvPr/>
        </p:nvPicPr>
        <p:blipFill>
          <a:blip r:embed="rId5">
            <a:alphaModFix amt="74000"/>
          </a:blip>
          <a:srcRect l="128" t="49493" r="-128" b="-2787"/>
          <a:stretch>
            <a:fillRect/>
          </a:stretch>
        </p:blipFill>
        <p:spPr>
          <a:xfrm>
            <a:off x="5582285" y="0"/>
            <a:ext cx="6927215" cy="2076450"/>
          </a:xfrm>
          <a:prstGeom prst="rect">
            <a:avLst/>
          </a:prstGeom>
        </p:spPr>
      </p:pic>
      <p:sp>
        <p:nvSpPr>
          <p:cNvPr id="20" name="Text 17"/>
          <p:cNvSpPr/>
          <p:nvPr>
            <p:custDataLst>
              <p:tags r:id="rId6"/>
            </p:custDataLst>
          </p:nvPr>
        </p:nvSpPr>
        <p:spPr>
          <a:xfrm>
            <a:off x="935673" y="1827213"/>
            <a:ext cx="1957705" cy="798195"/>
          </a:xfrm>
          <a:prstGeom prst="rect">
            <a:avLst/>
          </a:prstGeom>
          <a:noFill/>
        </p:spPr>
        <p:txBody>
          <a:bodyPr wrap="square" lIns="90043" tIns="46863" rIns="90043" bIns="0" rtlCol="0" anchor="ctr"/>
          <a:lstStyle/>
          <a:p>
            <a:pPr algn="ct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数据库类型扩展</a:t>
            </a:r>
            <a:endParaRPr lang="en-US" sz="1600" dirty="0"/>
          </a:p>
        </p:txBody>
      </p:sp>
      <p:sp>
        <p:nvSpPr>
          <p:cNvPr id="21" name="Text 18"/>
          <p:cNvSpPr/>
          <p:nvPr>
            <p:custDataLst>
              <p:tags r:id="rId7"/>
            </p:custDataLst>
          </p:nvPr>
        </p:nvSpPr>
        <p:spPr>
          <a:xfrm>
            <a:off x="993775" y="2717165"/>
            <a:ext cx="1871980" cy="2734310"/>
          </a:xfrm>
          <a:prstGeom prst="rect">
            <a:avLst/>
          </a:prstGeom>
          <a:noFill/>
        </p:spPr>
        <p:txBody>
          <a:bodyPr wrap="square" lIns="0" tIns="0" rIns="0" bIns="0" rtlCol="0" anchor="t"/>
          <a:lstStyle/>
          <a:p>
            <a:pPr algn="ct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未来计划支持更多类型的数据库，包括NoSQL数据库如MongoDB，内存数据库如Redis缓存，以及国产数据库如达梦和TiDB。通过扩展数据库类型，系统将能够满足更多场景的需求，提高数据处理的灵活性和效率。</a:t>
            </a:r>
            <a:endParaRPr lang="en-US" sz="1600" dirty="0"/>
          </a:p>
        </p:txBody>
      </p:sp>
      <p:sp>
        <p:nvSpPr>
          <p:cNvPr id="22" name="Text 19"/>
          <p:cNvSpPr/>
          <p:nvPr>
            <p:custDataLst>
              <p:tags r:id="rId8"/>
            </p:custDataLst>
          </p:nvPr>
        </p:nvSpPr>
        <p:spPr>
          <a:xfrm>
            <a:off x="3699193" y="1827213"/>
            <a:ext cx="1957705" cy="798195"/>
          </a:xfrm>
          <a:prstGeom prst="rect">
            <a:avLst/>
          </a:prstGeom>
          <a:noFill/>
        </p:spPr>
        <p:txBody>
          <a:bodyPr wrap="square" lIns="90043" tIns="46863" rIns="90043" bIns="0" rtlCol="0" anchor="ctr"/>
          <a:lstStyle/>
          <a:p>
            <a:pPr algn="ctr">
              <a:lnSpc>
                <a:spcPct val="100000"/>
              </a:lnSpc>
            </a:pPr>
            <a:r>
              <a:rPr 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智能化升级</a:t>
            </a:r>
            <a:endParaRPr lang="en-US" sz="1600" dirty="0"/>
          </a:p>
        </p:txBody>
      </p:sp>
      <p:sp>
        <p:nvSpPr>
          <p:cNvPr id="23" name="Text 20"/>
          <p:cNvSpPr/>
          <p:nvPr>
            <p:custDataLst>
              <p:tags r:id="rId9"/>
            </p:custDataLst>
          </p:nvPr>
        </p:nvSpPr>
        <p:spPr>
          <a:xfrm>
            <a:off x="3757295" y="2717165"/>
            <a:ext cx="1871980" cy="2734310"/>
          </a:xfrm>
          <a:prstGeom prst="rect">
            <a:avLst/>
          </a:prstGeom>
          <a:noFill/>
        </p:spPr>
        <p:txBody>
          <a:bodyPr wrap="square" lIns="0" tIns="0" rIns="0" bIns="0" rtlCol="0" anchor="t"/>
          <a:lstStyle/>
          <a:p>
            <a:pPr algn="ctr">
              <a:lnSpc>
                <a:spcPct val="150000"/>
              </a:lnSpc>
            </a:pPr>
            <a:r>
              <a:rPr lang="en-US" sz="1400" dirty="0">
                <a:solidFill>
                  <a:srgbClr val="FFFFFF"/>
                </a:solidFill>
                <a:latin typeface="MiSans" panose="00000500000000000000" pitchFamily="34" charset="-122"/>
                <a:ea typeface="MiSans" panose="00000500000000000000" pitchFamily="34" charset="-122"/>
                <a:cs typeface="MiSans" panose="00000500000000000000" pitchFamily="34" charset="-120"/>
              </a:rPr>
              <a:t>引入AI技术，实现智能冲突解决，通过机器学习算法为管理员提供冲突解决建议。同时，根据系统负载动态调整同步策略，优化性能。此外，基于历史数据分析自动进行性能调优，进一步提升系统的智能化水平。</a:t>
            </a:r>
            <a:endParaRPr lang="en-US" sz="1600" dirty="0"/>
          </a:p>
        </p:txBody>
      </p:sp>
      <p:sp>
        <p:nvSpPr>
          <p:cNvPr id="24" name="Text 21"/>
          <p:cNvSpPr/>
          <p:nvPr>
            <p:custDataLst>
              <p:tags r:id="rId10"/>
            </p:custDataLst>
          </p:nvPr>
        </p:nvSpPr>
        <p:spPr>
          <a:xfrm>
            <a:off x="6462713" y="1827213"/>
            <a:ext cx="1957705" cy="798195"/>
          </a:xfrm>
          <a:prstGeom prst="rect">
            <a:avLst/>
          </a:prstGeom>
          <a:noFill/>
        </p:spPr>
        <p:txBody>
          <a:bodyPr wrap="square" lIns="90043" tIns="46863" rIns="90043" bIns="0" rtlCol="0" anchor="ctr"/>
          <a:lstStyle/>
          <a:p>
            <a:pPr algn="ctr">
              <a:lnSpc>
                <a:spcPct val="100000"/>
              </a:lnSpc>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运维监控增强</a:t>
            </a:r>
            <a:endParaRPr lang="en-US" sz="1600" dirty="0"/>
          </a:p>
        </p:txBody>
      </p:sp>
      <p:sp>
        <p:nvSpPr>
          <p:cNvPr id="25" name="Text 22"/>
          <p:cNvSpPr/>
          <p:nvPr>
            <p:custDataLst>
              <p:tags r:id="rId11"/>
            </p:custDataLst>
          </p:nvPr>
        </p:nvSpPr>
        <p:spPr>
          <a:xfrm>
            <a:off x="6520815" y="2717165"/>
            <a:ext cx="1837690" cy="2734310"/>
          </a:xfrm>
          <a:prstGeom prst="rect">
            <a:avLst/>
          </a:prstGeom>
          <a:noFill/>
        </p:spPr>
        <p:txBody>
          <a:bodyPr wrap="square" lIns="0" tIns="0" rIns="0" bIns="0" rtlCol="0" anchor="t"/>
          <a:lstStyle/>
          <a:p>
            <a:pPr algn="ctr">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构建Prometheus和Grafana监控体系，实现对系统运行状态的实时监控和可视化展示。同时，建立实时告警系统，通过微信或钉钉及时通知管理员异常情况。此外，采用Docker和Kubernetes实现自动化部署，提高系统的可维护性和可扩展性。</a:t>
            </a:r>
            <a:endParaRPr lang="en-US" sz="1600" dirty="0"/>
          </a:p>
        </p:txBody>
      </p:sp>
      <p:sp>
        <p:nvSpPr>
          <p:cNvPr id="26" name="Text 23"/>
          <p:cNvSpPr/>
          <p:nvPr>
            <p:custDataLst>
              <p:tags r:id="rId12"/>
            </p:custDataLst>
          </p:nvPr>
        </p:nvSpPr>
        <p:spPr>
          <a:xfrm>
            <a:off x="9226233" y="1827213"/>
            <a:ext cx="1957705" cy="798195"/>
          </a:xfrm>
          <a:prstGeom prst="rect">
            <a:avLst/>
          </a:prstGeom>
          <a:noFill/>
        </p:spPr>
        <p:txBody>
          <a:bodyPr wrap="square" lIns="90043" tIns="46863" rIns="90043" bIns="0" rtlCol="0" anchor="ctr"/>
          <a:lstStyle/>
          <a:p>
            <a:pPr algn="ctr">
              <a:lnSpc>
                <a:spcPct val="100000"/>
              </a:lnSpc>
            </a:pPr>
            <a:r>
              <a:rPr 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功能完善</a:t>
            </a:r>
            <a:endParaRPr lang="en-US" sz="1600" dirty="0"/>
          </a:p>
        </p:txBody>
      </p:sp>
      <p:sp>
        <p:nvSpPr>
          <p:cNvPr id="27" name="Text 24"/>
          <p:cNvSpPr/>
          <p:nvPr>
            <p:custDataLst>
              <p:tags r:id="rId13"/>
            </p:custDataLst>
          </p:nvPr>
        </p:nvSpPr>
        <p:spPr>
          <a:xfrm>
            <a:off x="9284335" y="2717165"/>
            <a:ext cx="1890395" cy="2734310"/>
          </a:xfrm>
          <a:prstGeom prst="rect">
            <a:avLst/>
          </a:prstGeom>
          <a:noFill/>
        </p:spPr>
        <p:txBody>
          <a:bodyPr wrap="square" lIns="0" tIns="0" rIns="0" bIns="0" rtlCol="0" anchor="t"/>
          <a:lstStyle/>
          <a:p>
            <a:pPr algn="ctr">
              <a:lnSpc>
                <a:spcPct val="150000"/>
              </a:lnSpc>
            </a:pPr>
            <a:r>
              <a:rPr lang="en-US" sz="1400" dirty="0">
                <a:solidFill>
                  <a:srgbClr val="FFFFFF"/>
                </a:solidFill>
                <a:latin typeface="MiSans" panose="00000500000000000000" pitchFamily="34" charset="-122"/>
                <a:ea typeface="MiSans" panose="00000500000000000000" pitchFamily="34" charset="-122"/>
                <a:cs typeface="MiSans" panose="00000500000000000000" pitchFamily="34" charset="-120"/>
              </a:rPr>
              <a:t>提供数据迁移工具，支持跨数据库的数据迁移操作。引入数据版本管理功能，类似于Git的版本控制，方便数据的回溯和管理。同时，支持多租户架构，满足SaaS化部署的需求，为系统的未来发展奠定基础。</a:t>
            </a:r>
            <a:endParaRPr lang="en-US" sz="1600" dirty="0"/>
          </a:p>
        </p:txBody>
      </p:sp>
      <p:grpSp>
        <p:nvGrpSpPr>
          <p:cNvPr id="34" name="组合 33"/>
          <p:cNvGrpSpPr/>
          <p:nvPr/>
        </p:nvGrpSpPr>
        <p:grpSpPr>
          <a:xfrm>
            <a:off x="0" y="331470"/>
            <a:ext cx="4156710" cy="537845"/>
            <a:chOff x="0" y="522"/>
            <a:chExt cx="6546" cy="847"/>
          </a:xfrm>
        </p:grpSpPr>
        <p:sp>
          <p:nvSpPr>
            <p:cNvPr id="35" name="任意多边形 34"/>
            <p:cNvSpPr/>
            <p:nvPr/>
          </p:nvSpPr>
          <p:spPr>
            <a:xfrm rot="10800000" flipV="1">
              <a:off x="0" y="960"/>
              <a:ext cx="2133" cy="129"/>
            </a:xfrm>
            <a:custGeom>
              <a:avLst/>
              <a:gdLst>
                <a:gd name="connsiteX0" fmla="*/ 0 w 7267699"/>
                <a:gd name="connsiteY0" fmla="*/ 0 h 0"/>
                <a:gd name="connsiteX1" fmla="*/ 7267699 w 7267699"/>
                <a:gd name="connsiteY1" fmla="*/ 0 h 0"/>
              </a:gdLst>
              <a:ahLst/>
              <a:cxnLst>
                <a:cxn ang="0">
                  <a:pos x="connsiteX0" y="connsiteY0"/>
                </a:cxn>
                <a:cxn ang="0">
                  <a:pos x="connsiteX1" y="connsiteY1"/>
                </a:cxn>
              </a:cxnLst>
              <a:rect l="l" t="t" r="r" b="b"/>
              <a:pathLst>
                <a:path w="7267699">
                  <a:moveTo>
                    <a:pt x="0" y="0"/>
                  </a:moveTo>
                  <a:lnTo>
                    <a:pt x="7267699" y="0"/>
                  </a:lnTo>
                </a:path>
              </a:pathLst>
            </a:custGeom>
            <a:solidFill>
              <a:srgbClr val="76BCD2"/>
            </a:solidFill>
            <a:ln>
              <a:solidFill>
                <a:srgbClr val="76BC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6" name="矩形 35"/>
            <p:cNvSpPr/>
            <p:nvPr/>
          </p:nvSpPr>
          <p:spPr>
            <a:xfrm>
              <a:off x="2898" y="547"/>
              <a:ext cx="3648" cy="822"/>
            </a:xfrm>
            <a:prstGeom prst="rect">
              <a:avLst/>
            </a:prstGeom>
          </p:spPr>
          <p:txBody>
            <a:bodyPr wrap="none">
              <a:spAutoFit/>
            </a:bodyPr>
            <a:lstStyle/>
            <a:p>
              <a:pPr algn="l">
                <a:lnSpc>
                  <a:spcPct val="100000"/>
                </a:lnSpc>
              </a:pPr>
              <a:r>
                <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rPr>
                <a:t>未来扩展方向</a:t>
              </a:r>
              <a:endParaRPr lang="zh-CN" altLang="en-US" sz="2800" b="1" dirty="0">
                <a:solidFill>
                  <a:srgbClr val="293C54"/>
                </a:solidFill>
                <a:latin typeface="Arial" panose="020B0604020202020204"/>
                <a:ea typeface="微软雅黑" panose="020B0503020204020204" charset="-122"/>
                <a:cs typeface="Gisha" panose="020B0502040204020203" pitchFamily="34" charset="-79"/>
                <a:sym typeface="+mn-ea"/>
              </a:endParaRPr>
            </a:p>
          </p:txBody>
        </p:sp>
        <p:sp>
          <p:nvSpPr>
            <p:cNvPr id="37" name="矩形 36"/>
            <p:cNvSpPr/>
            <p:nvPr/>
          </p:nvSpPr>
          <p:spPr>
            <a:xfrm>
              <a:off x="0" y="522"/>
              <a:ext cx="889" cy="822"/>
            </a:xfrm>
            <a:prstGeom prst="rect">
              <a:avLst/>
            </a:prstGeom>
            <a:solidFill>
              <a:srgbClr val="76BCD2"/>
            </a:solidFill>
          </p:spPr>
          <p:txBody>
            <a:bodyPr wrap="none">
              <a:spAutoFit/>
            </a:bodyPr>
            <a:lstStyle/>
            <a:p>
              <a:r>
                <a:rPr lang="en-US" altLang="zh-CN" sz="2800" dirty="0">
                  <a:solidFill>
                    <a:schemeClr val="bg1"/>
                  </a:solidFill>
                  <a:latin typeface="Impact" panose="020B0806030902050204" pitchFamily="34" charset="0"/>
                  <a:ea typeface="微软雅黑" panose="020B0503020204020204" charset="-122"/>
                  <a:cs typeface="Gisha" panose="020B0502040204020203" pitchFamily="34" charset="-79"/>
                </a:rPr>
                <a:t>05</a:t>
              </a:r>
              <a:endParaRPr lang="zh-CN" altLang="en-US" sz="2800" dirty="0">
                <a:solidFill>
                  <a:schemeClr val="bg1"/>
                </a:solidFill>
              </a:endParaRPr>
            </a:p>
          </p:txBody>
        </p:sp>
        <p:pic>
          <p:nvPicPr>
            <p:cNvPr id="38" name="图片 37" descr="微信图片_20200425233959"/>
            <p:cNvPicPr>
              <a:picLocks noChangeAspect="1"/>
            </p:cNvPicPr>
            <p:nvPr/>
          </p:nvPicPr>
          <p:blipFill>
            <a:blip r:embed="rId14">
              <a:clrChange>
                <a:clrFrom>
                  <a:srgbClr val="FFFFFF">
                    <a:alpha val="100000"/>
                  </a:srgbClr>
                </a:clrFrom>
                <a:clrTo>
                  <a:srgbClr val="FFFFFF">
                    <a:alpha val="100000"/>
                    <a:alpha val="0"/>
                  </a:srgbClr>
                </a:clrTo>
              </a:clrChange>
              <a:lum bright="24000" contrast="-36000"/>
            </a:blip>
            <a:srcRect r="67071" b="4474"/>
            <a:stretch>
              <a:fillRect/>
            </a:stretch>
          </p:blipFill>
          <p:spPr>
            <a:xfrm>
              <a:off x="2022" y="561"/>
              <a:ext cx="876" cy="745"/>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C:\Users\dell\Desktop\余若冰\校庆ppt\微信图片_20200427144537.jpg微信图片_20200427144537"/>
          <p:cNvPicPr>
            <a:picLocks noChangeAspect="1"/>
          </p:cNvPicPr>
          <p:nvPr/>
        </p:nvPicPr>
        <p:blipFill>
          <a:blip r:embed="rId1">
            <a:lum contrast="-6000"/>
          </a:blip>
          <a:srcRect t="5514" b="9796"/>
          <a:stretch>
            <a:fillRect/>
          </a:stretch>
        </p:blipFill>
        <p:spPr>
          <a:xfrm>
            <a:off x="1270" y="-12065"/>
            <a:ext cx="12191365" cy="6894830"/>
          </a:xfrm>
          <a:prstGeom prst="rect">
            <a:avLst/>
          </a:prstGeom>
        </p:spPr>
      </p:pic>
      <p:pic>
        <p:nvPicPr>
          <p:cNvPr id="4" name="图片 3"/>
          <p:cNvPicPr>
            <a:picLocks noChangeAspect="1"/>
          </p:cNvPicPr>
          <p:nvPr/>
        </p:nvPicPr>
        <p:blipFill>
          <a:blip r:embed="rId2"/>
          <a:srcRect t="31437"/>
          <a:stretch>
            <a:fillRect/>
          </a:stretch>
        </p:blipFill>
        <p:spPr>
          <a:xfrm>
            <a:off x="5654040" y="-27940"/>
            <a:ext cx="6537960" cy="6885940"/>
          </a:xfrm>
          <a:prstGeom prst="rect">
            <a:avLst/>
          </a:prstGeom>
        </p:spPr>
      </p:pic>
      <p:sp>
        <p:nvSpPr>
          <p:cNvPr id="2" name="直角三角形 1"/>
          <p:cNvSpPr/>
          <p:nvPr/>
        </p:nvSpPr>
        <p:spPr>
          <a:xfrm rot="10800000" flipH="1">
            <a:off x="0" y="0"/>
            <a:ext cx="2749550" cy="4351655"/>
          </a:xfrm>
          <a:prstGeom prst="rtTriangle">
            <a:avLst/>
          </a:prstGeom>
          <a:solidFill>
            <a:srgbClr val="76BCD2">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flipH="1">
            <a:off x="313690" y="0"/>
            <a:ext cx="3439160" cy="5372735"/>
          </a:xfrm>
          <a:prstGeom prst="line">
            <a:avLst/>
          </a:prstGeom>
          <a:ln w="28575">
            <a:solidFill>
              <a:srgbClr val="ADA6A1">
                <a:alpha val="69000"/>
              </a:srgb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998855" y="635"/>
            <a:ext cx="10160" cy="88265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8822055" y="0"/>
            <a:ext cx="852805" cy="1139190"/>
          </a:xfrm>
          <a:prstGeom prst="line">
            <a:avLst/>
          </a:prstGeom>
          <a:ln w="41275">
            <a:solidFill>
              <a:srgbClr val="ADA6A1">
                <a:alpha val="38000"/>
              </a:srgbClr>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0795" y="314960"/>
            <a:ext cx="1940560" cy="568325"/>
          </a:xfrm>
          <a:prstGeom prst="rect">
            <a:avLst/>
          </a:prstGeom>
        </p:spPr>
      </p:pic>
      <p:pic>
        <p:nvPicPr>
          <p:cNvPr id="8" name="图片 7"/>
          <p:cNvPicPr>
            <a:picLocks noChangeAspect="1"/>
          </p:cNvPicPr>
          <p:nvPr/>
        </p:nvPicPr>
        <p:blipFill>
          <a:blip r:embed="rId4">
            <a:lum bright="12000" contrast="30000"/>
          </a:blip>
          <a:srcRect r="9074"/>
          <a:stretch>
            <a:fillRect/>
          </a:stretch>
        </p:blipFill>
        <p:spPr>
          <a:xfrm>
            <a:off x="4161790" y="3178175"/>
            <a:ext cx="8030210" cy="1043940"/>
          </a:xfrm>
          <a:prstGeom prst="rect">
            <a:avLst/>
          </a:prstGeom>
        </p:spPr>
      </p:pic>
      <p:grpSp>
        <p:nvGrpSpPr>
          <p:cNvPr id="3" name="组合 2"/>
          <p:cNvGrpSpPr/>
          <p:nvPr/>
        </p:nvGrpSpPr>
        <p:grpSpPr>
          <a:xfrm>
            <a:off x="4948555" y="3239135"/>
            <a:ext cx="7486015" cy="2334895"/>
            <a:chOff x="7793" y="5101"/>
            <a:chExt cx="11789" cy="3677"/>
          </a:xfrm>
        </p:grpSpPr>
        <p:sp>
          <p:nvSpPr>
            <p:cNvPr id="31" name="文本框 30"/>
            <p:cNvSpPr txBox="1"/>
            <p:nvPr/>
          </p:nvSpPr>
          <p:spPr>
            <a:xfrm>
              <a:off x="13770" y="7471"/>
              <a:ext cx="4251" cy="1307"/>
            </a:xfrm>
            <a:prstGeom prst="rect">
              <a:avLst/>
            </a:prstGeom>
            <a:noFill/>
          </p:spPr>
          <p:txBody>
            <a:bodyPr wrap="square" rtlCol="0">
              <a:spAutoFit/>
            </a:bodyPr>
            <a:lstStyle/>
            <a:p>
              <a:r>
                <a:rPr lang="zh-CN" altLang="en-US" sz="2400">
                  <a:solidFill>
                    <a:schemeClr val="bg1"/>
                  </a:solidFill>
                </a:rPr>
                <a:t>汇报人：计科</a:t>
              </a:r>
              <a:r>
                <a:rPr lang="en-US" altLang="zh-CN" sz="2400">
                  <a:solidFill>
                    <a:schemeClr val="bg1"/>
                  </a:solidFill>
                </a:rPr>
                <a:t>2305</a:t>
              </a:r>
              <a:endParaRPr lang="en-US" altLang="zh-CN" sz="2400">
                <a:solidFill>
                  <a:schemeClr val="bg1"/>
                </a:solidFill>
              </a:endParaRPr>
            </a:p>
            <a:p>
              <a:pPr algn="r"/>
              <a:r>
                <a:rPr lang="zh-CN" altLang="en-US" sz="2400">
                  <a:solidFill>
                    <a:schemeClr val="bg1"/>
                  </a:solidFill>
                </a:rPr>
                <a:t>原春香</a:t>
              </a:r>
              <a:endParaRPr lang="zh-CN" altLang="en-US" sz="2400">
                <a:solidFill>
                  <a:schemeClr val="bg1"/>
                </a:solidFill>
              </a:endParaRPr>
            </a:p>
          </p:txBody>
        </p:sp>
        <p:sp>
          <p:nvSpPr>
            <p:cNvPr id="26" name="文本框 25"/>
            <p:cNvSpPr txBox="1"/>
            <p:nvPr/>
          </p:nvSpPr>
          <p:spPr>
            <a:xfrm>
              <a:off x="7793" y="5101"/>
              <a:ext cx="11789" cy="1452"/>
            </a:xfrm>
            <a:prstGeom prst="rect">
              <a:avLst/>
            </a:prstGeom>
            <a:noFill/>
          </p:spPr>
          <p:txBody>
            <a:bodyPr wrap="square" rtlCol="0">
              <a:spAutoFit/>
            </a:bodyPr>
            <a:lstStyle/>
            <a:p>
              <a:r>
                <a:rPr lang="zh-CN" altLang="en-US" sz="5400">
                  <a:solidFill>
                    <a:schemeClr val="bg1"/>
                  </a:solidFill>
                  <a:latin typeface="+mj-ea"/>
                  <a:ea typeface="+mj-ea"/>
                  <a:cs typeface="+mj-ea"/>
                </a:rPr>
                <a:t>汇报完毕，谢谢观看！</a:t>
              </a:r>
              <a:endParaRPr lang="zh-CN" altLang="en-US" sz="5400">
                <a:solidFill>
                  <a:schemeClr val="bg1"/>
                </a:solidFill>
                <a:latin typeface="+mj-ea"/>
                <a:ea typeface="+mj-ea"/>
                <a:cs typeface="+mj-ea"/>
              </a:endParaRPr>
            </a:p>
          </p:txBody>
        </p:sp>
      </p:grpSp>
      <p:pic>
        <p:nvPicPr>
          <p:cNvPr id="25" name="图片 24"/>
          <p:cNvPicPr>
            <a:picLocks noChangeAspect="1"/>
          </p:cNvPicPr>
          <p:nvPr/>
        </p:nvPicPr>
        <p:blipFill>
          <a:blip r:embed="rId5"/>
          <a:stretch>
            <a:fillRect/>
          </a:stretch>
        </p:blipFill>
        <p:spPr>
          <a:xfrm>
            <a:off x="3193415" y="4077335"/>
            <a:ext cx="9144000" cy="1295400"/>
          </a:xfrm>
          <a:prstGeom prst="rect">
            <a:avLst/>
          </a:prstGeom>
        </p:spPr>
      </p:pic>
    </p:spTree>
    <p:custDataLst>
      <p:tags r:id="rId6"/>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ipe(righ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10887,&quot;width&quot;:19264}"/>
</p:tagLst>
</file>

<file path=ppt/tags/tag2.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xml><?xml version="1.0" encoding="utf-8"?>
<p:tagLst xmlns:p="http://schemas.openxmlformats.org/presentationml/2006/main">
  <p:tag name="KSO_WM_SPECIAL_SOURCE" val="bdnull"/>
</p:tagLst>
</file>

<file path=ppt/tags/tag4.xml><?xml version="1.0" encoding="utf-8"?>
<p:tagLst xmlns:p="http://schemas.openxmlformats.org/presentationml/2006/main">
  <p:tag name="KSO_WM_DIAGRAM_VIRTUALLY_FRAME" val="{&quot;height&quot;:386.45,&quot;left&quot;:26.1,&quot;top&quot;:147.9,&quot;width&quot;:883.45}"/>
</p:tagLst>
</file>

<file path=ppt/tags/tag5.xml><?xml version="1.0" encoding="utf-8"?>
<p:tagLst xmlns:p="http://schemas.openxmlformats.org/presentationml/2006/main">
  <p:tag name="KSO_WM_DIAGRAM_VIRTUALLY_FRAME" val="{&quot;height&quot;:386.45,&quot;left&quot;:26.1,&quot;top&quot;:147.9,&quot;width&quot;:883.45}"/>
</p:tagLst>
</file>

<file path=ppt/tags/tag6.xml><?xml version="1.0" encoding="utf-8"?>
<p:tagLst xmlns:p="http://schemas.openxmlformats.org/presentationml/2006/main">
  <p:tag name="KSO_WM_DIAGRAM_VIRTUALLY_FRAME" val="{&quot;height&quot;:386.45,&quot;left&quot;:26.1,&quot;top&quot;:147.9,&quot;width&quot;:883.45}"/>
</p:tagLst>
</file>

<file path=ppt/tags/tag7.xml><?xml version="1.0" encoding="utf-8"?>
<p:tagLst xmlns:p="http://schemas.openxmlformats.org/presentationml/2006/main">
  <p:tag name="KSO_WM_DIAGRAM_VIRTUALLY_FRAME" val="{&quot;height&quot;:386.45,&quot;left&quot;:26.1,&quot;top&quot;:147.9,&quot;width&quot;:883.45}"/>
</p:tagLst>
</file>

<file path=ppt/tags/tag8.xml><?xml version="1.0" encoding="utf-8"?>
<p:tagLst xmlns:p="http://schemas.openxmlformats.org/presentationml/2006/main">
  <p:tag name="KSO_WM_DIAGRAM_VIRTUALLY_FRAME" val="{&quot;height&quot;:386.45,&quot;left&quot;:26.1,&quot;top&quot;:147.9,&quot;width&quot;:883.45}"/>
</p:tagLst>
</file>

<file path=ppt/tags/tag9.xml><?xml version="1.0" encoding="utf-8"?>
<p:tagLst xmlns:p="http://schemas.openxmlformats.org/presentationml/2006/main">
  <p:tag name="KSO_WM_DIAGRAM_VIRTUALLY_FRAME" val="{&quot;height&quot;:386.45,&quot;left&quot;:26.1,&quot;top&quot;:147.9,&quot;width&quot;:883.45}"/>
</p:tagLst>
</file>

<file path=ppt/tags/tag10.xml><?xml version="1.0" encoding="utf-8"?>
<p:tagLst xmlns:p="http://schemas.openxmlformats.org/presentationml/2006/main">
  <p:tag name="KSO_WM_DIAGRAM_VIRTUALLY_FRAME" val="{&quot;height&quot;:386.45,&quot;left&quot;:26.1,&quot;top&quot;:147.9,&quot;width&quot;:883.45}"/>
</p:tagLst>
</file>

<file path=ppt/tags/tag11.xml><?xml version="1.0" encoding="utf-8"?>
<p:tagLst xmlns:p="http://schemas.openxmlformats.org/presentationml/2006/main">
  <p:tag name="KSO_WM_DIAGRAM_VIRTUALLY_FRAME" val="{&quot;height&quot;:386.45,&quot;left&quot;:26.1,&quot;top&quot;:147.9,&quot;width&quot;:883.45}"/>
</p:tagLst>
</file>

<file path=ppt/tags/tag12.xml><?xml version="1.0" encoding="utf-8"?>
<p:tagLst xmlns:p="http://schemas.openxmlformats.org/presentationml/2006/main">
  <p:tag name="KSO_WM_DIAGRAM_VIRTUALLY_FRAME" val="{&quot;height&quot;:386.45,&quot;left&quot;:26.1,&quot;top&quot;:147.9,&quot;width&quot;:883.45}"/>
</p:tagLst>
</file>

<file path=ppt/tags/tag13.xml><?xml version="1.0" encoding="utf-8"?>
<p:tagLst xmlns:p="http://schemas.openxmlformats.org/presentationml/2006/main">
  <p:tag name="KSO_WM_DIAGRAM_VIRTUALLY_FRAME" val="{&quot;height&quot;:386.45,&quot;left&quot;:26.1,&quot;top&quot;:147.9,&quot;width&quot;:883.45}"/>
</p:tagLst>
</file>

<file path=ppt/tags/tag14.xml><?xml version="1.0" encoding="utf-8"?>
<p:tagLst xmlns:p="http://schemas.openxmlformats.org/presentationml/2006/main">
  <p:tag name="KSO_WM_DIAGRAM_VIRTUALLY_FRAME" val="{&quot;height&quot;:386.45,&quot;left&quot;:26.1,&quot;top&quot;:147.9,&quot;width&quot;:883.45}"/>
</p:tagLst>
</file>

<file path=ppt/tags/tag15.xml><?xml version="1.0" encoding="utf-8"?>
<p:tagLst xmlns:p="http://schemas.openxmlformats.org/presentationml/2006/main">
  <p:tag name="KSO_WM_DIAGRAM_VIRTUALLY_FRAME" val="{&quot;height&quot;:386.45,&quot;left&quot;:26.1,&quot;top&quot;:147.9,&quot;width&quot;:883.45}"/>
</p:tagLst>
</file>

<file path=ppt/tags/tag16.xml><?xml version="1.0" encoding="utf-8"?>
<p:tagLst xmlns:p="http://schemas.openxmlformats.org/presentationml/2006/main">
  <p:tag name="KSO_WM_DIAGRAM_VIRTUALLY_FRAME" val="{&quot;height&quot;:386.45,&quot;left&quot;:26.1,&quot;top&quot;:147.9,&quot;width&quot;:883.45}"/>
</p:tagLst>
</file>

<file path=ppt/tags/tag17.xml><?xml version="1.0" encoding="utf-8"?>
<p:tagLst xmlns:p="http://schemas.openxmlformats.org/presentationml/2006/main">
  <p:tag name="KSO_WM_DIAGRAM_VIRTUALLY_FRAME" val="{&quot;height&quot;:386.45,&quot;left&quot;:26.1,&quot;top&quot;:147.9,&quot;width&quot;:883.45}"/>
</p:tagLst>
</file>

<file path=ppt/tags/tag18.xml><?xml version="1.0" encoding="utf-8"?>
<p:tagLst xmlns:p="http://schemas.openxmlformats.org/presentationml/2006/main">
  <p:tag name="KSO_WM_DIAGRAM_VIRTUALLY_FRAME" val="{&quot;height&quot;:386.45,&quot;left&quot;:26.1,&quot;top&quot;:147.9,&quot;width&quot;:883.45}"/>
</p:tagLst>
</file>

<file path=ppt/tags/tag19.xml><?xml version="1.0" encoding="utf-8"?>
<p:tagLst xmlns:p="http://schemas.openxmlformats.org/presentationml/2006/main">
  <p:tag name="KSO_WM_DIAGRAM_VIRTUALLY_FRAME" val="{&quot;height&quot;:386.45,&quot;left&quot;:26.1,&quot;top&quot;:147.9,&quot;width&quot;:883.45}"/>
</p:tagLst>
</file>

<file path=ppt/tags/tag20.xml><?xml version="1.0" encoding="utf-8"?>
<p:tagLst xmlns:p="http://schemas.openxmlformats.org/presentationml/2006/main">
  <p:tag name="KSO_WM_DIAGRAM_VIRTUALLY_FRAME" val="{&quot;height&quot;:386.45,&quot;left&quot;:26.1,&quot;top&quot;:147.9,&quot;width&quot;:883.45}"/>
</p:tagLst>
</file>

<file path=ppt/tags/tag21.xml><?xml version="1.0" encoding="utf-8"?>
<p:tagLst xmlns:p="http://schemas.openxmlformats.org/presentationml/2006/main">
  <p:tag name="KSO_WM_DIAGRAM_VIRTUALLY_FRAME" val="{&quot;height&quot;:386.45,&quot;left&quot;:26.1,&quot;top&quot;:147.9,&quot;width&quot;:883.45}"/>
</p:tagLst>
</file>

<file path=ppt/tags/tag22.xml><?xml version="1.0" encoding="utf-8"?>
<p:tagLst xmlns:p="http://schemas.openxmlformats.org/presentationml/2006/main">
  <p:tag name="KSO_WM_DIAGRAM_VIRTUALLY_FRAME" val="{&quot;height&quot;:386.45,&quot;left&quot;:26.1,&quot;top&quot;:147.9,&quot;width&quot;:883.45}"/>
</p:tagLst>
</file>

<file path=ppt/tags/tag23.xml><?xml version="1.0" encoding="utf-8"?>
<p:tagLst xmlns:p="http://schemas.openxmlformats.org/presentationml/2006/main">
  <p:tag name="KSO_WM_DIAGRAM_VIRTUALLY_FRAME" val="{&quot;height&quot;:386.45,&quot;left&quot;:26.1,&quot;top&quot;:147.9,&quot;width&quot;:883.45}"/>
</p:tagLst>
</file>

<file path=ppt/tags/tag24.xml><?xml version="1.0" encoding="utf-8"?>
<p:tagLst xmlns:p="http://schemas.openxmlformats.org/presentationml/2006/main">
  <p:tag name="KSO_WM_SPECIAL_SOURCE" val="bdnull"/>
</p:tagLst>
</file>

<file path=ppt/tags/tag25.xml><?xml version="1.0" encoding="utf-8"?>
<p:tagLst xmlns:p="http://schemas.openxmlformats.org/presentationml/2006/main">
  <p:tag name="KSO_WM_SPECIAL_SOURCE" val="bdnull"/>
</p:tagLst>
</file>

<file path=ppt/tags/tag26.xml><?xml version="1.0" encoding="utf-8"?>
<p:tagLst xmlns:p="http://schemas.openxmlformats.org/presentationml/2006/main">
  <p:tag name="KSO_WM_DIAGRAM_VIRTUALLY_FRAME" val="{&quot;height&quot;:570.35,&quot;left&quot;:131,&quot;top&quot;:0,&quot;width&quot;:829.75}"/>
</p:tagLst>
</file>

<file path=ppt/tags/tag27.xml><?xml version="1.0" encoding="utf-8"?>
<p:tagLst xmlns:p="http://schemas.openxmlformats.org/presentationml/2006/main">
  <p:tag name="KSO_WM_DIAGRAM_VIRTUALLY_FRAME" val="{&quot;height&quot;:570.35,&quot;left&quot;:131,&quot;top&quot;:0,&quot;width&quot;:829.75}"/>
</p:tagLst>
</file>

<file path=ppt/tags/tag28.xml><?xml version="1.0" encoding="utf-8"?>
<p:tagLst xmlns:p="http://schemas.openxmlformats.org/presentationml/2006/main">
  <p:tag name="KSO_WM_DIAGRAM_VIRTUALLY_FRAME" val="{&quot;height&quot;:570.35,&quot;left&quot;:131,&quot;top&quot;:0,&quot;width&quot;:829.75}"/>
</p:tagLst>
</file>

<file path=ppt/tags/tag29.xml><?xml version="1.0" encoding="utf-8"?>
<p:tagLst xmlns:p="http://schemas.openxmlformats.org/presentationml/2006/main">
  <p:tag name="KSO_WM_DIAGRAM_VIRTUALLY_FRAME" val="{&quot;height&quot;:570.35,&quot;left&quot;:131,&quot;top&quot;:0,&quot;width&quot;:829.75}"/>
</p:tagLst>
</file>

<file path=ppt/tags/tag30.xml><?xml version="1.0" encoding="utf-8"?>
<p:tagLst xmlns:p="http://schemas.openxmlformats.org/presentationml/2006/main">
  <p:tag name="KSO_WM_DIAGRAM_VIRTUALLY_FRAME" val="{&quot;height&quot;:570.35,&quot;left&quot;:131,&quot;top&quot;:0,&quot;width&quot;:829.75}"/>
</p:tagLst>
</file>

<file path=ppt/tags/tag31.xml><?xml version="1.0" encoding="utf-8"?>
<p:tagLst xmlns:p="http://schemas.openxmlformats.org/presentationml/2006/main">
  <p:tag name="KSO_WM_DIAGRAM_VIRTUALLY_FRAME" val="{&quot;height&quot;:570.35,&quot;left&quot;:131,&quot;top&quot;:0,&quot;width&quot;:829.75}"/>
</p:tagLst>
</file>

<file path=ppt/tags/tag32.xml><?xml version="1.0" encoding="utf-8"?>
<p:tagLst xmlns:p="http://schemas.openxmlformats.org/presentationml/2006/main">
  <p:tag name="KSO_WM_DIAGRAM_VIRTUALLY_FRAME" val="{&quot;height&quot;:570.35,&quot;left&quot;:131,&quot;top&quot;:0,&quot;width&quot;:829.75}"/>
</p:tagLst>
</file>

<file path=ppt/tags/tag33.xml><?xml version="1.0" encoding="utf-8"?>
<p:tagLst xmlns:p="http://schemas.openxmlformats.org/presentationml/2006/main">
  <p:tag name="KSO_WM_DIAGRAM_VIRTUALLY_FRAME" val="{&quot;height&quot;:570.35,&quot;left&quot;:131,&quot;top&quot;:0,&quot;width&quot;:829.75}"/>
</p:tagLst>
</file>

<file path=ppt/tags/tag34.xml><?xml version="1.0" encoding="utf-8"?>
<p:tagLst xmlns:p="http://schemas.openxmlformats.org/presentationml/2006/main">
  <p:tag name="KSO_WM_DIAGRAM_VIRTUALLY_FRAME" val="{&quot;height&quot;:570.35,&quot;left&quot;:131,&quot;top&quot;:0,&quot;width&quot;:829.75}"/>
</p:tagLst>
</file>

<file path=ppt/tags/tag35.xml><?xml version="1.0" encoding="utf-8"?>
<p:tagLst xmlns:p="http://schemas.openxmlformats.org/presentationml/2006/main">
  <p:tag name="KSO_WM_DIAGRAM_VIRTUALLY_FRAME" val="{&quot;height&quot;:570.35,&quot;left&quot;:131,&quot;top&quot;:0,&quot;width&quot;:829.75}"/>
</p:tagLst>
</file>

<file path=ppt/tags/tag36.xml><?xml version="1.0" encoding="utf-8"?>
<p:tagLst xmlns:p="http://schemas.openxmlformats.org/presentationml/2006/main">
  <p:tag name="KSO_WM_DIAGRAM_VIRTUALLY_FRAME" val="{&quot;height&quot;:570.35,&quot;left&quot;:131,&quot;top&quot;:0,&quot;width&quot;:829.75}"/>
</p:tagLst>
</file>

<file path=ppt/tags/tag37.xml><?xml version="1.0" encoding="utf-8"?>
<p:tagLst xmlns:p="http://schemas.openxmlformats.org/presentationml/2006/main">
  <p:tag name="KSO_WM_DIAGRAM_VIRTUALLY_FRAME" val="{&quot;height&quot;:570.35,&quot;left&quot;:131,&quot;top&quot;:0,&quot;width&quot;:829.75}"/>
</p:tagLst>
</file>

<file path=ppt/tags/tag38.xml><?xml version="1.0" encoding="utf-8"?>
<p:tagLst xmlns:p="http://schemas.openxmlformats.org/presentationml/2006/main">
  <p:tag name="KSO_WM_DIAGRAM_VIRTUALLY_FRAME" val="{&quot;height&quot;:570.35,&quot;left&quot;:131,&quot;top&quot;:0,&quot;width&quot;:829.75}"/>
</p:tagLst>
</file>

<file path=ppt/tags/tag39.xml><?xml version="1.0" encoding="utf-8"?>
<p:tagLst xmlns:p="http://schemas.openxmlformats.org/presentationml/2006/main">
  <p:tag name="KSO_WM_DIAGRAM_VIRTUALLY_FRAME" val="{&quot;height&quot;:570.35,&quot;left&quot;:131,&quot;top&quot;:0,&quot;width&quot;:829.75}"/>
</p:tagLst>
</file>

<file path=ppt/tags/tag40.xml><?xml version="1.0" encoding="utf-8"?>
<p:tagLst xmlns:p="http://schemas.openxmlformats.org/presentationml/2006/main">
  <p:tag name="KSO_WM_DIAGRAM_VIRTUALLY_FRAME" val="{&quot;height&quot;:570.35,&quot;left&quot;:131,&quot;top&quot;:0,&quot;width&quot;:829.75}"/>
</p:tagLst>
</file>

<file path=ppt/tags/tag41.xml><?xml version="1.0" encoding="utf-8"?>
<p:tagLst xmlns:p="http://schemas.openxmlformats.org/presentationml/2006/main">
  <p:tag name="KSO_WM_DIAGRAM_VIRTUALLY_FRAME" val="{&quot;height&quot;:570.35,&quot;left&quot;:131,&quot;top&quot;:0,&quot;width&quot;:829.75}"/>
</p:tagLst>
</file>

<file path=ppt/tags/tag42.xml><?xml version="1.0" encoding="utf-8"?>
<p:tagLst xmlns:p="http://schemas.openxmlformats.org/presentationml/2006/main">
  <p:tag name="KSO_WM_DIAGRAM_VIRTUALLY_FRAME" val="{&quot;height&quot;:570.35,&quot;left&quot;:131,&quot;top&quot;:0,&quot;width&quot;:829.75}"/>
</p:tagLst>
</file>

<file path=ppt/tags/tag43.xml><?xml version="1.0" encoding="utf-8"?>
<p:tagLst xmlns:p="http://schemas.openxmlformats.org/presentationml/2006/main">
  <p:tag name="KSO_WM_DIAGRAM_VIRTUALLY_FRAME" val="{&quot;height&quot;:570.35,&quot;left&quot;:131,&quot;top&quot;:0,&quot;width&quot;:829.75}"/>
</p:tagLst>
</file>

<file path=ppt/tags/tag44.xml><?xml version="1.0" encoding="utf-8"?>
<p:tagLst xmlns:p="http://schemas.openxmlformats.org/presentationml/2006/main">
  <p:tag name="KSO_WM_DIAGRAM_VIRTUALLY_FRAME" val="{&quot;height&quot;:570.35,&quot;left&quot;:131,&quot;top&quot;:0,&quot;width&quot;:829.75}"/>
</p:tagLst>
</file>

<file path=ppt/tags/tag45.xml><?xml version="1.0" encoding="utf-8"?>
<p:tagLst xmlns:p="http://schemas.openxmlformats.org/presentationml/2006/main">
  <p:tag name="KSO_WM_DIAGRAM_VIRTUALLY_FRAME" val="{&quot;height&quot;:570.35,&quot;left&quot;:131,&quot;top&quot;:0,&quot;width&quot;:829.75}"/>
</p:tagLst>
</file>

<file path=ppt/tags/tag46.xml><?xml version="1.0" encoding="utf-8"?>
<p:tagLst xmlns:p="http://schemas.openxmlformats.org/presentationml/2006/main">
  <p:tag name="KSO_WM_DIAGRAM_VIRTUALLY_FRAME" val="{&quot;height&quot;:570.35,&quot;left&quot;:131,&quot;top&quot;:0,&quot;width&quot;:829.75}"/>
</p:tagLst>
</file>

<file path=ppt/tags/tag47.xml><?xml version="1.0" encoding="utf-8"?>
<p:tagLst xmlns:p="http://schemas.openxmlformats.org/presentationml/2006/main">
  <p:tag name="KSO_WM_SPECIAL_SOURCE" val="bdnull"/>
</p:tagLst>
</file>

<file path=ppt/tags/tag48.xml><?xml version="1.0" encoding="utf-8"?>
<p:tagLst xmlns:p="http://schemas.openxmlformats.org/presentationml/2006/main">
  <p:tag name="KSO_WM_SPECIAL_SOURCE" val="bdnull"/>
</p:tagLst>
</file>

<file path=ppt/tags/tag49.xml><?xml version="1.0" encoding="utf-8"?>
<p:tagLst xmlns:p="http://schemas.openxmlformats.org/presentationml/2006/main">
  <p:tag name="KSO_WM_DIAGRAM_VIRTUALLY_FRAME" val="{&quot;height&quot;:364.55,&quot;left&quot;:0,&quot;top&quot;:105.45,&quot;width&quot;:960}"/>
</p:tagLst>
</file>

<file path=ppt/tags/tag50.xml><?xml version="1.0" encoding="utf-8"?>
<p:tagLst xmlns:p="http://schemas.openxmlformats.org/presentationml/2006/main">
  <p:tag name="KSO_WM_DIAGRAM_VIRTUALLY_FRAME" val="{&quot;height&quot;:364.55,&quot;left&quot;:0,&quot;top&quot;:105.45,&quot;width&quot;:960}"/>
</p:tagLst>
</file>

<file path=ppt/tags/tag51.xml><?xml version="1.0" encoding="utf-8"?>
<p:tagLst xmlns:p="http://schemas.openxmlformats.org/presentationml/2006/main">
  <p:tag name="KSO_WM_SPECIAL_SOURCE" val="bdnull"/>
</p:tagLst>
</file>

<file path=ppt/tags/tag52.xml><?xml version="1.0" encoding="utf-8"?>
<p:tagLst xmlns:p="http://schemas.openxmlformats.org/presentationml/2006/main">
  <p:tag name="KSO_WM_DIAGRAM_VIRTUALLY_FRAME" val="{&quot;height&quot;:364.55,&quot;left&quot;:0,&quot;top&quot;:105.45,&quot;width&quot;:960}"/>
</p:tagLst>
</file>

<file path=ppt/tags/tag53.xml><?xml version="1.0" encoding="utf-8"?>
<p:tagLst xmlns:p="http://schemas.openxmlformats.org/presentationml/2006/main">
  <p:tag name="KSO_WM_DIAGRAM_VIRTUALLY_FRAME" val="{&quot;height&quot;:364.55,&quot;left&quot;:0,&quot;top&quot;:105.45,&quot;width&quot;:960}"/>
</p:tagLst>
</file>

<file path=ppt/tags/tag54.xml><?xml version="1.0" encoding="utf-8"?>
<p:tagLst xmlns:p="http://schemas.openxmlformats.org/presentationml/2006/main">
  <p:tag name="KSO_WM_SPECIAL_SOURCE" val="bdnull"/>
</p:tagLst>
</file>

<file path=ppt/tags/tag55.xml><?xml version="1.0" encoding="utf-8"?>
<p:tagLst xmlns:p="http://schemas.openxmlformats.org/presentationml/2006/main">
  <p:tag name="KSO_WM_DIAGRAM_VIRTUALLY_FRAME" val="{&quot;height&quot;:364.55,&quot;left&quot;:0,&quot;top&quot;:105.45,&quot;width&quot;:960}"/>
</p:tagLst>
</file>

<file path=ppt/tags/tag56.xml><?xml version="1.0" encoding="utf-8"?>
<p:tagLst xmlns:p="http://schemas.openxmlformats.org/presentationml/2006/main">
  <p:tag name="KSO_WM_DIAGRAM_VIRTUALLY_FRAME" val="{&quot;height&quot;:364.55,&quot;left&quot;:0,&quot;top&quot;:105.45,&quot;width&quot;:960}"/>
</p:tagLst>
</file>

<file path=ppt/tags/tag57.xml><?xml version="1.0" encoding="utf-8"?>
<p:tagLst xmlns:p="http://schemas.openxmlformats.org/presentationml/2006/main">
  <p:tag name="KSO_WM_SPECIAL_SOURCE" val="bdnull"/>
</p:tagLst>
</file>

<file path=ppt/tags/tag58.xml><?xml version="1.0" encoding="utf-8"?>
<p:tagLst xmlns:p="http://schemas.openxmlformats.org/presentationml/2006/main">
  <p:tag name="KSO_WM_DIAGRAM_VIRTUALLY_FRAME" val="{&quot;height&quot;:364.55,&quot;left&quot;:0,&quot;top&quot;:105.45,&quot;width&quot;:960}"/>
</p:tagLst>
</file>

<file path=ppt/tags/tag59.xml><?xml version="1.0" encoding="utf-8"?>
<p:tagLst xmlns:p="http://schemas.openxmlformats.org/presentationml/2006/main">
  <p:tag name="KSO_WM_DIAGRAM_VIRTUALLY_FRAME" val="{&quot;height&quot;:364.55,&quot;left&quot;:0,&quot;top&quot;:105.45,&quot;width&quot;:960}"/>
</p:tagLst>
</file>

<file path=ppt/tags/tag60.xml><?xml version="1.0" encoding="utf-8"?>
<p:tagLst xmlns:p="http://schemas.openxmlformats.org/presentationml/2006/main">
  <p:tag name="KSO_WM_SPECIAL_SOURCE" val="bdnull"/>
</p:tagLst>
</file>

<file path=ppt/tags/tag61.xml><?xml version="1.0" encoding="utf-8"?>
<p:tagLst xmlns:p="http://schemas.openxmlformats.org/presentationml/2006/main">
  <p:tag name="KSO_WM_DIAGRAM_VIRTUALLY_FRAME" val="{&quot;height&quot;:282.8,&quot;left&quot;:63.75,&quot;top&quot;:128.7,&quot;width&quot;:336.15}"/>
</p:tagLst>
</file>

<file path=ppt/tags/tag62.xml><?xml version="1.0" encoding="utf-8"?>
<p:tagLst xmlns:p="http://schemas.openxmlformats.org/presentationml/2006/main">
  <p:tag name="KSO_WM_DIAGRAM_VIRTUALLY_FRAME" val="{&quot;height&quot;:282.8,&quot;left&quot;:63.75,&quot;top&quot;:128.7,&quot;width&quot;:336.15}"/>
</p:tagLst>
</file>

<file path=ppt/tags/tag63.xml><?xml version="1.0" encoding="utf-8"?>
<p:tagLst xmlns:p="http://schemas.openxmlformats.org/presentationml/2006/main">
  <p:tag name="KSO_WM_DIAGRAM_VIRTUALLY_FRAME" val="{&quot;height&quot;:282.8,&quot;left&quot;:63.75,&quot;top&quot;:128.7,&quot;width&quot;:336.15}"/>
</p:tagLst>
</file>

<file path=ppt/tags/tag64.xml><?xml version="1.0" encoding="utf-8"?>
<p:tagLst xmlns:p="http://schemas.openxmlformats.org/presentationml/2006/main">
  <p:tag name="KSO_WM_DIAGRAM_VIRTUALLY_FRAME" val="{&quot;height&quot;:282.8,&quot;left&quot;:63.75,&quot;top&quot;:128.7,&quot;width&quot;:336.15}"/>
</p:tagLst>
</file>

<file path=ppt/tags/tag65.xml><?xml version="1.0" encoding="utf-8"?>
<p:tagLst xmlns:p="http://schemas.openxmlformats.org/presentationml/2006/main">
  <p:tag name="ISLIDE.DIAGRAM" val="125f8ce3-a2dc-4f4c-8b62-1d8bdfa824cd"/>
  <p:tag name="KSO_WM_SPECIAL_SOURCE" val="bdnull"/>
</p:tagLst>
</file>

<file path=ppt/tags/tag66.xml><?xml version="1.0" encoding="utf-8"?>
<p:tagLst xmlns:p="http://schemas.openxmlformats.org/presentationml/2006/main">
  <p:tag name="ISLIDE.DIAGRAM" val="125f8ce3-a2dc-4f4c-8b62-1d8bdfa824cd"/>
  <p:tag name="KSO_WM_SPECIAL_SOURCE" val="bdnull"/>
</p:tagLst>
</file>

<file path=ppt/tags/tag67.xml><?xml version="1.0" encoding="utf-8"?>
<p:tagLst xmlns:p="http://schemas.openxmlformats.org/presentationml/2006/main">
  <p:tag name="ISLIDE.DIAGRAM" val="125f8ce3-a2dc-4f4c-8b62-1d8bdfa824cd"/>
  <p:tag name="KSO_WM_SPECIAL_SOURCE" val="bdnull"/>
</p:tagLst>
</file>

<file path=ppt/tags/tag68.xml><?xml version="1.0" encoding="utf-8"?>
<p:tagLst xmlns:p="http://schemas.openxmlformats.org/presentationml/2006/main">
  <p:tag name="ISLIDE.DIAGRAM" val="125f8ce3-a2dc-4f4c-8b62-1d8bdfa824cd"/>
  <p:tag name="KSO_WM_SPECIAL_SOURCE" val="bdnull"/>
</p:tagLst>
</file>

<file path=ppt/tags/tag69.xml><?xml version="1.0" encoding="utf-8"?>
<p:tagLst xmlns:p="http://schemas.openxmlformats.org/presentationml/2006/main">
  <p:tag name="KSO_WM_SPECIAL_SOURCE" val="bdnull"/>
</p:tagLst>
</file>

<file path=ppt/tags/tag70.xml><?xml version="1.0" encoding="utf-8"?>
<p:tagLst xmlns:p="http://schemas.openxmlformats.org/presentationml/2006/main">
  <p:tag name="KSO_WM_DIAGRAM_VIRTUALLY_FRAME" val="{&quot;height&quot;:356.9,&quot;left&quot;:329.05,&quot;top&quot;:116.1,&quot;width&quot;:575.35}"/>
</p:tagLst>
</file>

<file path=ppt/tags/tag71.xml><?xml version="1.0" encoding="utf-8"?>
<p:tagLst xmlns:p="http://schemas.openxmlformats.org/presentationml/2006/main">
  <p:tag name="KSO_WM_DIAGRAM_VIRTUALLY_FRAME" val="{&quot;height&quot;:356.9,&quot;left&quot;:329.05,&quot;top&quot;:116.1,&quot;width&quot;:575.35}"/>
</p:tagLst>
</file>

<file path=ppt/tags/tag72.xml><?xml version="1.0" encoding="utf-8"?>
<p:tagLst xmlns:p="http://schemas.openxmlformats.org/presentationml/2006/main">
  <p:tag name="KSO_WM_DIAGRAM_VIRTUALLY_FRAME" val="{&quot;height&quot;:356.9,&quot;left&quot;:329.05,&quot;top&quot;:116.1,&quot;width&quot;:575.35}"/>
</p:tagLst>
</file>

<file path=ppt/tags/tag73.xml><?xml version="1.0" encoding="utf-8"?>
<p:tagLst xmlns:p="http://schemas.openxmlformats.org/presentationml/2006/main">
  <p:tag name="KSO_WM_DIAGRAM_VIRTUALLY_FRAME" val="{&quot;height&quot;:356.9,&quot;left&quot;:329.05,&quot;top&quot;:116.1,&quot;width&quot;:575.35}"/>
</p:tagLst>
</file>

<file path=ppt/tags/tag74.xml><?xml version="1.0" encoding="utf-8"?>
<p:tagLst xmlns:p="http://schemas.openxmlformats.org/presentationml/2006/main">
  <p:tag name="KSO_WM_DIAGRAM_VIRTUALLY_FRAME" val="{&quot;height&quot;:356.9,&quot;left&quot;:329.05,&quot;top&quot;:116.1,&quot;width&quot;:575.35}"/>
</p:tagLst>
</file>

<file path=ppt/tags/tag75.xml><?xml version="1.0" encoding="utf-8"?>
<p:tagLst xmlns:p="http://schemas.openxmlformats.org/presentationml/2006/main">
  <p:tag name="KSO_WM_DIAGRAM_VIRTUALLY_FRAME" val="{&quot;height&quot;:356.9,&quot;left&quot;:329.05,&quot;top&quot;:116.1,&quot;width&quot;:575.35}"/>
</p:tagLst>
</file>

<file path=ppt/tags/tag76.xml><?xml version="1.0" encoding="utf-8"?>
<p:tagLst xmlns:p="http://schemas.openxmlformats.org/presentationml/2006/main">
  <p:tag name="KSO_WM_DIAGRAM_VIRTUALLY_FRAME" val="{&quot;height&quot;:364.55,&quot;left&quot;:0,&quot;top&quot;:105.45,&quot;width&quot;:960}"/>
</p:tagLst>
</file>

<file path=ppt/tags/tag77.xml><?xml version="1.0" encoding="utf-8"?>
<p:tagLst xmlns:p="http://schemas.openxmlformats.org/presentationml/2006/main">
  <p:tag name="KSO_WM_DIAGRAM_VIRTUALLY_FRAME" val="{&quot;height&quot;:364.55,&quot;left&quot;:0,&quot;top&quot;:105.45,&quot;width&quot;:960}"/>
</p:tagLst>
</file>

<file path=ppt/tags/tag78.xml><?xml version="1.0" encoding="utf-8"?>
<p:tagLst xmlns:p="http://schemas.openxmlformats.org/presentationml/2006/main">
  <p:tag name="KSO_WM_SPECIAL_SOURCE" val="bdnull"/>
</p:tagLst>
</file>

<file path=ppt/tags/tag79.xml><?xml version="1.0" encoding="utf-8"?>
<p:tagLst xmlns:p="http://schemas.openxmlformats.org/presentationml/2006/main">
  <p:tag name="KSO_WM_DIAGRAM_VIRTUALLY_FRAME" val="{&quot;height&quot;:364.55,&quot;left&quot;:0,&quot;top&quot;:105.45,&quot;width&quot;:960}"/>
</p:tagLst>
</file>

<file path=ppt/tags/tag80.xml><?xml version="1.0" encoding="utf-8"?>
<p:tagLst xmlns:p="http://schemas.openxmlformats.org/presentationml/2006/main">
  <p:tag name="KSO_WM_DIAGRAM_VIRTUALLY_FRAME" val="{&quot;height&quot;:364.55,&quot;left&quot;:0,&quot;top&quot;:105.45,&quot;width&quot;:960}"/>
</p:tagLst>
</file>

<file path=ppt/tags/tag81.xml><?xml version="1.0" encoding="utf-8"?>
<p:tagLst xmlns:p="http://schemas.openxmlformats.org/presentationml/2006/main">
  <p:tag name="KSO_WM_SPECIAL_SOURCE" val="bdnull"/>
</p:tagLst>
</file>

<file path=ppt/tags/tag82.xml><?xml version="1.0" encoding="utf-8"?>
<p:tagLst xmlns:p="http://schemas.openxmlformats.org/presentationml/2006/main">
  <p:tag name="KSO_WM_DIAGRAM_VIRTUALLY_FRAME" val="{&quot;height&quot;:364.55,&quot;left&quot;:0,&quot;top&quot;:105.45,&quot;width&quot;:960}"/>
</p:tagLst>
</file>

<file path=ppt/tags/tag83.xml><?xml version="1.0" encoding="utf-8"?>
<p:tagLst xmlns:p="http://schemas.openxmlformats.org/presentationml/2006/main">
  <p:tag name="KSO_WM_DIAGRAM_VIRTUALLY_FRAME" val="{&quot;height&quot;:364.55,&quot;left&quot;:0,&quot;top&quot;:105.45,&quot;width&quot;:960}"/>
</p:tagLst>
</file>

<file path=ppt/tags/tag84.xml><?xml version="1.0" encoding="utf-8"?>
<p:tagLst xmlns:p="http://schemas.openxmlformats.org/presentationml/2006/main">
  <p:tag name="KSO_WM_SPECIAL_SOURCE" val="bdnull"/>
</p:tagLst>
</file>

<file path=ppt/tags/tag85.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86.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87.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88.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89.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0.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1.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2.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3.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4.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5.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6.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7.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8.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99.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100.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101.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102.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103.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104.xml><?xml version="1.0" encoding="utf-8"?>
<p:tagLst xmlns:p="http://schemas.openxmlformats.org/presentationml/2006/main">
  <p:tag name="KSO_WM_DIAGRAM_VIRTUALLY_FRAME" val="{&quot;height&quot;:378.31889763779526,&quot;left&quot;:72.63094488188976,&quot;top&quot;:104.41598425196851,&quot;width&quot;:818.8509448818897}"/>
</p:tagLst>
</file>

<file path=ppt/tags/tag105.xml><?xml version="1.0" encoding="utf-8"?>
<p:tagLst xmlns:p="http://schemas.openxmlformats.org/presentationml/2006/main">
  <p:tag name="KSO_WM_SPECIAL_SOURCE" val="bdnull"/>
</p:tagLst>
</file>

<file path=ppt/tags/tag106.xml><?xml version="1.0" encoding="utf-8"?>
<p:tagLst xmlns:p="http://schemas.openxmlformats.org/presentationml/2006/main">
  <p:tag name="KSO_WM_DIAGRAM_VIRTUALLY_FRAME" val="{&quot;height&quot;:422.85,&quot;left&quot;:53.05,&quot;top&quot;:81.65,&quot;width&quot;:883.1998425196849}"/>
</p:tagLst>
</file>

<file path=ppt/tags/tag107.xml><?xml version="1.0" encoding="utf-8"?>
<p:tagLst xmlns:p="http://schemas.openxmlformats.org/presentationml/2006/main">
  <p:tag name="KSO_WM_DIAGRAM_VIRTUALLY_FRAME" val="{&quot;height&quot;:422.85,&quot;left&quot;:53.05,&quot;top&quot;:81.65,&quot;width&quot;:883.1998425196849}"/>
</p:tagLst>
</file>

<file path=ppt/tags/tag108.xml><?xml version="1.0" encoding="utf-8"?>
<p:tagLst xmlns:p="http://schemas.openxmlformats.org/presentationml/2006/main">
  <p:tag name="KSO_WM_DIAGRAM_VIRTUALLY_FRAME" val="{&quot;height&quot;:422.85,&quot;left&quot;:53.05,&quot;top&quot;:81.65,&quot;width&quot;:883.1998425196849}"/>
</p:tagLst>
</file>

<file path=ppt/tags/tag109.xml><?xml version="1.0" encoding="utf-8"?>
<p:tagLst xmlns:p="http://schemas.openxmlformats.org/presentationml/2006/main">
  <p:tag name="KSO_WM_DIAGRAM_VIRTUALLY_FRAME" val="{&quot;height&quot;:422.85,&quot;left&quot;:53.05,&quot;top&quot;:81.65,&quot;width&quot;:883.1998425196849}"/>
</p:tagLst>
</file>

<file path=ppt/tags/tag110.xml><?xml version="1.0" encoding="utf-8"?>
<p:tagLst xmlns:p="http://schemas.openxmlformats.org/presentationml/2006/main">
  <p:tag name="KSO_WM_DIAGRAM_VIRTUALLY_FRAME" val="{&quot;height&quot;:422.85,&quot;left&quot;:53.05,&quot;top&quot;:81.65,&quot;width&quot;:883.1998425196849}"/>
</p:tagLst>
</file>

<file path=ppt/tags/tag111.xml><?xml version="1.0" encoding="utf-8"?>
<p:tagLst xmlns:p="http://schemas.openxmlformats.org/presentationml/2006/main">
  <p:tag name="KSO_WM_DIAGRAM_VIRTUALLY_FRAME" val="{&quot;height&quot;:422.85,&quot;left&quot;:53.05,&quot;top&quot;:81.65,&quot;width&quot;:883.1998425196849}"/>
</p:tagLst>
</file>

<file path=ppt/tags/tag112.xml><?xml version="1.0" encoding="utf-8"?>
<p:tagLst xmlns:p="http://schemas.openxmlformats.org/presentationml/2006/main">
  <p:tag name="KSO_WM_DIAGRAM_VIRTUALLY_FRAME" val="{&quot;height&quot;:422.85,&quot;left&quot;:53.05,&quot;top&quot;:81.65,&quot;width&quot;:883.1998425196849}"/>
</p:tagLst>
</file>

<file path=ppt/tags/tag113.xml><?xml version="1.0" encoding="utf-8"?>
<p:tagLst xmlns:p="http://schemas.openxmlformats.org/presentationml/2006/main">
  <p:tag name="KSO_WM_DIAGRAM_VIRTUALLY_FRAME" val="{&quot;height&quot;:422.85,&quot;left&quot;:53.05,&quot;top&quot;:81.65,&quot;width&quot;:883.1998425196849}"/>
</p:tagLst>
</file>

<file path=ppt/tags/tag114.xml><?xml version="1.0" encoding="utf-8"?>
<p:tagLst xmlns:p="http://schemas.openxmlformats.org/presentationml/2006/main">
  <p:tag name="KSO_WM_DIAGRAM_VIRTUALLY_FRAME" val="{&quot;height&quot;:422.85,&quot;left&quot;:53.05,&quot;top&quot;:81.65,&quot;width&quot;:883.1998425196849}"/>
</p:tagLst>
</file>

<file path=ppt/tags/tag115.xml><?xml version="1.0" encoding="utf-8"?>
<p:tagLst xmlns:p="http://schemas.openxmlformats.org/presentationml/2006/main">
  <p:tag name="KSO_WM_DIAGRAM_VIRTUALLY_FRAME" val="{&quot;height&quot;:422.85,&quot;left&quot;:53.05,&quot;top&quot;:81.65,&quot;width&quot;:883.1998425196849}"/>
</p:tagLst>
</file>

<file path=ppt/tags/tag116.xml><?xml version="1.0" encoding="utf-8"?>
<p:tagLst xmlns:p="http://schemas.openxmlformats.org/presentationml/2006/main">
  <p:tag name="KSO_WM_DIAGRAM_VIRTUALLY_FRAME" val="{&quot;height&quot;:422.85,&quot;left&quot;:53.05,&quot;top&quot;:81.65,&quot;width&quot;:883.1998425196849}"/>
</p:tagLst>
</file>

<file path=ppt/tags/tag117.xml><?xml version="1.0" encoding="utf-8"?>
<p:tagLst xmlns:p="http://schemas.openxmlformats.org/presentationml/2006/main">
  <p:tag name="KSO_WM_DIAGRAM_VIRTUALLY_FRAME" val="{&quot;height&quot;:422.85,&quot;left&quot;:53.05,&quot;top&quot;:81.65,&quot;width&quot;:883.1998425196849}"/>
</p:tagLst>
</file>

<file path=ppt/tags/tag118.xml><?xml version="1.0" encoding="utf-8"?>
<p:tagLst xmlns:p="http://schemas.openxmlformats.org/presentationml/2006/main">
  <p:tag name="KSO_WM_DIAGRAM_VIRTUALLY_FRAME" val="{&quot;height&quot;:422.85,&quot;left&quot;:53.05,&quot;top&quot;:81.65,&quot;width&quot;:883.1998425196849}"/>
</p:tagLst>
</file>

<file path=ppt/tags/tag119.xml><?xml version="1.0" encoding="utf-8"?>
<p:tagLst xmlns:p="http://schemas.openxmlformats.org/presentationml/2006/main">
  <p:tag name="KSO_WM_DIAGRAM_VIRTUALLY_FRAME" val="{&quot;height&quot;:422.85,&quot;left&quot;:53.05,&quot;top&quot;:81.65,&quot;width&quot;:883.1998425196849}"/>
</p:tagLst>
</file>

<file path=ppt/tags/tag120.xml><?xml version="1.0" encoding="utf-8"?>
<p:tagLst xmlns:p="http://schemas.openxmlformats.org/presentationml/2006/main">
  <p:tag name="KSO_WM_DIAGRAM_VIRTUALLY_FRAME" val="{&quot;height&quot;:422.85,&quot;left&quot;:53.05,&quot;top&quot;:81.65,&quot;width&quot;:883.1998425196849}"/>
</p:tagLst>
</file>

<file path=ppt/tags/tag121.xml><?xml version="1.0" encoding="utf-8"?>
<p:tagLst xmlns:p="http://schemas.openxmlformats.org/presentationml/2006/main">
  <p:tag name="KSO_WM_DIAGRAM_VIRTUALLY_FRAME" val="{&quot;height&quot;:422.85,&quot;left&quot;:53.05,&quot;top&quot;:81.65,&quot;width&quot;:883.1998425196849}"/>
</p:tagLst>
</file>

<file path=ppt/tags/tag122.xml><?xml version="1.0" encoding="utf-8"?>
<p:tagLst xmlns:p="http://schemas.openxmlformats.org/presentationml/2006/main">
  <p:tag name="KSO_WM_DIAGRAM_VIRTUALLY_FRAME" val="{&quot;height&quot;:422.85,&quot;left&quot;:53.05,&quot;top&quot;:81.65,&quot;width&quot;:883.1998425196849}"/>
</p:tagLst>
</file>

<file path=ppt/tags/tag123.xml><?xml version="1.0" encoding="utf-8"?>
<p:tagLst xmlns:p="http://schemas.openxmlformats.org/presentationml/2006/main">
  <p:tag name="KSO_WM_DIAGRAM_VIRTUALLY_FRAME" val="{&quot;height&quot;:422.85,&quot;left&quot;:53.05,&quot;top&quot;:81.65,&quot;width&quot;:883.1998425196849}"/>
</p:tagLst>
</file>

<file path=ppt/tags/tag124.xml><?xml version="1.0" encoding="utf-8"?>
<p:tagLst xmlns:p="http://schemas.openxmlformats.org/presentationml/2006/main">
  <p:tag name="KSO_WM_DIAGRAM_VIRTUALLY_FRAME" val="{&quot;height&quot;:422.85,&quot;left&quot;:53.05,&quot;top&quot;:81.65,&quot;width&quot;:883.1998425196849}"/>
</p:tagLst>
</file>

<file path=ppt/tags/tag125.xml><?xml version="1.0" encoding="utf-8"?>
<p:tagLst xmlns:p="http://schemas.openxmlformats.org/presentationml/2006/main">
  <p:tag name="KSO_WM_DIAGRAM_VIRTUALLY_FRAME" val="{&quot;height&quot;:422.85,&quot;left&quot;:53.05,&quot;top&quot;:81.65,&quot;width&quot;:883.1998425196849}"/>
</p:tagLst>
</file>

<file path=ppt/tags/tag126.xml><?xml version="1.0" encoding="utf-8"?>
<p:tagLst xmlns:p="http://schemas.openxmlformats.org/presentationml/2006/main">
  <p:tag name="KSO_WM_DIAGRAM_VIRTUALLY_FRAME" val="{&quot;height&quot;:422.85,&quot;left&quot;:53.05,&quot;top&quot;:81.65,&quot;width&quot;:883.1998425196849}"/>
</p:tagLst>
</file>

<file path=ppt/tags/tag127.xml><?xml version="1.0" encoding="utf-8"?>
<p:tagLst xmlns:p="http://schemas.openxmlformats.org/presentationml/2006/main">
  <p:tag name="KSO_WM_DIAGRAM_VIRTUALLY_FRAME" val="{&quot;height&quot;:422.85,&quot;left&quot;:53.05,&quot;top&quot;:81.65,&quot;width&quot;:883.1998425196849}"/>
</p:tagLst>
</file>

<file path=ppt/tags/tag128.xml><?xml version="1.0" encoding="utf-8"?>
<p:tagLst xmlns:p="http://schemas.openxmlformats.org/presentationml/2006/main">
  <p:tag name="KSO_WM_DIAGRAM_VIRTUALLY_FRAME" val="{&quot;height&quot;:422.85,&quot;left&quot;:53.05,&quot;top&quot;:81.65,&quot;width&quot;:883.1998425196849}"/>
</p:tagLst>
</file>

<file path=ppt/tags/tag129.xml><?xml version="1.0" encoding="utf-8"?>
<p:tagLst xmlns:p="http://schemas.openxmlformats.org/presentationml/2006/main">
  <p:tag name="KSO_WM_DIAGRAM_VIRTUALLY_FRAME" val="{&quot;height&quot;:422.85,&quot;left&quot;:53.05,&quot;top&quot;:81.65,&quot;width&quot;:883.1998425196849}"/>
</p:tagLst>
</file>

<file path=ppt/tags/tag130.xml><?xml version="1.0" encoding="utf-8"?>
<p:tagLst xmlns:p="http://schemas.openxmlformats.org/presentationml/2006/main">
  <p:tag name="KSO_WM_DIAGRAM_VIRTUALLY_FRAME" val="{&quot;height&quot;:422.85,&quot;left&quot;:53.05,&quot;top&quot;:81.65,&quot;width&quot;:883.1998425196849}"/>
</p:tagLst>
</file>

<file path=ppt/tags/tag131.xml><?xml version="1.0" encoding="utf-8"?>
<p:tagLst xmlns:p="http://schemas.openxmlformats.org/presentationml/2006/main">
  <p:tag name="KSO_WM_DIAGRAM_VIRTUALLY_FRAME" val="{&quot;height&quot;:422.85,&quot;left&quot;:53.05,&quot;top&quot;:81.65,&quot;width&quot;:883.1998425196849}"/>
</p:tagLst>
</file>

<file path=ppt/tags/tag132.xml><?xml version="1.0" encoding="utf-8"?>
<p:tagLst xmlns:p="http://schemas.openxmlformats.org/presentationml/2006/main">
  <p:tag name="KSO_WM_DIAGRAM_VIRTUALLY_FRAME" val="{&quot;height&quot;:422.85,&quot;left&quot;:53.05,&quot;top&quot;:81.65,&quot;width&quot;:883.1998425196849}"/>
</p:tagLst>
</file>

<file path=ppt/tags/tag133.xml><?xml version="1.0" encoding="utf-8"?>
<p:tagLst xmlns:p="http://schemas.openxmlformats.org/presentationml/2006/main">
  <p:tag name="KSO_WM_DIAGRAM_VIRTUALLY_FRAME" val="{&quot;height&quot;:422.85,&quot;left&quot;:53.05,&quot;top&quot;:81.65,&quot;width&quot;:883.1998425196849}"/>
</p:tagLst>
</file>

<file path=ppt/tags/tag134.xml><?xml version="1.0" encoding="utf-8"?>
<p:tagLst xmlns:p="http://schemas.openxmlformats.org/presentationml/2006/main">
  <p:tag name="KSO_WM_DIAGRAM_VIRTUALLY_FRAME" val="{&quot;height&quot;:422.85,&quot;left&quot;:53.05,&quot;top&quot;:81.65,&quot;width&quot;:883.1998425196849}"/>
</p:tagLst>
</file>

<file path=ppt/tags/tag135.xml><?xml version="1.0" encoding="utf-8"?>
<p:tagLst xmlns:p="http://schemas.openxmlformats.org/presentationml/2006/main">
  <p:tag name="KSO_WM_DIAGRAM_VIRTUALLY_FRAME" val="{&quot;height&quot;:422.85,&quot;left&quot;:53.05,&quot;top&quot;:81.65,&quot;width&quot;:883.1998425196849}"/>
</p:tagLst>
</file>

<file path=ppt/tags/tag136.xml><?xml version="1.0" encoding="utf-8"?>
<p:tagLst xmlns:p="http://schemas.openxmlformats.org/presentationml/2006/main">
  <p:tag name="KSO_WM_DIAGRAM_VIRTUALLY_FRAME" val="{&quot;height&quot;:422.85,&quot;left&quot;:53.05,&quot;top&quot;:81.65,&quot;width&quot;:883.1998425196849}"/>
</p:tagLst>
</file>

<file path=ppt/tags/tag137.xml><?xml version="1.0" encoding="utf-8"?>
<p:tagLst xmlns:p="http://schemas.openxmlformats.org/presentationml/2006/main">
  <p:tag name="KSO_WM_DIAGRAM_VIRTUALLY_FRAME" val="{&quot;height&quot;:422.85,&quot;left&quot;:53.05,&quot;top&quot;:81.65,&quot;width&quot;:883.1998425196849}"/>
</p:tagLst>
</file>

<file path=ppt/tags/tag138.xml><?xml version="1.0" encoding="utf-8"?>
<p:tagLst xmlns:p="http://schemas.openxmlformats.org/presentationml/2006/main">
  <p:tag name="KSO_WM_DIAGRAM_VIRTUALLY_FRAME" val="{&quot;height&quot;:422.85,&quot;left&quot;:53.05,&quot;top&quot;:81.65,&quot;width&quot;:883.1998425196849}"/>
</p:tagLst>
</file>

<file path=ppt/tags/tag139.xml><?xml version="1.0" encoding="utf-8"?>
<p:tagLst xmlns:p="http://schemas.openxmlformats.org/presentationml/2006/main">
  <p:tag name="KSO_WM_DIAGRAM_VIRTUALLY_FRAME" val="{&quot;height&quot;:389.2,&quot;left&quot;:60.55,&quot;top&quot;:95.6,&quot;width&quot;:899.435748031496}"/>
</p:tagLst>
</file>

<file path=ppt/tags/tag140.xml><?xml version="1.0" encoding="utf-8"?>
<p:tagLst xmlns:p="http://schemas.openxmlformats.org/presentationml/2006/main">
  <p:tag name="KSO_WM_DIAGRAM_VIRTUALLY_FRAME" val="{&quot;height&quot;:389.2,&quot;left&quot;:60.55,&quot;top&quot;:95.6,&quot;width&quot;:899.435748031496}"/>
</p:tagLst>
</file>

<file path=ppt/tags/tag141.xml><?xml version="1.0" encoding="utf-8"?>
<p:tagLst xmlns:p="http://schemas.openxmlformats.org/presentationml/2006/main">
  <p:tag name="KSO_WM_DIAGRAM_VIRTUALLY_FRAME" val="{&quot;height&quot;:389.2,&quot;left&quot;:60.55,&quot;top&quot;:95.6,&quot;width&quot;:899.435748031496}"/>
</p:tagLst>
</file>

<file path=ppt/tags/tag142.xml><?xml version="1.0" encoding="utf-8"?>
<p:tagLst xmlns:p="http://schemas.openxmlformats.org/presentationml/2006/main">
  <p:tag name="KSO_WM_DIAGRAM_VIRTUALLY_FRAME" val="{&quot;height&quot;:389.2,&quot;left&quot;:60.55,&quot;top&quot;:95.6,&quot;width&quot;:899.435748031496}"/>
</p:tagLst>
</file>

<file path=ppt/tags/tag143.xml><?xml version="1.0" encoding="utf-8"?>
<p:tagLst xmlns:p="http://schemas.openxmlformats.org/presentationml/2006/main">
  <p:tag name="KSO_WM_DIAGRAM_VIRTUALLY_FRAME" val="{&quot;height&quot;:389.2,&quot;left&quot;:60.55,&quot;top&quot;:95.6,&quot;width&quot;:899.435748031496}"/>
</p:tagLst>
</file>

<file path=ppt/tags/tag144.xml><?xml version="1.0" encoding="utf-8"?>
<p:tagLst xmlns:p="http://schemas.openxmlformats.org/presentationml/2006/main">
  <p:tag name="KSO_WM_DIAGRAM_VIRTUALLY_FRAME" val="{&quot;height&quot;:389.2,&quot;left&quot;:60.55,&quot;top&quot;:95.6,&quot;width&quot;:899.435748031496}"/>
</p:tagLst>
</file>

<file path=ppt/tags/tag145.xml><?xml version="1.0" encoding="utf-8"?>
<p:tagLst xmlns:p="http://schemas.openxmlformats.org/presentationml/2006/main">
  <p:tag name="KSO_WM_DIAGRAM_VIRTUALLY_FRAME" val="{&quot;height&quot;:389.2,&quot;left&quot;:60.55,&quot;top&quot;:95.6,&quot;width&quot;:899.435748031496}"/>
</p:tagLst>
</file>

<file path=ppt/tags/tag146.xml><?xml version="1.0" encoding="utf-8"?>
<p:tagLst xmlns:p="http://schemas.openxmlformats.org/presentationml/2006/main">
  <p:tag name="KSO_WM_DIAGRAM_VIRTUALLY_FRAME" val="{&quot;height&quot;:389.2,&quot;left&quot;:60.55,&quot;top&quot;:95.6,&quot;width&quot;:899.435748031496}"/>
</p:tagLst>
</file>

<file path=ppt/tags/tag147.xml><?xml version="1.0" encoding="utf-8"?>
<p:tagLst xmlns:p="http://schemas.openxmlformats.org/presentationml/2006/main">
  <p:tag name="KSO_WM_DIAGRAM_VIRTUALLY_FRAME" val="{&quot;height&quot;:389.2,&quot;left&quot;:60.55,&quot;top&quot;:95.6,&quot;width&quot;:899.435748031496}"/>
</p:tagLst>
</file>

<file path=ppt/tags/tag148.xml><?xml version="1.0" encoding="utf-8"?>
<p:tagLst xmlns:p="http://schemas.openxmlformats.org/presentationml/2006/main">
  <p:tag name="KSO_WM_DIAGRAM_VIRTUALLY_FRAME" val="{&quot;height&quot;:389.2,&quot;left&quot;:60.55,&quot;top&quot;:95.6,&quot;width&quot;:899.435748031496}"/>
</p:tagLst>
</file>

<file path=ppt/tags/tag149.xml><?xml version="1.0" encoding="utf-8"?>
<p:tagLst xmlns:p="http://schemas.openxmlformats.org/presentationml/2006/main">
  <p:tag name="KSO_WM_DIAGRAM_VIRTUALLY_FRAME" val="{&quot;height&quot;:389.2,&quot;left&quot;:60.55,&quot;top&quot;:95.6,&quot;width&quot;:899.435748031496}"/>
</p:tagLst>
</file>

<file path=ppt/tags/tag150.xml><?xml version="1.0" encoding="utf-8"?>
<p:tagLst xmlns:p="http://schemas.openxmlformats.org/presentationml/2006/main">
  <p:tag name="KSO_WM_DIAGRAM_VIRTUALLY_FRAME" val="{&quot;height&quot;:389.2,&quot;left&quot;:60.55,&quot;top&quot;:95.6,&quot;width&quot;:899.435748031496}"/>
</p:tagLst>
</file>

<file path=ppt/tags/tag151.xml><?xml version="1.0" encoding="utf-8"?>
<p:tagLst xmlns:p="http://schemas.openxmlformats.org/presentationml/2006/main">
  <p:tag name="KSO_WM_DIAGRAM_VIRTUALLY_FRAME" val="{&quot;height&quot;:389.2,&quot;left&quot;:60.55,&quot;top&quot;:95.6,&quot;width&quot;:899.435748031496}"/>
</p:tagLst>
</file>

<file path=ppt/tags/tag152.xml><?xml version="1.0" encoding="utf-8"?>
<p:tagLst xmlns:p="http://schemas.openxmlformats.org/presentationml/2006/main">
  <p:tag name="KSO_WM_DIAGRAM_VIRTUALLY_FRAME" val="{&quot;height&quot;:389.2,&quot;left&quot;:60.55,&quot;top&quot;:95.6,&quot;width&quot;:899.435748031496}"/>
</p:tagLst>
</file>

<file path=ppt/tags/tag153.xml><?xml version="1.0" encoding="utf-8"?>
<p:tagLst xmlns:p="http://schemas.openxmlformats.org/presentationml/2006/main">
  <p:tag name="KSO_WM_DIAGRAM_VIRTUALLY_FRAME" val="{&quot;height&quot;:389.2,&quot;left&quot;:60.55,&quot;top&quot;:95.6,&quot;width&quot;:899.435748031496}"/>
</p:tagLst>
</file>

<file path=ppt/tags/tag154.xml><?xml version="1.0" encoding="utf-8"?>
<p:tagLst xmlns:p="http://schemas.openxmlformats.org/presentationml/2006/main">
  <p:tag name="KSO_WM_DIAGRAM_VIRTUALLY_FRAME" val="{&quot;height&quot;:389.2,&quot;left&quot;:60.55,&quot;top&quot;:95.6,&quot;width&quot;:899.435748031496}"/>
</p:tagLst>
</file>

<file path=ppt/tags/tag155.xml><?xml version="1.0" encoding="utf-8"?>
<p:tagLst xmlns:p="http://schemas.openxmlformats.org/presentationml/2006/main">
  <p:tag name="KSO_WM_DIAGRAM_VIRTUALLY_FRAME" val="{&quot;height&quot;:389.2,&quot;left&quot;:60.55,&quot;top&quot;:95.6,&quot;width&quot;:899.435748031496}"/>
</p:tagLst>
</file>

<file path=ppt/tags/tag156.xml><?xml version="1.0" encoding="utf-8"?>
<p:tagLst xmlns:p="http://schemas.openxmlformats.org/presentationml/2006/main">
  <p:tag name="KSO_WM_SPECIAL_SOURCE" val="bdnull"/>
</p:tagLst>
</file>

<file path=ppt/tags/tag157.xml><?xml version="1.0" encoding="utf-8"?>
<p:tagLst xmlns:p="http://schemas.openxmlformats.org/presentationml/2006/main">
  <p:tag name="KSO_WM_DIAGRAM_VIRTUALLY_FRAME" val="{&quot;height&quot;:364.55,&quot;left&quot;:0,&quot;top&quot;:105.45,&quot;width&quot;:960}"/>
</p:tagLst>
</file>

<file path=ppt/tags/tag158.xml><?xml version="1.0" encoding="utf-8"?>
<p:tagLst xmlns:p="http://schemas.openxmlformats.org/presentationml/2006/main">
  <p:tag name="KSO_WM_DIAGRAM_VIRTUALLY_FRAME" val="{&quot;height&quot;:364.55,&quot;left&quot;:0,&quot;top&quot;:105.45,&quot;width&quot;:960}"/>
</p:tagLst>
</file>

<file path=ppt/tags/tag159.xml><?xml version="1.0" encoding="utf-8"?>
<p:tagLst xmlns:p="http://schemas.openxmlformats.org/presentationml/2006/main">
  <p:tag name="KSO_WM_SPECIAL_SOURCE" val="bdnull"/>
</p:tagLst>
</file>

<file path=ppt/tags/tag160.xml><?xml version="1.0" encoding="utf-8"?>
<p:tagLst xmlns:p="http://schemas.openxmlformats.org/presentationml/2006/main">
  <p:tag name="KSO_WM_DIAGRAM_VIRTUALLY_FRAME" val="{&quot;height&quot;:364.55,&quot;left&quot;:0,&quot;top&quot;:105.45,&quot;width&quot;:960}"/>
</p:tagLst>
</file>

<file path=ppt/tags/tag161.xml><?xml version="1.0" encoding="utf-8"?>
<p:tagLst xmlns:p="http://schemas.openxmlformats.org/presentationml/2006/main">
  <p:tag name="KSO_WM_DIAGRAM_VIRTUALLY_FRAME" val="{&quot;height&quot;:364.55,&quot;left&quot;:0,&quot;top&quot;:105.45,&quot;width&quot;:960}"/>
</p:tagLst>
</file>

<file path=ppt/tags/tag162.xml><?xml version="1.0" encoding="utf-8"?>
<p:tagLst xmlns:p="http://schemas.openxmlformats.org/presentationml/2006/main">
  <p:tag name="KSO_WM_SPECIAL_SOURCE" val="bdnull"/>
</p:tagLst>
</file>

<file path=ppt/tags/tag163.xml><?xml version="1.0" encoding="utf-8"?>
<p:tagLst xmlns:p="http://schemas.openxmlformats.org/presentationml/2006/main">
  <p:tag name="KSO_WM_DIAGRAM_VIRTUALLY_FRAME" val="{&quot;height&quot;:417.5,&quot;left&quot;:51.95,&quot;top&quot;:94.2,&quot;width&quot;:850.45}"/>
</p:tagLst>
</file>

<file path=ppt/tags/tag164.xml><?xml version="1.0" encoding="utf-8"?>
<p:tagLst xmlns:p="http://schemas.openxmlformats.org/presentationml/2006/main">
  <p:tag name="KSO_WM_DIAGRAM_VIRTUALLY_FRAME" val="{&quot;height&quot;:417.5,&quot;left&quot;:51.95,&quot;top&quot;:94.2,&quot;width&quot;:850.45}"/>
</p:tagLst>
</file>

<file path=ppt/tags/tag165.xml><?xml version="1.0" encoding="utf-8"?>
<p:tagLst xmlns:p="http://schemas.openxmlformats.org/presentationml/2006/main">
  <p:tag name="KSO_WM_DIAGRAM_VIRTUALLY_FRAME" val="{&quot;height&quot;:417.5,&quot;left&quot;:51.95,&quot;top&quot;:94.2,&quot;width&quot;:850.45}"/>
</p:tagLst>
</file>

<file path=ppt/tags/tag166.xml><?xml version="1.0" encoding="utf-8"?>
<p:tagLst xmlns:p="http://schemas.openxmlformats.org/presentationml/2006/main">
  <p:tag name="KSO_WM_DIAGRAM_VIRTUALLY_FRAME" val="{&quot;height&quot;:417.5,&quot;left&quot;:51.95,&quot;top&quot;:94.2,&quot;width&quot;:850.45}"/>
</p:tagLst>
</file>

<file path=ppt/tags/tag167.xml><?xml version="1.0" encoding="utf-8"?>
<p:tagLst xmlns:p="http://schemas.openxmlformats.org/presentationml/2006/main">
  <p:tag name="KSO_WM_DIAGRAM_VIRTUALLY_FRAME" val="{&quot;height&quot;:417.5,&quot;left&quot;:51.95,&quot;top&quot;:94.2,&quot;width&quot;:850.45}"/>
</p:tagLst>
</file>

<file path=ppt/tags/tag168.xml><?xml version="1.0" encoding="utf-8"?>
<p:tagLst xmlns:p="http://schemas.openxmlformats.org/presentationml/2006/main">
  <p:tag name="KSO_WM_DIAGRAM_VIRTUALLY_FRAME" val="{&quot;height&quot;:417.5,&quot;left&quot;:51.95,&quot;top&quot;:94.2,&quot;width&quot;:850.45}"/>
</p:tagLst>
</file>

<file path=ppt/tags/tag169.xml><?xml version="1.0" encoding="utf-8"?>
<p:tagLst xmlns:p="http://schemas.openxmlformats.org/presentationml/2006/main">
  <p:tag name="KSO_WM_DIAGRAM_VIRTUALLY_FRAME" val="{&quot;height&quot;:417.5,&quot;left&quot;:51.95,&quot;top&quot;:94.2,&quot;width&quot;:850.45}"/>
</p:tagLst>
</file>

<file path=ppt/tags/tag170.xml><?xml version="1.0" encoding="utf-8"?>
<p:tagLst xmlns:p="http://schemas.openxmlformats.org/presentationml/2006/main">
  <p:tag name="KSO_WM_DIAGRAM_VIRTUALLY_FRAME" val="{&quot;height&quot;:417.5,&quot;left&quot;:51.95,&quot;top&quot;:94.2,&quot;width&quot;:850.45}"/>
</p:tagLst>
</file>

<file path=ppt/tags/tag171.xml><?xml version="1.0" encoding="utf-8"?>
<p:tagLst xmlns:p="http://schemas.openxmlformats.org/presentationml/2006/main">
  <p:tag name="KSO_WM_DIAGRAM_VIRTUALLY_FRAME" val="{&quot;height&quot;:417.5,&quot;left&quot;:51.95,&quot;top&quot;:94.2,&quot;width&quot;:850.45}"/>
</p:tagLst>
</file>

<file path=ppt/tags/tag172.xml><?xml version="1.0" encoding="utf-8"?>
<p:tagLst xmlns:p="http://schemas.openxmlformats.org/presentationml/2006/main">
  <p:tag name="KSO_WM_DIAGRAM_VIRTUALLY_FRAME" val="{&quot;height&quot;:417.5,&quot;left&quot;:51.95,&quot;top&quot;:94.2,&quot;width&quot;:850.45}"/>
</p:tagLst>
</file>

<file path=ppt/tags/tag173.xml><?xml version="1.0" encoding="utf-8"?>
<p:tagLst xmlns:p="http://schemas.openxmlformats.org/presentationml/2006/main">
  <p:tag name="KSO_WM_DIAGRAM_VIRTUALLY_FRAME" val="{&quot;height&quot;:417.5,&quot;left&quot;:51.95,&quot;top&quot;:94.2,&quot;width&quot;:850.45}"/>
</p:tagLst>
</file>

<file path=ppt/tags/tag174.xml><?xml version="1.0" encoding="utf-8"?>
<p:tagLst xmlns:p="http://schemas.openxmlformats.org/presentationml/2006/main">
  <p:tag name="KSO_WM_DIAGRAM_VIRTUALLY_FRAME" val="{&quot;height&quot;:417.5,&quot;left&quot;:51.95,&quot;top&quot;:94.2,&quot;width&quot;:850.45}"/>
</p:tagLst>
</file>

<file path=ppt/tags/tag175.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7523</Words>
  <Application>WPS 演示</Application>
  <PresentationFormat>On-screen Show (16:9)</PresentationFormat>
  <Paragraphs>769</Paragraphs>
  <Slides>31</Slides>
  <Notes>23</Notes>
  <HiddenSlides>0</HiddenSlides>
  <MMClips>0</MMClips>
  <ScaleCrop>false</ScaleCrop>
  <HeadingPairs>
    <vt:vector size="6" baseType="variant">
      <vt:variant>
        <vt:lpstr>已用的字体</vt:lpstr>
      </vt:variant>
      <vt:variant>
        <vt:i4>24</vt:i4>
      </vt:variant>
      <vt:variant>
        <vt:lpstr>主题</vt:lpstr>
      </vt:variant>
      <vt:variant>
        <vt:i4>4</vt:i4>
      </vt:variant>
      <vt:variant>
        <vt:lpstr>幻灯片标题</vt:lpstr>
      </vt:variant>
      <vt:variant>
        <vt:i4>31</vt:i4>
      </vt:variant>
    </vt:vector>
  </HeadingPairs>
  <TitlesOfParts>
    <vt:vector size="59" baseType="lpstr">
      <vt:lpstr>Arial</vt:lpstr>
      <vt:lpstr>宋体</vt:lpstr>
      <vt:lpstr>Wingdings</vt:lpstr>
      <vt:lpstr>MiSans</vt:lpstr>
      <vt:lpstr>MiSans</vt:lpstr>
      <vt:lpstr>Arial</vt:lpstr>
      <vt:lpstr>Arial</vt:lpstr>
      <vt:lpstr>Impact</vt:lpstr>
      <vt:lpstr>微软雅黑</vt:lpstr>
      <vt:lpstr>Gisha</vt:lpstr>
      <vt:lpstr>Segoe UI Symbol</vt:lpstr>
      <vt:lpstr>Arial</vt:lpstr>
      <vt:lpstr>Century Gothic</vt:lpstr>
      <vt:lpstr>Calibri</vt:lpstr>
      <vt:lpstr>等线</vt:lpstr>
      <vt:lpstr>Arial Unicode MS</vt:lpstr>
      <vt:lpstr>quote-cjk-patch</vt:lpstr>
      <vt:lpstr>Menlo</vt:lpstr>
      <vt:lpstr>思源黑体 CN Normal</vt:lpstr>
      <vt:lpstr>Consolas</vt:lpstr>
      <vt:lpstr>Calibri</vt:lpstr>
      <vt:lpstr>Segoe Print</vt:lpstr>
      <vt:lpstr>黑体</vt:lpstr>
      <vt:lpstr>等线 Light</vt:lpstr>
      <vt:lpstr>Custom Theme</vt:lpstr>
      <vt:lpstr>1_Custom Theme</vt:lpstr>
      <vt:lpstr>2_Custom Theme</vt:lpstr>
      <vt:lpstr>3_Custom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多数据库同步管理系统实践</dc:title>
  <dc:creator>Kimi</dc:creator>
  <dc:subject>多数据库同步管理系统实践</dc:subject>
  <cp:lastModifiedBy>原春香</cp:lastModifiedBy>
  <cp:revision>14</cp:revision>
  <dcterms:created xsi:type="dcterms:W3CDTF">2025-12-09T14:41:00Z</dcterms:created>
  <dcterms:modified xsi:type="dcterms:W3CDTF">2026-10-20T05:03:28Z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{"Label":"多数据库同步管理系统实践","ContentProducer":"001191110108MACG2KBH8F10000","ProduceID":"d4s38tuuvalm2k045erg","ReservedCode1":"","ContentPropagator":"001191110108MACG2KBH8F20000","PropagateID":"d4s38tuuvalm2k045erg","ReservedCode2":""}</vt:lpwstr>
  </property>
  <property fmtid="{D5CDD505-2E9C-101B-9397-08002B2CF9AE}" pid="3" name="ICV">
    <vt:lpwstr>C4257D881B514DEEBCF5B6170E7829FF_12</vt:lpwstr>
  </property>
  <property fmtid="{D5CDD505-2E9C-101B-9397-08002B2CF9AE}" pid="4" name="KSOProductBuildVer">
    <vt:lpwstr>2052-12.1.0.28505</vt:lpwstr>
  </property>
</Properties>
</file>